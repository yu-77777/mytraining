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e80d84ba694ac8" /><Relationship Type="http://schemas.openxmlformats.org/officeDocument/2006/relationships/extended-properties" Target="/docProps/app.xml" Id="Rc4f59f5df77e4dea" /><Relationship Type="http://schemas.openxmlformats.org/officeDocument/2006/relationships/officeDocument" Target="/ppt/presentation.xml" Id="R020cd001e03b4b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9432c6fc994f3b"/>
  </p:sldMasterIdLst>
  <p:notesMasterIdLst>
    <p:notesMasterId xmlns:r="http://schemas.openxmlformats.org/officeDocument/2006/relationships" r:id="R5f2deb808f304bb4"/>
  </p:notesMasterIdLst>
  <p:sldIdLst>
    <p:sldId xmlns:r="http://schemas.openxmlformats.org/officeDocument/2006/relationships" id="256" r:id="R85e278ad643d40bd"/>
    <p:sldId xmlns:r="http://schemas.openxmlformats.org/officeDocument/2006/relationships" id="257" r:id="R10a7ea4c5e47423a"/>
    <p:sldId xmlns:r="http://schemas.openxmlformats.org/officeDocument/2006/relationships" id="258" r:id="R70e05aa8b4ad4d2d"/>
    <p:sldId xmlns:r="http://schemas.openxmlformats.org/officeDocument/2006/relationships" id="259" r:id="Rac62f196c98a4bde"/>
    <p:sldId xmlns:r="http://schemas.openxmlformats.org/officeDocument/2006/relationships" id="260" r:id="Rb8c1bc19246545c2"/>
    <p:sldId xmlns:r="http://schemas.openxmlformats.org/officeDocument/2006/relationships" id="261" r:id="Rac1f54f9518d4d7f"/>
    <p:sldId xmlns:r="http://schemas.openxmlformats.org/officeDocument/2006/relationships" id="262" r:id="R84f49b9659c747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3b4146404f4917" /><Relationship Type="http://schemas.openxmlformats.org/officeDocument/2006/relationships/slideMaster" Target="/ppt/slideMasters/slideMaster1.xml" Id="R539432c6fc994f3b" /><Relationship Type="http://schemas.openxmlformats.org/officeDocument/2006/relationships/notesMaster" Target="/ppt/notesMasters/notesMaster1.xml" Id="R5f2deb808f304bb4" /><Relationship Type="http://schemas.openxmlformats.org/officeDocument/2006/relationships/presProps" Target="/ppt/presProps.xml" Id="Ra8d221d66a614e14" /><Relationship Type="http://schemas.openxmlformats.org/officeDocument/2006/relationships/tableStyles" Target="/ppt/tableStyles.xml" Id="R13c872c19ac3408a" /><Relationship Type="http://schemas.openxmlformats.org/officeDocument/2006/relationships/slide" Target="/ppt/slides/slide1.xml" Id="R85e278ad643d40bd" /><Relationship Type="http://schemas.openxmlformats.org/officeDocument/2006/relationships/slide" Target="/ppt/slides/slide2.xml" Id="R10a7ea4c5e47423a" /><Relationship Type="http://schemas.openxmlformats.org/officeDocument/2006/relationships/slide" Target="/ppt/slides/slide3.xml" Id="R70e05aa8b4ad4d2d" /><Relationship Type="http://schemas.openxmlformats.org/officeDocument/2006/relationships/slide" Target="/ppt/slides/slide4.xml" Id="Rac62f196c98a4bde" /><Relationship Type="http://schemas.openxmlformats.org/officeDocument/2006/relationships/slide" Target="/ppt/slides/slide5.xml" Id="Rb8c1bc19246545c2" /><Relationship Type="http://schemas.openxmlformats.org/officeDocument/2006/relationships/slide" Target="/ppt/slides/slide6.xml" Id="Rac1f54f9518d4d7f" /><Relationship Type="http://schemas.openxmlformats.org/officeDocument/2006/relationships/slide" Target="/ppt/slides/slide7.xml" Id="R84f49b9659c747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fb7e6f359b47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5a4a26d5da492e" /><Relationship Type="http://schemas.openxmlformats.org/officeDocument/2006/relationships/notesMaster" Target="/ppt/notesMasters/notesMaster1.xml" Id="R94bfb32f6a8d4f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3ee97a246642c2" /><Relationship Type="http://schemas.openxmlformats.org/officeDocument/2006/relationships/notesMaster" Target="/ppt/notesMasters/notesMaster1.xml" Id="R24f0b9ab7b4144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3956a66dd54e94" /><Relationship Type="http://schemas.openxmlformats.org/officeDocument/2006/relationships/notesMaster" Target="/ppt/notesMasters/notesMaster1.xml" Id="Rfb1313f4cc0c45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eaef84aaf54295" /><Relationship Type="http://schemas.openxmlformats.org/officeDocument/2006/relationships/notesMaster" Target="/ppt/notesMasters/notesMaster1.xml" Id="R7b701b19ea044e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c14bab7c274697" /><Relationship Type="http://schemas.openxmlformats.org/officeDocument/2006/relationships/notesMaster" Target="/ppt/notesMasters/notesMaster1.xml" Id="Re98c6adac6324d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ffdbf1d8884cfe" /><Relationship Type="http://schemas.openxmlformats.org/officeDocument/2006/relationships/notesMaster" Target="/ppt/notesMasters/notesMaster1.xml" Id="Rd0e0514d13de4d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876ae524494902" /><Relationship Type="http://schemas.openxmlformats.org/officeDocument/2006/relationships/notesMaster" Target="/ppt/notesMasters/notesMaster1.xml" Id="Rfa5b55adec8d4c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tension: duration is easy to measure, but it is only a proxy for call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deck explains how the system converts a recording into traceable evidence and a reviewable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E:/Mia/insurance-qa-calling/README.md</a:t>
            </a:r>
          </a:p>
          <a:p xmlns:a="http://schemas.openxmlformats.org/drawingml/2006/main">
            <a:r>
              <a:t>- E:/Mia/insurance-qa-calling/docs/superpowers/specs/2026-07-10-insurance-calling-qa-system-poc-design.md</a:t>
            </a:r>
          </a:p>
          <a:p xmlns:a="http://schemas.openxmlformats.org/drawingml/2006/main">
            <a:r>
              <a:t>- E:/Mia/insurance-qa-calling/src/services/worker_service.js</a:t>
            </a:r>
          </a:p>
          <a:p xmlns:a="http://schemas.openxmlformats.org/drawingml/2006/main">
            <a:r>
              <a:t>- E:/Mia/insurance-qa-calling/src/infrastructure/providers/azure_transcription_adapter.js</a:t>
            </a:r>
          </a:p>
          <a:p xmlns:a="http://schemas.openxmlformats.org/drawingml/2006/main">
            <a:r>
              <a:t>- E:/Mia/insurance-qa-calling/src/infrastructure/providers/responses_adapter.js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red KPI first. The problem is not that duration is useless; it is that duration cannot prove the call was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two examples to make the asymmetry clear: long calls can be empty, while short calls can still contain key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 with the question on the right: how can we add a content-quality signal without losing auditability?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E:/Mia/insurance-qa-calling/README.md</a:t>
            </a:r>
          </a:p>
          <a:p xmlns:a="http://schemas.openxmlformats.org/drawingml/2006/main">
            <a:r>
              <a:t>- E:/Mia/insurance-qa-calling/docs/superpowers/specs/2026-07-10-insurance-calling-qa-system-poc-design.md</a:t>
            </a:r>
          </a:p>
          <a:p xmlns:a="http://schemas.openxmlformats.org/drawingml/2006/main">
            <a:r>
              <a:t>- E:/Mia/insurance-qa-calling/src/services/worker_service.js</a:t>
            </a:r>
          </a:p>
          <a:p xmlns:a="http://schemas.openxmlformats.org/drawingml/2006/main">
            <a:r>
              <a:t>- E:/Mia/insurance-qa-calling/src/infrastructure/providers/azure_transcription_adapter.js</a:t>
            </a:r>
          </a:p>
          <a:p xmlns:a="http://schemas.openxmlformats.org/drawingml/2006/main">
            <a:r>
              <a:t>- E:/Mia/insurance-qa-calling/src/infrastructure/providers/responses_adapter.js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central design principle. The proposal does not remove the existing duration metric; it adds a stronger quality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key differentiator is traceability: every finding should be connected to exact transcript evidence and remain reviewable by an analyst.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E:/Mia/insurance-qa-calling/README.md</a:t>
            </a:r>
          </a:p>
          <a:p xmlns:a="http://schemas.openxmlformats.org/drawingml/2006/main">
            <a:r>
              <a:t>- E:/Mia/insurance-qa-calling/docs/superpowers/specs/2026-07-10-insurance-calling-qa-system-poc-design.md</a:t>
            </a:r>
          </a:p>
          <a:p xmlns:a="http://schemas.openxmlformats.org/drawingml/2006/main">
            <a:r>
              <a:t>- E:/Mia/insurance-qa-calling/src/services/worker_service.js</a:t>
            </a:r>
          </a:p>
          <a:p xmlns:a="http://schemas.openxmlformats.org/drawingml/2006/main">
            <a:r>
              <a:t>- E:/Mia/insurance-qa-calling/src/infrastructure/providers/azure_transcription_adapter.js</a:t>
            </a:r>
          </a:p>
          <a:p xmlns:a="http://schemas.openxmlformats.org/drawingml/2006/main">
            <a:r>
              <a:t>- E:/Mia/insurance-qa-calling/src/infrastructure/providers/responses_adapter.js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this slide from left to right. The Web UI and Call Center API are separate entry points, but they converge into one controlled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important architectural choice is asynchronous processing: the system stores the call, creates a queue job, and lets the Worker coordinate ASR, LLM analysis, evidence validation, and report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Call out the color semantics: blue is application control, purple is AI processing, amber is an external provider boundary, and green is evidence and delivery.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E:/Mia/insurance-qa-calling/README.md</a:t>
            </a:r>
          </a:p>
          <a:p xmlns:a="http://schemas.openxmlformats.org/drawingml/2006/main">
            <a:r>
              <a:t>- E:/Mia/insurance-qa-calling/docs/superpowers/specs/2026-07-10-insurance-calling-qa-system-poc-design.md</a:t>
            </a:r>
          </a:p>
          <a:p xmlns:a="http://schemas.openxmlformats.org/drawingml/2006/main">
            <a:r>
              <a:t>- E:/Mia/insurance-qa-calling/src/services/worker_service.js</a:t>
            </a:r>
          </a:p>
          <a:p xmlns:a="http://schemas.openxmlformats.org/drawingml/2006/main">
            <a:r>
              <a:t>- E:/Mia/insurance-qa-calling/src/infrastructure/providers/azure_transcription_adapter.js</a:t>
            </a:r>
          </a:p>
          <a:p xmlns:a="http://schemas.openxmlformats.org/drawingml/2006/main">
            <a:r>
              <a:t>- E:/Mia/insurance-qa-calling/src/infrastructure/providers/responses_adapter.js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trust model. The LLM does not receive raw audio; it receives a normalized transcript, a prompt, a ruleset, and a schema.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system then checks whether the model’s quoted evidence actually exists in the transcript and maps to a valid segment.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 explicit about the current limitation: speaker attribution is unavailable, so the system must avoid guessing who said what.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E:/Mia/insurance-qa-calling/README.md</a:t>
            </a:r>
          </a:p>
          <a:p xmlns:a="http://schemas.openxmlformats.org/drawingml/2006/main">
            <a:r>
              <a:t>- E:/Mia/insurance-qa-calling/docs/superpowers/specs/2026-07-10-insurance-calling-qa-system-poc-design.md</a:t>
            </a:r>
          </a:p>
          <a:p xmlns:a="http://schemas.openxmlformats.org/drawingml/2006/main">
            <a:r>
              <a:t>- E:/Mia/insurance-qa-calling/src/services/worker_service.js</a:t>
            </a:r>
          </a:p>
          <a:p xmlns:a="http://schemas.openxmlformats.org/drawingml/2006/main">
            <a:r>
              <a:t>- E:/Mia/insurance-qa-calling/src/infrastructure/providers/azure_transcription_adapter.js</a:t>
            </a:r>
          </a:p>
          <a:p xmlns:a="http://schemas.openxmlformats.org/drawingml/2006/main">
            <a:r>
              <a:t>- E:/Mia/insurance-qa-calling/src/infrastructure/providers/responses_adapter.js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set expectations about the operating model. The system narrows the analyst’s work and makes evidence easier to inspect.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Walk through the three stages on the right: AI proposes, policy verifies, and the analyst decides.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four outcomes are deliberately not a single numeric score. They make uncertainty visible and preserve a manual-review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E:/Mia/insurance-qa-calling/README.md</a:t>
            </a:r>
          </a:p>
          <a:p xmlns:a="http://schemas.openxmlformats.org/drawingml/2006/main">
            <a:r>
              <a:t>- E:/Mia/insurance-qa-calling/docs/superpowers/specs/2026-07-10-insurance-calling-qa-system-poc-design.md</a:t>
            </a:r>
          </a:p>
          <a:p xmlns:a="http://schemas.openxmlformats.org/drawingml/2006/main">
            <a:r>
              <a:t>- E:/Mia/insurance-qa-calling/src/services/worker_service.js</a:t>
            </a:r>
          </a:p>
          <a:p xmlns:a="http://schemas.openxmlformats.org/drawingml/2006/main">
            <a:r>
              <a:t>- E:/Mia/insurance-qa-calling/src/infrastructure/providers/azure_transcription_adapter.js</a:t>
            </a:r>
          </a:p>
          <a:p xmlns:a="http://schemas.openxmlformats.org/drawingml/2006/main">
            <a:r>
              <a:t>- E:/Mia/insurance-qa-calling/src/infrastructure/providers/responses_adapter.js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showing that the POC is not asking the organization to trust automation blindly. The controls are part of the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next step is controlled validation: build an approved evaluation set, measure evidence accuracy, calibrate the rules with analysts, and then decide how the duration KPI should be combined with content validity.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End on the takeaway: better decisions start with evidence people can inspect.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E:/Mia/insurance-qa-calling/README.md</a:t>
            </a:r>
          </a:p>
          <a:p xmlns:a="http://schemas.openxmlformats.org/drawingml/2006/main">
            <a:r>
              <a:t>- E:/Mia/insurance-qa-calling/docs/superpowers/specs/2026-07-10-insurance-calling-qa-system-poc-design.md</a:t>
            </a:r>
          </a:p>
          <a:p xmlns:a="http://schemas.openxmlformats.org/drawingml/2006/main">
            <a:r>
              <a:t>- E:/Mia/insurance-qa-calling/src/services/worker_service.js</a:t>
            </a:r>
          </a:p>
          <a:p xmlns:a="http://schemas.openxmlformats.org/drawingml/2006/main">
            <a:r>
              <a:t>- E:/Mia/insurance-qa-calling/src/infrastructure/providers/azure_transcription_adapter.js</a:t>
            </a:r>
          </a:p>
          <a:p xmlns:a="http://schemas.openxmlformats.org/drawingml/2006/main">
            <a:r>
              <a:t>- E:/Mia/insurance-qa-calling/src/infrastructure/providers/responses_adapter.js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7e78c6b914d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52f2db5d8d4b6d" /><Relationship Type="http://schemas.openxmlformats.org/officeDocument/2006/relationships/slideLayout" Target="/ppt/slideLayouts/slideLayout1.xml" Id="Ra4d7012cf89e4d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d7012cf89e4d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dd48cd8f2469c" /><Relationship Type="http://schemas.openxmlformats.org/officeDocument/2006/relationships/notesSlide" Target="/ppt/notesSlides/notesSlide1.xml" Id="R497e346149d145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4e2d2b5e5440a" /><Relationship Type="http://schemas.openxmlformats.org/officeDocument/2006/relationships/notesSlide" Target="/ppt/notesSlides/notesSlide2.xml" Id="R9fb926f5d5a341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1f44e8cfa4a4b" /><Relationship Type="http://schemas.openxmlformats.org/officeDocument/2006/relationships/notesSlide" Target="/ppt/notesSlides/notesSlide3.xml" Id="Ra8fd00575fe243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e2922459242a3" /><Relationship Type="http://schemas.openxmlformats.org/officeDocument/2006/relationships/notesSlide" Target="/ppt/notesSlides/notesSlide4.xml" Id="R32c8a216af7942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96e4582824dc9" /><Relationship Type="http://schemas.openxmlformats.org/officeDocument/2006/relationships/notesSlide" Target="/ppt/notesSlides/notesSlide5.xml" Id="R9a5630816f1548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303433c1443fa" /><Relationship Type="http://schemas.openxmlformats.org/officeDocument/2006/relationships/notesSlide" Target="/ppt/notesSlides/notesSlide6.xml" Id="Rb8dbe06d94f242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f147b4ec54757" /><Relationship Type="http://schemas.openxmlformats.org/officeDocument/2006/relationships/notesSlide" Target="/ppt/notesSlides/notesSlide7.xml" Id="R45c75173551f44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602BA2-8B41-4EF1-80DF-2EC3C943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78"/>
          </a:solidFill>
          <a:ln xmlns:a="http://schemas.openxmlformats.org/drawingml/2006/main" w="0">
            <a:solidFill>
              <a:srgbClr val="0E8A78"/>
            </a:solidFill>
            <a:prstDash val="solid"/>
          </a:ln>
        </p:spPr>
      </p:sp>
      <p:sp>
        <p:nvSpPr>
          <p:cNvPr id="2" name="s1-eyebrow">
            <a:extLst xmlns:a="http://schemas.openxmlformats.org/drawingml/2006/main">
              <a:ext uri="{FF2B5EF4-FFF2-40B4-BE49-F238E27FC236}">
                <a16:creationId xmlns:a16="http://schemas.microsoft.com/office/drawing/2014/main" id="{9678A63B-D04F-498E-BCD1-68A24783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5D7D0"/>
                </a:solidFill>
              </a:defRPr>
            </a:pPr>
            <a:r>
              <a:rPr sz="1050" b="1" i="0">
                <a:solidFill>
                  <a:srgbClr val="75D7D0"/>
                </a:solidFill>
              </a:rPr>
              <a:t>INSURANCE CUSTOMER SERVICE</a:t>
            </a:r>
          </a:p>
        </p:txBody>
      </p:sp>
      <p:sp>
        <p:nvSpPr>
          <p:cNvPr id="3" name="s1-title">
            <a:extLst xmlns:a="http://schemas.openxmlformats.org/drawingml/2006/main">
              <a:ext uri="{FF2B5EF4-FFF2-40B4-BE49-F238E27FC236}">
                <a16:creationId xmlns:a16="http://schemas.microsoft.com/office/drawing/2014/main" id="{17FAD0EE-ADBC-4751-8C06-3408F664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Making call quality visible</a:t>
            </a:r>
          </a:p>
        </p:txBody>
      </p:sp>
      <p:sp>
        <p:nvSpPr>
          <p:cNvPr id="4" name="s1-subtitle">
            <a:extLst xmlns:a="http://schemas.openxmlformats.org/drawingml/2006/main">
              <a:ext uri="{FF2B5EF4-FFF2-40B4-BE49-F238E27FC236}">
                <a16:creationId xmlns:a16="http://schemas.microsoft.com/office/drawing/2014/main" id="{4FF616DA-6AC8-4ABB-A2DC-58D3F03B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7C9D9"/>
                </a:solidFill>
              </a:defRPr>
            </a:pPr>
            <a:r>
              <a:rPr sz="1800" b="0" i="0">
                <a:solidFill>
                  <a:srgbClr val="B7C9D9"/>
                </a:solidFill>
              </a:rPr>
              <a:t>AI-assisted post-call validity analysis</a:t>
            </a:r>
          </a:p>
          <a:p xmlns:a="http://schemas.openxmlformats.org/drawingml/2006/main">
            <a:pPr algn="l">
              <a:defRPr sz="1800" b="0" i="0">
                <a:solidFill>
                  <a:srgbClr val="B7C9D9"/>
                </a:solidFill>
              </a:defRPr>
            </a:pPr>
            <a:r>
              <a:rPr sz="1800" b="0" i="0">
                <a:solidFill>
                  <a:srgbClr val="B7C9D9"/>
                </a:solidFill>
              </a:rPr>
              <a:t>for insurance customer service</a:t>
            </a:r>
          </a:p>
        </p:txBody>
      </p:sp>
      <p:sp>
        <p:nvSpPr>
          <p:cNvPr id="5" name="s1-meta">
            <a:extLst xmlns:a="http://schemas.openxmlformats.org/drawingml/2006/main">
              <a:ext uri="{FF2B5EF4-FFF2-40B4-BE49-F238E27FC236}">
                <a16:creationId xmlns:a16="http://schemas.microsoft.com/office/drawing/2014/main" id="{E072B7B7-B7A5-4D1B-BBEA-59F99F01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FB3C8"/>
                </a:solidFill>
              </a:defRPr>
            </a:pPr>
            <a:r>
              <a:rPr sz="1125" b="0" i="0">
                <a:solidFill>
                  <a:srgbClr val="9FB3C8"/>
                </a:solidFill>
              </a:rPr>
              <a:t>Executive overview | Architecture, trust model, and human review</a:t>
            </a:r>
          </a:p>
        </p:txBody>
      </p:sp>
      <p:sp>
        <p:nvSpPr>
          <p:cNvPr id="6" name="s1-visual-frame">
            <a:extLst xmlns:a="http://schemas.openxmlformats.org/drawingml/2006/main">
              <a:ext uri="{FF2B5EF4-FFF2-40B4-BE49-F238E27FC236}">
                <a16:creationId xmlns:a16="http://schemas.microsoft.com/office/drawing/2014/main" id="{ACEE477F-B256-418A-9279-7E2B628E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09650"/>
            <a:ext cx="4095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5"/>
          </a:solidFill>
          <a:ln xmlns:a="http://schemas.openxmlformats.org/drawingml/2006/main" w="19050">
            <a:solidFill>
              <a:srgbClr val="2D526B"/>
            </a:solidFill>
            <a:prstDash val="solid"/>
          </a:ln>
        </p:spPr>
      </p:sp>
      <p:sp>
        <p:nvSpPr>
          <p:cNvPr id="7" name="s1-visual-label">
            <a:extLst xmlns:a="http://schemas.openxmlformats.org/drawingml/2006/main">
              <a:ext uri="{FF2B5EF4-FFF2-40B4-BE49-F238E27FC236}">
                <a16:creationId xmlns:a16="http://schemas.microsoft.com/office/drawing/2014/main" id="{137FD659-CCB6-40B1-A9A8-EB9429C1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335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5D7D0"/>
                </a:solidFill>
              </a:defRPr>
            </a:pPr>
            <a:r>
              <a:rPr sz="975" b="1" i="0">
                <a:solidFill>
                  <a:srgbClr val="75D7D0"/>
                </a:solidFill>
              </a:rPr>
              <a:t>THE SIGNAL CHAIN</a:t>
            </a:r>
          </a:p>
        </p:txBody>
      </p:sp>
      <p:sp>
        <p:nvSpPr>
          <p:cNvPr id="8" name="s1-circle-0">
            <a:extLst xmlns:a="http://schemas.openxmlformats.org/drawingml/2006/main">
              <a:ext uri="{FF2B5EF4-FFF2-40B4-BE49-F238E27FC236}">
                <a16:creationId xmlns:a16="http://schemas.microsoft.com/office/drawing/2014/main" id="{1EA70803-D037-4B8D-BCF7-A7629CFD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33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5670"/>
          </a:solidFill>
          <a:ln xmlns:a="http://schemas.openxmlformats.org/drawingml/2006/main" w="19050">
            <a:solidFill>
              <a:srgbClr val="4C7E95"/>
            </a:solidFill>
            <a:prstDash val="solid"/>
          </a:ln>
        </p:spPr>
      </p:sp>
      <p:sp>
        <p:nvSpPr>
          <p:cNvPr id="9" name="s1-num-0">
            <a:extLst xmlns:a="http://schemas.openxmlformats.org/drawingml/2006/main">
              <a:ext uri="{FF2B5EF4-FFF2-40B4-BE49-F238E27FC236}">
                <a16:creationId xmlns:a16="http://schemas.microsoft.com/office/drawing/2014/main" id="{612EF69B-FB25-4440-B779-8E5B5663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s1-head-0">
            <a:extLst xmlns:a="http://schemas.openxmlformats.org/drawingml/2006/main">
              <a:ext uri="{FF2B5EF4-FFF2-40B4-BE49-F238E27FC236}">
                <a16:creationId xmlns:a16="http://schemas.microsoft.com/office/drawing/2014/main" id="{9417C4F0-D0FA-47ED-AAED-48B285C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62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CALL</a:t>
            </a:r>
          </a:p>
        </p:txBody>
      </p:sp>
      <p:sp>
        <p:nvSpPr>
          <p:cNvPr id="11" name="s1-sub-0">
            <a:extLst xmlns:a="http://schemas.openxmlformats.org/drawingml/2006/main">
              <a:ext uri="{FF2B5EF4-FFF2-40B4-BE49-F238E27FC236}">
                <a16:creationId xmlns:a16="http://schemas.microsoft.com/office/drawing/2014/main" id="{786038FC-073A-4CB2-869B-756D4A10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7C9D9"/>
                </a:solidFill>
              </a:defRPr>
            </a:pPr>
            <a:r>
              <a:rPr sz="1125" b="0" i="0">
                <a:solidFill>
                  <a:srgbClr val="B7C9D9"/>
                </a:solidFill>
              </a:rPr>
              <a:t>Audio</a:t>
            </a:r>
          </a:p>
        </p:txBody>
      </p:sp>
      <p:sp>
        <p:nvSpPr>
          <p:cNvPr id="12" name="s1-arrow-0">
            <a:extLst xmlns:a="http://schemas.openxmlformats.org/drawingml/2006/main">
              <a:ext uri="{FF2B5EF4-FFF2-40B4-BE49-F238E27FC236}">
                <a16:creationId xmlns:a16="http://schemas.microsoft.com/office/drawing/2014/main" id="{F88B63E1-2181-4442-B716-CA7F58F6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171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7E95"/>
          </a:solidFill>
          <a:ln xmlns:a="http://schemas.openxmlformats.org/drawingml/2006/main" w="9525">
            <a:solidFill>
              <a:srgbClr val="4C7E95"/>
            </a:solidFill>
            <a:prstDash val="solid"/>
          </a:ln>
        </p:spPr>
      </p:sp>
      <p:sp>
        <p:nvSpPr>
          <p:cNvPr id="13" name="s1-circle-1">
            <a:extLst xmlns:a="http://schemas.openxmlformats.org/drawingml/2006/main">
              <a:ext uri="{FF2B5EF4-FFF2-40B4-BE49-F238E27FC236}">
                <a16:creationId xmlns:a16="http://schemas.microsoft.com/office/drawing/2014/main" id="{30645CC5-9196-4A44-BBD5-09C7A93C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67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5670"/>
          </a:solidFill>
          <a:ln xmlns:a="http://schemas.openxmlformats.org/drawingml/2006/main" w="19050">
            <a:solidFill>
              <a:srgbClr val="4C7E95"/>
            </a:solidFill>
            <a:prstDash val="solid"/>
          </a:ln>
        </p:spPr>
      </p:sp>
      <p:sp>
        <p:nvSpPr>
          <p:cNvPr id="14" name="s1-num-1">
            <a:extLst xmlns:a="http://schemas.openxmlformats.org/drawingml/2006/main">
              <a:ext uri="{FF2B5EF4-FFF2-40B4-BE49-F238E27FC236}">
                <a16:creationId xmlns:a16="http://schemas.microsoft.com/office/drawing/2014/main" id="{DF4CEB9C-C5F4-4598-A9CA-5A51A66E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s1-head-1">
            <a:extLst xmlns:a="http://schemas.openxmlformats.org/drawingml/2006/main">
              <a:ext uri="{FF2B5EF4-FFF2-40B4-BE49-F238E27FC236}">
                <a16:creationId xmlns:a16="http://schemas.microsoft.com/office/drawing/2014/main" id="{53E22342-6717-4278-A2D1-40734DB0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TRANSCRIPT</a:t>
            </a:r>
          </a:p>
        </p:txBody>
      </p:sp>
      <p:sp>
        <p:nvSpPr>
          <p:cNvPr id="16" name="s1-sub-1">
            <a:extLst xmlns:a="http://schemas.openxmlformats.org/drawingml/2006/main">
              <a:ext uri="{FF2B5EF4-FFF2-40B4-BE49-F238E27FC236}">
                <a16:creationId xmlns:a16="http://schemas.microsoft.com/office/drawing/2014/main" id="{F65CBB86-EBA5-4CBF-B843-4D96B6F4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7C9D9"/>
                </a:solidFill>
              </a:defRPr>
            </a:pPr>
            <a:r>
              <a:rPr sz="1125" b="0" i="0">
                <a:solidFill>
                  <a:srgbClr val="B7C9D9"/>
                </a:solidFill>
              </a:rPr>
              <a:t>ASR</a:t>
            </a:r>
          </a:p>
        </p:txBody>
      </p:sp>
      <p:sp>
        <p:nvSpPr>
          <p:cNvPr id="17" name="s1-arrow-1">
            <a:extLst xmlns:a="http://schemas.openxmlformats.org/drawingml/2006/main">
              <a:ext uri="{FF2B5EF4-FFF2-40B4-BE49-F238E27FC236}">
                <a16:creationId xmlns:a16="http://schemas.microsoft.com/office/drawing/2014/main" id="{17B9D263-DB15-4343-99EA-E7154766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14750"/>
            <a:ext cx="171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7E95"/>
          </a:solidFill>
          <a:ln xmlns:a="http://schemas.openxmlformats.org/drawingml/2006/main" w="9525">
            <a:solidFill>
              <a:srgbClr val="4C7E95"/>
            </a:solidFill>
            <a:prstDash val="solid"/>
          </a:ln>
        </p:spPr>
      </p:sp>
      <p:sp>
        <p:nvSpPr>
          <p:cNvPr id="18" name="s1-circle-2">
            <a:extLst xmlns:a="http://schemas.openxmlformats.org/drawingml/2006/main">
              <a:ext uri="{FF2B5EF4-FFF2-40B4-BE49-F238E27FC236}">
                <a16:creationId xmlns:a16="http://schemas.microsoft.com/office/drawing/2014/main" id="{0E635BC0-695B-430C-96C0-7B76CA00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00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78"/>
          </a:solidFill>
          <a:ln xmlns:a="http://schemas.openxmlformats.org/drawingml/2006/main" w="19050">
            <a:solidFill>
              <a:srgbClr val="0E8A78"/>
            </a:solidFill>
            <a:prstDash val="solid"/>
          </a:ln>
        </p:spPr>
      </p:sp>
      <p:sp>
        <p:nvSpPr>
          <p:cNvPr id="19" name="s1-num-2">
            <a:extLst xmlns:a="http://schemas.openxmlformats.org/drawingml/2006/main">
              <a:ext uri="{FF2B5EF4-FFF2-40B4-BE49-F238E27FC236}">
                <a16:creationId xmlns:a16="http://schemas.microsoft.com/office/drawing/2014/main" id="{6A52AD16-53EB-4159-AF95-CF1B2677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386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s1-head-2">
            <a:extLst xmlns:a="http://schemas.openxmlformats.org/drawingml/2006/main">
              <a:ext uri="{FF2B5EF4-FFF2-40B4-BE49-F238E27FC236}">
                <a16:creationId xmlns:a16="http://schemas.microsoft.com/office/drawing/2014/main" id="{4025B68E-86EF-4119-A0E9-DD9E86DC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290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21" name="s1-sub-2">
            <a:extLst xmlns:a="http://schemas.openxmlformats.org/drawingml/2006/main">
              <a:ext uri="{FF2B5EF4-FFF2-40B4-BE49-F238E27FC236}">
                <a16:creationId xmlns:a16="http://schemas.microsoft.com/office/drawing/2014/main" id="{BE26A7CA-28A1-4EE3-92F0-A1DABF50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7C9D9"/>
                </a:solidFill>
              </a:defRPr>
            </a:pPr>
            <a:r>
              <a:rPr sz="1125" b="0" i="0">
                <a:solidFill>
                  <a:srgbClr val="B7C9D9"/>
                </a:solidFill>
              </a:rPr>
              <a:t>LLM + review</a:t>
            </a:r>
          </a:p>
        </p:txBody>
      </p:sp>
    </p:spTree>
    <p:extLst>
      <p:ext uri="{BB962C8B-B14F-4D97-AF65-F5344CB8AC3E}">
        <p14:creationId xmlns:p14="http://schemas.microsoft.com/office/powerpoint/2010/main" val="3946514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01 | The problem-eyebrow">
            <a:extLst xmlns:a="http://schemas.openxmlformats.org/drawingml/2006/main">
              <a:ext uri="{FF2B5EF4-FFF2-40B4-BE49-F238E27FC236}">
                <a16:creationId xmlns:a16="http://schemas.microsoft.com/office/drawing/2014/main" id="{F4D67429-7E17-4418-9D6A-7616B10B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E8A78"/>
                </a:solidFill>
              </a:defRPr>
            </a:pPr>
            <a:r>
              <a:rPr sz="900" b="1" i="0">
                <a:solidFill>
                  <a:srgbClr val="0E8A78"/>
                </a:solidFill>
              </a:rPr>
              <a:t>01 | THE PROBLEM</a:t>
            </a:r>
          </a:p>
        </p:txBody>
      </p:sp>
      <p:sp>
        <p:nvSpPr>
          <p:cNvPr id="2" name="01 | The problem-title">
            <a:extLst xmlns:a="http://schemas.openxmlformats.org/drawingml/2006/main">
              <a:ext uri="{FF2B5EF4-FFF2-40B4-BE49-F238E27FC236}">
                <a16:creationId xmlns:a16="http://schemas.microsoft.com/office/drawing/2014/main" id="{2AD3FB9E-6315-4E23-9F94-70E014F3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</a:defRPr>
            </a:pPr>
            <a:r>
              <a:rPr sz="2850" b="1" i="0">
                <a:solidFill>
                  <a:srgbClr val="0B1F33"/>
                </a:solidFill>
              </a:rPr>
              <a:t>Duration alone is a weak proxy for call quality</a:t>
            </a:r>
          </a:p>
        </p:txBody>
      </p:sp>
      <p:sp>
        <p:nvSpPr>
          <p:cNvPr id="3" name="01 | The problem-subtitle">
            <a:extLst xmlns:a="http://schemas.openxmlformats.org/drawingml/2006/main">
              <a:ext uri="{FF2B5EF4-FFF2-40B4-BE49-F238E27FC236}">
                <a16:creationId xmlns:a16="http://schemas.microsoft.com/office/drawing/2014/main" id="{12735B30-D4B3-480C-85D7-26A8ECE0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The current KPI creates both false confidence and missed value.</a:t>
            </a:r>
          </a:p>
        </p:txBody>
      </p:sp>
      <p:sp>
        <p:nvSpPr>
          <p:cNvPr id="4" name="s2-kpi-frame">
            <a:extLst xmlns:a="http://schemas.openxmlformats.org/drawingml/2006/main">
              <a:ext uri="{FF2B5EF4-FFF2-40B4-BE49-F238E27FC236}">
                <a16:creationId xmlns:a16="http://schemas.microsoft.com/office/drawing/2014/main" id="{E19EE9E5-5EED-47FB-B99E-0F032BA3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048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19050">
            <a:solidFill>
              <a:srgbClr val="C62828"/>
            </a:solidFill>
            <a:prstDash val="solid"/>
          </a:ln>
        </p:spPr>
      </p:sp>
      <p:sp>
        <p:nvSpPr>
          <p:cNvPr id="5" name="s2-kpi-label">
            <a:extLst xmlns:a="http://schemas.openxmlformats.org/drawingml/2006/main">
              <a:ext uri="{FF2B5EF4-FFF2-40B4-BE49-F238E27FC236}">
                <a16:creationId xmlns:a16="http://schemas.microsoft.com/office/drawing/2014/main" id="{48A14C5C-C71E-46E5-AE44-30E25BB7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D2D2"/>
                </a:solidFill>
              </a:defRPr>
            </a:pPr>
            <a:r>
              <a:rPr sz="1125" b="1" i="0">
                <a:solidFill>
                  <a:srgbClr val="FFD2D2"/>
                </a:solidFill>
              </a:rPr>
              <a:t>HARD KPI</a:t>
            </a:r>
          </a:p>
        </p:txBody>
      </p:sp>
      <p:sp>
        <p:nvSpPr>
          <p:cNvPr id="6" name="s2-kpi-value">
            <a:extLst xmlns:a="http://schemas.openxmlformats.org/drawingml/2006/main">
              <a:ext uri="{FF2B5EF4-FFF2-40B4-BE49-F238E27FC236}">
                <a16:creationId xmlns:a16="http://schemas.microsoft.com/office/drawing/2014/main" id="{8586C399-9ED5-4947-8F48-6CAE5D74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&gt; 90 sec</a:t>
            </a:r>
          </a:p>
        </p:txBody>
      </p:sp>
      <p:sp>
        <p:nvSpPr>
          <p:cNvPr id="7" name="s2-kpi-detail">
            <a:extLst xmlns:a="http://schemas.openxmlformats.org/drawingml/2006/main">
              <a:ext uri="{FF2B5EF4-FFF2-40B4-BE49-F238E27FC236}">
                <a16:creationId xmlns:a16="http://schemas.microsoft.com/office/drawing/2014/main" id="{18036E0B-2509-4CF9-ADE1-82619C34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E7E7"/>
                </a:solidFill>
              </a:defRPr>
            </a:pPr>
            <a:r>
              <a:rPr sz="1350" b="0" i="0">
                <a:solidFill>
                  <a:srgbClr val="FFE7E7"/>
                </a:solidFill>
              </a:rPr>
              <a:t>A duration threshold</a:t>
            </a:r>
          </a:p>
          <a:p xmlns:a="http://schemas.openxmlformats.org/drawingml/2006/main">
            <a:pPr algn="l">
              <a:defRPr sz="1350" b="0" i="0">
                <a:solidFill>
                  <a:srgbClr val="FFE7E7"/>
                </a:solidFill>
              </a:defRPr>
            </a:pPr>
            <a:r>
              <a:rPr sz="1350" b="0" i="0">
                <a:solidFill>
                  <a:srgbClr val="FFE7E7"/>
                </a:solidFill>
              </a:rPr>
              <a:t>without content evidence</a:t>
            </a:r>
          </a:p>
        </p:txBody>
      </p:sp>
      <p:sp>
        <p:nvSpPr>
          <p:cNvPr id="8" name="s2-long">
            <a:extLst xmlns:a="http://schemas.openxmlformats.org/drawingml/2006/main">
              <a:ext uri="{FF2B5EF4-FFF2-40B4-BE49-F238E27FC236}">
                <a16:creationId xmlns:a16="http://schemas.microsoft.com/office/drawing/2014/main" id="{72FA5455-7F37-4144-98E1-0B0955B1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A4A4"/>
            </a:solidFill>
            <a:prstDash val="solid"/>
          </a:ln>
        </p:spPr>
      </p:sp>
      <p:sp>
        <p:nvSpPr>
          <p:cNvPr id="9" name="s2-long-title">
            <a:extLst xmlns:a="http://schemas.openxmlformats.org/drawingml/2006/main">
              <a:ext uri="{FF2B5EF4-FFF2-40B4-BE49-F238E27FC236}">
                <a16:creationId xmlns:a16="http://schemas.microsoft.com/office/drawing/2014/main" id="{75353A13-7B50-449A-961D-AB4B752F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62828"/>
                </a:solidFill>
              </a:defRPr>
            </a:pPr>
            <a:r>
              <a:rPr sz="1650" b="1" i="0">
                <a:solidFill>
                  <a:srgbClr val="C62828"/>
                </a:solidFill>
              </a:rPr>
              <a:t>LONG BUT EMPTY</a:t>
            </a:r>
          </a:p>
        </p:txBody>
      </p:sp>
      <p:sp>
        <p:nvSpPr>
          <p:cNvPr id="10" name="s2-long-detail">
            <a:extLst xmlns:a="http://schemas.openxmlformats.org/drawingml/2006/main">
              <a:ext uri="{FF2B5EF4-FFF2-40B4-BE49-F238E27FC236}">
                <a16:creationId xmlns:a16="http://schemas.microsoft.com/office/drawing/2014/main" id="{0435B686-4650-47E3-B448-CECF4510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2838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&gt; 90 sec</a:t>
            </a:r>
          </a:p>
          <a:p xmlns:a="http://schemas.openxmlformats.org/drawingml/2006/main">
            <a:pPr algn="l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No meaningful business information</a:t>
            </a:r>
          </a:p>
        </p:txBody>
      </p:sp>
      <p:sp>
        <p:nvSpPr>
          <p:cNvPr id="11" name="s2-long-pill">
            <a:extLst xmlns:a="http://schemas.openxmlformats.org/drawingml/2006/main">
              <a:ext uri="{FF2B5EF4-FFF2-40B4-BE49-F238E27FC236}">
                <a16:creationId xmlns:a16="http://schemas.microsoft.com/office/drawing/2014/main" id="{937797E2-E789-43FC-B56B-1E2067B5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33800"/>
            <a:ext cx="1943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C62828"/>
          </a:solidFill>
          <a:ln xmlns:a="http://schemas.openxmlformats.org/drawingml/2006/main" w="9525">
            <a:solidFill>
              <a:srgbClr val="C62828"/>
            </a:solidFill>
            <a:prstDash val="solid"/>
          </a:ln>
        </p:spPr>
      </p:sp>
      <p:sp>
        <p:nvSpPr>
          <p:cNvPr id="12" name="s2-long-pill-text">
            <a:extLst xmlns:a="http://schemas.openxmlformats.org/drawingml/2006/main">
              <a:ext uri="{FF2B5EF4-FFF2-40B4-BE49-F238E27FC236}">
                <a16:creationId xmlns:a16="http://schemas.microsoft.com/office/drawing/2014/main" id="{0A200CED-F1FC-4E06-A077-B4158E5F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528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FALSE CONFIDENCE</a:t>
            </a:r>
          </a:p>
        </p:txBody>
      </p:sp>
      <p:sp>
        <p:nvSpPr>
          <p:cNvPr id="13" name="s2-short">
            <a:extLst xmlns:a="http://schemas.openxmlformats.org/drawingml/2006/main">
              <a:ext uri="{FF2B5EF4-FFF2-40B4-BE49-F238E27FC236}">
                <a16:creationId xmlns:a16="http://schemas.microsoft.com/office/drawing/2014/main" id="{ECC25AC8-19D4-476B-A478-1416E1BA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5770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CBB8"/>
            </a:solidFill>
            <a:prstDash val="solid"/>
          </a:ln>
        </p:spPr>
      </p:sp>
      <p:sp>
        <p:nvSpPr>
          <p:cNvPr id="14" name="s2-short-title">
            <a:extLst xmlns:a="http://schemas.openxmlformats.org/drawingml/2006/main">
              <a:ext uri="{FF2B5EF4-FFF2-40B4-BE49-F238E27FC236}">
                <a16:creationId xmlns:a16="http://schemas.microsoft.com/office/drawing/2014/main" id="{885E5352-1F37-4F5F-A17E-CF23909C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E8A78"/>
                </a:solidFill>
              </a:defRPr>
            </a:pPr>
            <a:r>
              <a:rPr sz="1650" b="1" i="0">
                <a:solidFill>
                  <a:srgbClr val="0E8A78"/>
                </a:solidFill>
              </a:rPr>
              <a:t>SHORT BUT VALID</a:t>
            </a:r>
          </a:p>
        </p:txBody>
      </p:sp>
      <p:sp>
        <p:nvSpPr>
          <p:cNvPr id="15" name="s2-short-detail">
            <a:extLst xmlns:a="http://schemas.openxmlformats.org/drawingml/2006/main">
              <a:ext uri="{FF2B5EF4-FFF2-40B4-BE49-F238E27FC236}">
                <a16:creationId xmlns:a16="http://schemas.microsoft.com/office/drawing/2014/main" id="{56C6F194-BD0D-4C41-BB9C-25D5CC32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53000"/>
            <a:ext cx="2838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&lt; 90 sec</a:t>
            </a:r>
          </a:p>
          <a:p xmlns:a="http://schemas.openxmlformats.org/drawingml/2006/main">
            <a:pPr algn="l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Key information is present</a:t>
            </a:r>
          </a:p>
        </p:txBody>
      </p:sp>
      <p:sp>
        <p:nvSpPr>
          <p:cNvPr id="16" name="s2-short-pill">
            <a:extLst xmlns:a="http://schemas.openxmlformats.org/drawingml/2006/main">
              <a:ext uri="{FF2B5EF4-FFF2-40B4-BE49-F238E27FC236}">
                <a16:creationId xmlns:a16="http://schemas.microsoft.com/office/drawing/2014/main" id="{B4B76592-589C-4D67-A81C-1AB1612A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943600"/>
            <a:ext cx="1943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E8A78"/>
          </a:solidFill>
          <a:ln xmlns:a="http://schemas.openxmlformats.org/drawingml/2006/main" w="9525">
            <a:solidFill>
              <a:srgbClr val="0E8A78"/>
            </a:solidFill>
            <a:prstDash val="solid"/>
          </a:ln>
        </p:spPr>
      </p:sp>
      <p:sp>
        <p:nvSpPr>
          <p:cNvPr id="17" name="s2-short-pill-text">
            <a:extLst xmlns:a="http://schemas.openxmlformats.org/drawingml/2006/main">
              <a:ext uri="{FF2B5EF4-FFF2-40B4-BE49-F238E27FC236}">
                <a16:creationId xmlns:a16="http://schemas.microsoft.com/office/drawing/2014/main" id="{0FA54134-2106-4600-91DA-C4B5737B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9626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MISSED VALUE</a:t>
            </a:r>
          </a:p>
        </p:txBody>
      </p:sp>
      <p:sp>
        <p:nvSpPr>
          <p:cNvPr id="18" name="s2-insight-frame">
            <a:extLst xmlns:a="http://schemas.openxmlformats.org/drawingml/2006/main">
              <a:ext uri="{FF2B5EF4-FFF2-40B4-BE49-F238E27FC236}">
                <a16:creationId xmlns:a16="http://schemas.microsoft.com/office/drawing/2014/main" id="{04056981-CAE9-4CB8-9E76-EC0F6FE6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34290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19" name="s2-q-label">
            <a:extLst xmlns:a="http://schemas.openxmlformats.org/drawingml/2006/main">
              <a:ext uri="{FF2B5EF4-FFF2-40B4-BE49-F238E27FC236}">
                <a16:creationId xmlns:a16="http://schemas.microsoft.com/office/drawing/2014/main" id="{EB8EC189-1C9E-4977-83C9-11402F99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5D7D0"/>
                </a:solidFill>
              </a:defRPr>
            </a:pPr>
            <a:r>
              <a:rPr sz="1050" b="1" i="0">
                <a:solidFill>
                  <a:srgbClr val="75D7D0"/>
                </a:solidFill>
              </a:rPr>
              <a:t>THE MANAGEMENT QUESTION</a:t>
            </a:r>
          </a:p>
        </p:txBody>
      </p:sp>
      <p:sp>
        <p:nvSpPr>
          <p:cNvPr id="20" name="s2-q-value">
            <a:extLst xmlns:a="http://schemas.openxmlformats.org/drawingml/2006/main">
              <a:ext uri="{FF2B5EF4-FFF2-40B4-BE49-F238E27FC236}">
                <a16:creationId xmlns:a16="http://schemas.microsoft.com/office/drawing/2014/main" id="{23FE2847-AB23-4C71-A873-B8784861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272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Did the call</a:t>
            </a:r>
          </a:p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create valid</a:t>
            </a:r>
          </a:p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business value?</a:t>
            </a:r>
          </a:p>
        </p:txBody>
      </p:sp>
      <p:sp>
        <p:nvSpPr>
          <p:cNvPr id="21" name="s2-q-detail">
            <a:extLst xmlns:a="http://schemas.openxmlformats.org/drawingml/2006/main">
              <a:ext uri="{FF2B5EF4-FFF2-40B4-BE49-F238E27FC236}">
                <a16:creationId xmlns:a16="http://schemas.microsoft.com/office/drawing/2014/main" id="{DC302D78-1CDF-47BC-A421-945B2EAC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482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7C9D9"/>
                </a:solidFill>
              </a:defRPr>
            </a:pPr>
            <a:r>
              <a:rPr sz="1425" b="0" i="0">
                <a:solidFill>
                  <a:srgbClr val="B7C9D9"/>
                </a:solidFill>
              </a:rPr>
              <a:t>The answer requires</a:t>
            </a:r>
          </a:p>
          <a:p xmlns:a="http://schemas.openxmlformats.org/drawingml/2006/main">
            <a:pPr algn="l">
              <a:defRPr sz="1425" b="0" i="0">
                <a:solidFill>
                  <a:srgbClr val="B7C9D9"/>
                </a:solidFill>
              </a:defRPr>
            </a:pPr>
            <a:r>
              <a:rPr sz="1425" b="0" i="0">
                <a:solidFill>
                  <a:srgbClr val="B7C9D9"/>
                </a:solidFill>
              </a:rPr>
              <a:t>content evidence—not</a:t>
            </a:r>
          </a:p>
          <a:p xmlns:a="http://schemas.openxmlformats.org/drawingml/2006/main">
            <a:pPr algn="l">
              <a:defRPr sz="1425" b="0" i="0">
                <a:solidFill>
                  <a:srgbClr val="B7C9D9"/>
                </a:solidFill>
              </a:defRPr>
            </a:pPr>
            <a:r>
              <a:rPr sz="1425" b="0" i="0">
                <a:solidFill>
                  <a:srgbClr val="B7C9D9"/>
                </a:solidFill>
              </a:rPr>
              <a:t>just elapsed time.</a:t>
            </a:r>
          </a:p>
        </p:txBody>
      </p:sp>
      <p:sp>
        <p:nvSpPr>
          <p:cNvPr id="22" name="footer-2-label">
            <a:extLst xmlns:a="http://schemas.openxmlformats.org/drawingml/2006/main">
              <a:ext uri="{FF2B5EF4-FFF2-40B4-BE49-F238E27FC236}">
                <a16:creationId xmlns:a16="http://schemas.microsoft.com/office/drawing/2014/main" id="{16277370-F2C2-4E49-8434-088DDDD7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B7C8F"/>
                </a:solidFill>
              </a:defRPr>
            </a:pPr>
            <a:r>
              <a:rPr sz="750" b="1" i="0">
                <a:solidFill>
                  <a:srgbClr val="6B7C8F"/>
                </a:solidFill>
              </a:rPr>
              <a:t>INSURANCE CALLING QA SYSTEM</a:t>
            </a:r>
          </a:p>
        </p:txBody>
      </p:sp>
      <p:sp>
        <p:nvSpPr>
          <p:cNvPr id="23" name="footer-2-number">
            <a:extLst xmlns:a="http://schemas.openxmlformats.org/drawingml/2006/main">
              <a:ext uri="{FF2B5EF4-FFF2-40B4-BE49-F238E27FC236}">
                <a16:creationId xmlns:a16="http://schemas.microsoft.com/office/drawing/2014/main" id="{03D7C0A8-7352-42DB-90CB-62F7432B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C8F"/>
                </a:solidFill>
              </a:defRPr>
            </a:pPr>
            <a:r>
              <a:rPr sz="825" b="1" i="0">
                <a:solidFill>
                  <a:srgbClr val="6B7C8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21185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2 | The principle-eyebrow">
            <a:extLst xmlns:a="http://schemas.openxmlformats.org/drawingml/2006/main">
              <a:ext uri="{FF2B5EF4-FFF2-40B4-BE49-F238E27FC236}">
                <a16:creationId xmlns:a16="http://schemas.microsoft.com/office/drawing/2014/main" id="{BB197B11-3237-4076-BC8A-711D8750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E8A78"/>
                </a:solidFill>
              </a:defRPr>
            </a:pPr>
            <a:r>
              <a:rPr sz="900" b="1" i="0">
                <a:solidFill>
                  <a:srgbClr val="0E8A78"/>
                </a:solidFill>
              </a:rPr>
              <a:t>02 | THE PRINCIPLE</a:t>
            </a:r>
          </a:p>
        </p:txBody>
      </p:sp>
      <p:sp>
        <p:nvSpPr>
          <p:cNvPr id="2" name="02 | The principle-title">
            <a:extLst xmlns:a="http://schemas.openxmlformats.org/drawingml/2006/main">
              <a:ext uri="{FF2B5EF4-FFF2-40B4-BE49-F238E27FC236}">
                <a16:creationId xmlns:a16="http://schemas.microsoft.com/office/drawing/2014/main" id="{2E48750D-8754-444E-A59F-A835E527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</a:defRPr>
            </a:pPr>
            <a:r>
              <a:rPr sz="2850" b="1" i="0">
                <a:solidFill>
                  <a:srgbClr val="0B1F33"/>
                </a:solidFill>
              </a:rPr>
              <a:t>Add evidence to the compliance signal</a:t>
            </a:r>
          </a:p>
        </p:txBody>
      </p:sp>
      <p:sp>
        <p:nvSpPr>
          <p:cNvPr id="3" name="02 | The principle-subtitle">
            <a:extLst xmlns:a="http://schemas.openxmlformats.org/drawingml/2006/main">
              <a:ext uri="{FF2B5EF4-FFF2-40B4-BE49-F238E27FC236}">
                <a16:creationId xmlns:a16="http://schemas.microsoft.com/office/drawing/2014/main" id="{CD436732-6F00-492B-A278-7C7A4F5C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Keep the duration metric. Add a content-quality signal that can be reviewed.</a:t>
            </a:r>
          </a:p>
        </p:txBody>
      </p:sp>
      <p:sp>
        <p:nvSpPr>
          <p:cNvPr id="4" name="s3-duration">
            <a:extLst xmlns:a="http://schemas.openxmlformats.org/drawingml/2006/main">
              <a:ext uri="{FF2B5EF4-FFF2-40B4-BE49-F238E27FC236}">
                <a16:creationId xmlns:a16="http://schemas.microsoft.com/office/drawing/2014/main" id="{1C7D38CA-BCAF-493D-9D7A-8B48C4BA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3048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9050">
            <a:solidFill>
              <a:srgbClr val="A9B6C2"/>
            </a:solidFill>
            <a:prstDash val="solid"/>
          </a:ln>
        </p:spPr>
      </p:sp>
      <p:sp>
        <p:nvSpPr>
          <p:cNvPr id="5" name="s3-duration-title">
            <a:extLst xmlns:a="http://schemas.openxmlformats.org/drawingml/2006/main">
              <a:ext uri="{FF2B5EF4-FFF2-40B4-BE49-F238E27FC236}">
                <a16:creationId xmlns:a16="http://schemas.microsoft.com/office/drawing/2014/main" id="{29ED1F9C-5DDD-4676-894C-E2506F21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425466"/>
                </a:solidFill>
              </a:defRPr>
            </a:pPr>
            <a:r>
              <a:rPr sz="1800" b="1" i="0">
                <a:solidFill>
                  <a:srgbClr val="425466"/>
                </a:solidFill>
              </a:rPr>
              <a:t>DURATION GATE</a:t>
            </a:r>
          </a:p>
        </p:txBody>
      </p:sp>
      <p:sp>
        <p:nvSpPr>
          <p:cNvPr id="6" name="s3-duration-detail">
            <a:extLst xmlns:a="http://schemas.openxmlformats.org/drawingml/2006/main">
              <a:ext uri="{FF2B5EF4-FFF2-40B4-BE49-F238E27FC236}">
                <a16:creationId xmlns:a16="http://schemas.microsoft.com/office/drawing/2014/main" id="{B8D3BD7B-4E18-4DC0-AF1D-8C1CA129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7432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25466"/>
                </a:solidFill>
              </a:defRPr>
            </a:pPr>
            <a:r>
              <a:rPr sz="1500" b="0" i="0">
                <a:solidFill>
                  <a:srgbClr val="425466"/>
                </a:solidFill>
              </a:rPr>
              <a:t>Simple threshold</a:t>
            </a:r>
          </a:p>
          <a:p xmlns:a="http://schemas.openxmlformats.org/drawingml/2006/main">
            <a:pPr algn="l">
              <a:defRPr sz="1500" b="0" i="0">
                <a:solidFill>
                  <a:srgbClr val="425466"/>
                </a:solidFill>
              </a:defRPr>
            </a:pPr>
            <a:r>
              <a:rPr sz="1500" b="0" i="0">
                <a:solidFill>
                  <a:srgbClr val="425466"/>
                </a:solidFill>
              </a:rPr>
              <a:t>Fast to measure</a:t>
            </a:r>
          </a:p>
          <a:p xmlns:a="http://schemas.openxmlformats.org/drawingml/2006/main">
            <a:pPr algn="l">
              <a:defRPr sz="1500" b="0" i="0">
                <a:solidFill>
                  <a:srgbClr val="425466"/>
                </a:solidFill>
              </a:defRPr>
            </a:pPr>
            <a:r>
              <a:rPr sz="1500" b="0" i="0">
                <a:solidFill>
                  <a:srgbClr val="425466"/>
                </a:solidFill>
              </a:rPr>
              <a:t>Cannot explain why</a:t>
            </a:r>
          </a:p>
        </p:txBody>
      </p:sp>
      <p:sp>
        <p:nvSpPr>
          <p:cNvPr id="7" name="s3-duration-value">
            <a:extLst xmlns:a="http://schemas.openxmlformats.org/drawingml/2006/main">
              <a:ext uri="{FF2B5EF4-FFF2-40B4-BE49-F238E27FC236}">
                <a16:creationId xmlns:a16="http://schemas.microsoft.com/office/drawing/2014/main" id="{86F5A5AB-99BB-4C1E-B957-B6DE59AD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425466"/>
                </a:solidFill>
              </a:defRPr>
            </a:pPr>
            <a:r>
              <a:rPr sz="2850" b="1" i="0">
                <a:solidFill>
                  <a:srgbClr val="425466"/>
                </a:solidFill>
              </a:rPr>
              <a:t>90 sec</a:t>
            </a:r>
          </a:p>
        </p:txBody>
      </p:sp>
      <p:sp>
        <p:nvSpPr>
          <p:cNvPr id="8" name="s3-main-arrow">
            <a:extLst xmlns:a="http://schemas.openxmlformats.org/drawingml/2006/main">
              <a:ext uri="{FF2B5EF4-FFF2-40B4-BE49-F238E27FC236}">
                <a16:creationId xmlns:a16="http://schemas.microsoft.com/office/drawing/2014/main" id="{B0BF331A-79B1-4E27-ADF6-E1600CF5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1238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A78"/>
          </a:solidFill>
          <a:ln xmlns:a="http://schemas.openxmlformats.org/drawingml/2006/main" w="9525">
            <a:solidFill>
              <a:srgbClr val="0E8A78"/>
            </a:solidFill>
            <a:prstDash val="solid"/>
          </a:ln>
        </p:spPr>
      </p:sp>
      <p:sp>
        <p:nvSpPr>
          <p:cNvPr id="9" name="s3-arrow-label">
            <a:extLst xmlns:a="http://schemas.openxmlformats.org/drawingml/2006/main">
              <a:ext uri="{FF2B5EF4-FFF2-40B4-BE49-F238E27FC236}">
                <a16:creationId xmlns:a16="http://schemas.microsoft.com/office/drawing/2014/main" id="{DC1701A8-0A75-4479-ABFC-445EEA26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E8A78"/>
                </a:solidFill>
              </a:defRPr>
            </a:pPr>
            <a:r>
              <a:rPr sz="1200" b="1" i="0">
                <a:solidFill>
                  <a:srgbClr val="0E8A78"/>
                </a:solidFill>
              </a:rPr>
              <a:t>add</a:t>
            </a:r>
          </a:p>
        </p:txBody>
      </p:sp>
      <p:sp>
        <p:nvSpPr>
          <p:cNvPr id="10" name="s3-evidence">
            <a:extLst xmlns:a="http://schemas.openxmlformats.org/drawingml/2006/main">
              <a:ext uri="{FF2B5EF4-FFF2-40B4-BE49-F238E27FC236}">
                <a16:creationId xmlns:a16="http://schemas.microsoft.com/office/drawing/2014/main" id="{B895ED54-086A-41EC-B149-E36E9163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14550"/>
            <a:ext cx="43815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4EA"/>
          </a:solidFill>
          <a:ln xmlns:a="http://schemas.openxmlformats.org/drawingml/2006/main" w="19050">
            <a:solidFill>
              <a:srgbClr val="0E8A78"/>
            </a:solidFill>
            <a:prstDash val="solid"/>
          </a:ln>
        </p:spPr>
      </p:sp>
      <p:sp>
        <p:nvSpPr>
          <p:cNvPr id="11" name="s3-evidence-title">
            <a:extLst xmlns:a="http://schemas.openxmlformats.org/drawingml/2006/main">
              <a:ext uri="{FF2B5EF4-FFF2-40B4-BE49-F238E27FC236}">
                <a16:creationId xmlns:a16="http://schemas.microsoft.com/office/drawing/2014/main" id="{B9845A2B-792C-4315-83C1-877AE69B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07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</a:defRPr>
            </a:pPr>
            <a:r>
              <a:rPr sz="1800" b="1" i="0">
                <a:solidFill>
                  <a:srgbClr val="0B1F33"/>
                </a:solidFill>
              </a:rPr>
              <a:t>EVIDENCE-BASED VALIDITY</a:t>
            </a:r>
          </a:p>
        </p:txBody>
      </p:sp>
      <p:sp>
        <p:nvSpPr>
          <p:cNvPr id="12" name="s3-evidence-detail">
            <a:extLst xmlns:a="http://schemas.openxmlformats.org/drawingml/2006/main">
              <a:ext uri="{FF2B5EF4-FFF2-40B4-BE49-F238E27FC236}">
                <a16:creationId xmlns:a16="http://schemas.microsoft.com/office/drawing/2014/main" id="{DDEE8C77-9D56-40E1-B24A-FEC4A908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09850"/>
            <a:ext cx="40767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25466"/>
                </a:solidFill>
              </a:defRPr>
            </a:pPr>
            <a:r>
              <a:rPr sz="1500" b="0" i="0">
                <a:solidFill>
                  <a:srgbClr val="425466"/>
                </a:solidFill>
              </a:rPr>
              <a:t>Transcribe the call</a:t>
            </a:r>
          </a:p>
          <a:p xmlns:a="http://schemas.openxmlformats.org/drawingml/2006/main">
            <a:pPr algn="l">
              <a:defRPr sz="1500" b="0" i="0">
                <a:solidFill>
                  <a:srgbClr val="425466"/>
                </a:solidFill>
              </a:defRPr>
            </a:pPr>
            <a:r>
              <a:rPr sz="1500" b="0" i="0">
                <a:solidFill>
                  <a:srgbClr val="425466"/>
                </a:solidFill>
              </a:rPr>
              <a:t>Check business criteria</a:t>
            </a:r>
          </a:p>
          <a:p xmlns:a="http://schemas.openxmlformats.org/drawingml/2006/main">
            <a:pPr algn="l">
              <a:defRPr sz="1500" b="0" i="0">
                <a:solidFill>
                  <a:srgbClr val="425466"/>
                </a:solidFill>
              </a:defRPr>
            </a:pPr>
            <a:r>
              <a:rPr sz="1500" b="0" i="0">
                <a:solidFill>
                  <a:srgbClr val="425466"/>
                </a:solidFill>
              </a:rPr>
              <a:t>Anchor findings to exact quotes</a:t>
            </a:r>
          </a:p>
        </p:txBody>
      </p:sp>
      <p:sp>
        <p:nvSpPr>
          <p:cNvPr id="13" name="s3-traceable">
            <a:extLst xmlns:a="http://schemas.openxmlformats.org/drawingml/2006/main">
              <a:ext uri="{FF2B5EF4-FFF2-40B4-BE49-F238E27FC236}">
                <a16:creationId xmlns:a16="http://schemas.microsoft.com/office/drawing/2014/main" id="{45DDEEF2-52BF-4436-A0C8-1ABD93AD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38650"/>
            <a:ext cx="1428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E8A78"/>
          </a:solidFill>
          <a:ln xmlns:a="http://schemas.openxmlformats.org/drawingml/2006/main" w="9525">
            <a:solidFill>
              <a:srgbClr val="0E8A78"/>
            </a:solidFill>
            <a:prstDash val="solid"/>
          </a:ln>
        </p:spPr>
      </p:sp>
      <p:sp>
        <p:nvSpPr>
          <p:cNvPr id="14" name="s3-traceable-text">
            <a:extLst xmlns:a="http://schemas.openxmlformats.org/drawingml/2006/main">
              <a:ext uri="{FF2B5EF4-FFF2-40B4-BE49-F238E27FC236}">
                <a16:creationId xmlns:a16="http://schemas.microsoft.com/office/drawing/2014/main" id="{7F0017C9-48D1-4DE2-9B0F-65C44642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TRACEABLE</a:t>
            </a:r>
          </a:p>
        </p:txBody>
      </p:sp>
      <p:sp>
        <p:nvSpPr>
          <p:cNvPr id="15" name="s3-bottom-band">
            <a:extLst xmlns:a="http://schemas.openxmlformats.org/drawingml/2006/main">
              <a:ext uri="{FF2B5EF4-FFF2-40B4-BE49-F238E27FC236}">
                <a16:creationId xmlns:a16="http://schemas.microsoft.com/office/drawing/2014/main" id="{DF6A6C1A-4E39-4DC6-8D4A-7BCA42B3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960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16" name="s3-bottom-text">
            <a:extLst xmlns:a="http://schemas.openxmlformats.org/drawingml/2006/main">
              <a:ext uri="{FF2B5EF4-FFF2-40B4-BE49-F238E27FC236}">
                <a16:creationId xmlns:a16="http://schemas.microsoft.com/office/drawing/2014/main" id="{5366223F-65E7-468B-BBFE-1C033B4C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The system changes the question from “How long did we talk?” to “What valid information can we prove?”</a:t>
            </a:r>
          </a:p>
        </p:txBody>
      </p:sp>
      <p:sp>
        <p:nvSpPr>
          <p:cNvPr id="17" name="s3-note">
            <a:extLst xmlns:a="http://schemas.openxmlformats.org/drawingml/2006/main">
              <a:ext uri="{FF2B5EF4-FFF2-40B4-BE49-F238E27FC236}">
                <a16:creationId xmlns:a16="http://schemas.microsoft.com/office/drawing/2014/main" id="{A53AF0F6-22BC-4EC0-AD0A-8573EF7B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15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6B7C8F"/>
                </a:solidFill>
              </a:defRPr>
            </a:pPr>
            <a:r>
              <a:rPr sz="1125" b="0" i="1">
                <a:solidFill>
                  <a:srgbClr val="6B7C8F"/>
                </a:solidFill>
              </a:rPr>
              <a:t>This is a decision-support layer—not an automatic replacement for human review.</a:t>
            </a:r>
          </a:p>
        </p:txBody>
      </p:sp>
      <p:sp>
        <p:nvSpPr>
          <p:cNvPr id="18" name="footer-3-label">
            <a:extLst xmlns:a="http://schemas.openxmlformats.org/drawingml/2006/main">
              <a:ext uri="{FF2B5EF4-FFF2-40B4-BE49-F238E27FC236}">
                <a16:creationId xmlns:a16="http://schemas.microsoft.com/office/drawing/2014/main" id="{1B874915-78AB-4EAF-8D03-BB801534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B7C8F"/>
                </a:solidFill>
              </a:defRPr>
            </a:pPr>
            <a:r>
              <a:rPr sz="750" b="1" i="0">
                <a:solidFill>
                  <a:srgbClr val="6B7C8F"/>
                </a:solidFill>
              </a:rPr>
              <a:t>INSURANCE CALLING QA SYSTEM</a:t>
            </a:r>
          </a:p>
        </p:txBody>
      </p:sp>
      <p:sp>
        <p:nvSpPr>
          <p:cNvPr id="19" name="footer-3-number">
            <a:extLst xmlns:a="http://schemas.openxmlformats.org/drawingml/2006/main">
              <a:ext uri="{FF2B5EF4-FFF2-40B4-BE49-F238E27FC236}">
                <a16:creationId xmlns:a16="http://schemas.microsoft.com/office/drawing/2014/main" id="{E57E2D2B-3954-46D5-8A26-C9BEEAE1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C8F"/>
                </a:solidFill>
              </a:defRPr>
            </a:pPr>
            <a:r>
              <a:rPr sz="825" b="1" i="0">
                <a:solidFill>
                  <a:srgbClr val="6B7C8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99221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03 | The architecture-eyebrow">
            <a:extLst xmlns:a="http://schemas.openxmlformats.org/drawingml/2006/main">
              <a:ext uri="{FF2B5EF4-FFF2-40B4-BE49-F238E27FC236}">
                <a16:creationId xmlns:a16="http://schemas.microsoft.com/office/drawing/2014/main" id="{7BD65309-6FB3-405A-B9BA-4C31F4F6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E8A78"/>
                </a:solidFill>
              </a:defRPr>
            </a:pPr>
            <a:r>
              <a:rPr sz="900" b="1" i="0">
                <a:solidFill>
                  <a:srgbClr val="0E8A78"/>
                </a:solidFill>
              </a:rPr>
              <a:t>03 | THE ARCHITECTURE</a:t>
            </a:r>
          </a:p>
        </p:txBody>
      </p:sp>
      <p:sp>
        <p:nvSpPr>
          <p:cNvPr id="2" name="03 | The architecture-title">
            <a:extLst xmlns:a="http://schemas.openxmlformats.org/drawingml/2006/main">
              <a:ext uri="{FF2B5EF4-FFF2-40B4-BE49-F238E27FC236}">
                <a16:creationId xmlns:a16="http://schemas.microsoft.com/office/drawing/2014/main" id="{DA640B72-2A78-49AD-9B9D-5C079749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</a:defRPr>
            </a:pPr>
            <a:r>
              <a:rPr sz="2850" b="1" i="0">
                <a:solidFill>
                  <a:srgbClr val="0B1F33"/>
                </a:solidFill>
              </a:rPr>
              <a:t>One controlled path from recording to reviewable report</a:t>
            </a:r>
          </a:p>
        </p:txBody>
      </p:sp>
      <p:sp>
        <p:nvSpPr>
          <p:cNvPr id="3" name="03 | The 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FEFD2B39-C3AB-45C2-8953-25465BE2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Two ingestion routes converge into one asynchronous AI pipeline.</a:t>
            </a:r>
          </a:p>
        </p:txBody>
      </p:sp>
      <p:sp>
        <p:nvSpPr>
          <p:cNvPr id="4" name="s4-a1">
            <a:extLst xmlns:a="http://schemas.openxmlformats.org/drawingml/2006/main">
              <a:ext uri="{FF2B5EF4-FFF2-40B4-BE49-F238E27FC236}">
                <a16:creationId xmlns:a16="http://schemas.microsoft.com/office/drawing/2014/main" id="{68D771BB-93A5-4683-9B0B-0C409681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71750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5" name="s4-a2">
            <a:extLst xmlns:a="http://schemas.openxmlformats.org/drawingml/2006/main">
              <a:ext uri="{FF2B5EF4-FFF2-40B4-BE49-F238E27FC236}">
                <a16:creationId xmlns:a16="http://schemas.microsoft.com/office/drawing/2014/main" id="{778A569D-9A4D-4AE6-A59A-AFF9710D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67100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6" name="s4-a3">
            <a:extLst xmlns:a="http://schemas.openxmlformats.org/drawingml/2006/main">
              <a:ext uri="{FF2B5EF4-FFF2-40B4-BE49-F238E27FC236}">
                <a16:creationId xmlns:a16="http://schemas.microsoft.com/office/drawing/2014/main" id="{E8033F91-EBED-42EB-BF54-627EE24D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0375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7" name="s4-a4">
            <a:extLst xmlns:a="http://schemas.openxmlformats.org/drawingml/2006/main">
              <a:ext uri="{FF2B5EF4-FFF2-40B4-BE49-F238E27FC236}">
                <a16:creationId xmlns:a16="http://schemas.microsoft.com/office/drawing/2014/main" id="{08D036C4-22D4-4122-9D7F-D1B13B9F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0375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8" name="s4-a5">
            <a:extLst xmlns:a="http://schemas.openxmlformats.org/drawingml/2006/main">
              <a:ext uri="{FF2B5EF4-FFF2-40B4-BE49-F238E27FC236}">
                <a16:creationId xmlns:a16="http://schemas.microsoft.com/office/drawing/2014/main" id="{1B652712-19CD-491F-AC67-3175DBBC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0375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9" name="s4-a6">
            <a:extLst xmlns:a="http://schemas.openxmlformats.org/drawingml/2006/main">
              <a:ext uri="{FF2B5EF4-FFF2-40B4-BE49-F238E27FC236}">
                <a16:creationId xmlns:a16="http://schemas.microsoft.com/office/drawing/2014/main" id="{0CBCBC46-D16D-4422-9ECF-C1C6BDA1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343400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36A8"/>
          </a:solidFill>
          <a:ln xmlns:a="http://schemas.openxmlformats.org/drawingml/2006/main" w="9525">
            <a:solidFill>
              <a:srgbClr val="7136A8"/>
            </a:solidFill>
            <a:prstDash val="solid"/>
          </a:ln>
        </p:spPr>
      </p:sp>
      <p:sp>
        <p:nvSpPr>
          <p:cNvPr id="10" name="s4-a7">
            <a:extLst xmlns:a="http://schemas.openxmlformats.org/drawingml/2006/main">
              <a:ext uri="{FF2B5EF4-FFF2-40B4-BE49-F238E27FC236}">
                <a16:creationId xmlns:a16="http://schemas.microsoft.com/office/drawing/2014/main" id="{1CF1E8E3-1CBD-41E6-AF59-E38F0730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00650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36A8"/>
          </a:solidFill>
          <a:ln xmlns:a="http://schemas.openxmlformats.org/drawingml/2006/main" w="9525">
            <a:solidFill>
              <a:srgbClr val="7136A8"/>
            </a:solidFill>
            <a:prstDash val="solid"/>
          </a:ln>
        </p:spPr>
      </p:sp>
      <p:sp>
        <p:nvSpPr>
          <p:cNvPr id="11" name="s4-a8">
            <a:extLst xmlns:a="http://schemas.openxmlformats.org/drawingml/2006/main">
              <a:ext uri="{FF2B5EF4-FFF2-40B4-BE49-F238E27FC236}">
                <a16:creationId xmlns:a16="http://schemas.microsoft.com/office/drawing/2014/main" id="{8EFBD206-BD6F-4525-83C4-AFB8C908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36A8"/>
          </a:solidFill>
          <a:ln xmlns:a="http://schemas.openxmlformats.org/drawingml/2006/main" w="9525">
            <a:solidFill>
              <a:srgbClr val="7136A8"/>
            </a:solidFill>
            <a:prstDash val="solid"/>
          </a:ln>
        </p:spPr>
      </p:sp>
      <p:sp>
        <p:nvSpPr>
          <p:cNvPr id="12" name="s4-a9">
            <a:extLst xmlns:a="http://schemas.openxmlformats.org/drawingml/2006/main">
              <a:ext uri="{FF2B5EF4-FFF2-40B4-BE49-F238E27FC236}">
                <a16:creationId xmlns:a16="http://schemas.microsoft.com/office/drawing/2014/main" id="{C2CFFC86-7607-43E3-ABE2-DEB2E59A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38850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A78"/>
          </a:solidFill>
          <a:ln xmlns:a="http://schemas.openxmlformats.org/drawingml/2006/main" w="9525">
            <a:solidFill>
              <a:srgbClr val="0E8A78"/>
            </a:solidFill>
            <a:prstDash val="solid"/>
          </a:ln>
        </p:spPr>
      </p:sp>
      <p:sp>
        <p:nvSpPr>
          <p:cNvPr id="13" name="s4-a10">
            <a:extLst xmlns:a="http://schemas.openxmlformats.org/drawingml/2006/main">
              <a:ext uri="{FF2B5EF4-FFF2-40B4-BE49-F238E27FC236}">
                <a16:creationId xmlns:a16="http://schemas.microsoft.com/office/drawing/2014/main" id="{C5CC544D-FDEB-4693-BA38-093DFC8B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038850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A78"/>
          </a:solidFill>
          <a:ln xmlns:a="http://schemas.openxmlformats.org/drawingml/2006/main" w="9525">
            <a:solidFill>
              <a:srgbClr val="0E8A78"/>
            </a:solidFill>
            <a:prstDash val="solid"/>
          </a:ln>
        </p:spPr>
      </p:sp>
      <p:sp>
        <p:nvSpPr>
          <p:cNvPr id="14" name="s4-web">
            <a:extLst xmlns:a="http://schemas.openxmlformats.org/drawingml/2006/main">
              <a:ext uri="{FF2B5EF4-FFF2-40B4-BE49-F238E27FC236}">
                <a16:creationId xmlns:a16="http://schemas.microsoft.com/office/drawing/2014/main" id="{445BBC93-7F09-492D-8207-0BC2D945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5DA0"/>
            </a:solidFill>
            <a:prstDash val="solid"/>
          </a:ln>
        </p:spPr>
      </p:sp>
      <p:sp>
        <p:nvSpPr>
          <p:cNvPr id="15" name="s4-web-title">
            <a:extLst xmlns:a="http://schemas.openxmlformats.org/drawingml/2006/main">
              <a:ext uri="{FF2B5EF4-FFF2-40B4-BE49-F238E27FC236}">
                <a16:creationId xmlns:a16="http://schemas.microsoft.com/office/drawing/2014/main" id="{27B89B31-5617-4B3E-B266-A811BF86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WEB UI</a:t>
            </a:r>
          </a:p>
        </p:txBody>
      </p:sp>
      <p:sp>
        <p:nvSpPr>
          <p:cNvPr id="16" name="s4-web-detail">
            <a:extLst xmlns:a="http://schemas.openxmlformats.org/drawingml/2006/main">
              <a:ext uri="{FF2B5EF4-FFF2-40B4-BE49-F238E27FC236}">
                <a16:creationId xmlns:a16="http://schemas.microsoft.com/office/drawing/2014/main" id="{84A24A4D-3BB6-471A-A8CD-B179B1BB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314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25466"/>
                </a:solidFill>
              </a:defRPr>
            </a:pPr>
            <a:r>
              <a:rPr sz="975" b="0" i="0">
                <a:solidFill>
                  <a:srgbClr val="425466"/>
                </a:solidFill>
              </a:rPr>
              <a:t>Upload | queue | review</a:t>
            </a:r>
          </a:p>
        </p:txBody>
      </p:sp>
      <p:sp>
        <p:nvSpPr>
          <p:cNvPr id="17" name="s4-api-in">
            <a:extLst xmlns:a="http://schemas.openxmlformats.org/drawingml/2006/main">
              <a:ext uri="{FF2B5EF4-FFF2-40B4-BE49-F238E27FC236}">
                <a16:creationId xmlns:a16="http://schemas.microsoft.com/office/drawing/2014/main" id="{7BA0488B-37EA-4514-BFDD-3CAAF1FD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5DA0"/>
            </a:solidFill>
            <a:prstDash val="solid"/>
          </a:ln>
        </p:spPr>
      </p:sp>
      <p:sp>
        <p:nvSpPr>
          <p:cNvPr id="18" name="s4-api-in-title">
            <a:extLst xmlns:a="http://schemas.openxmlformats.org/drawingml/2006/main">
              <a:ext uri="{FF2B5EF4-FFF2-40B4-BE49-F238E27FC236}">
                <a16:creationId xmlns:a16="http://schemas.microsoft.com/office/drawing/2014/main" id="{3FC822DD-8590-4951-9312-E15CDEB8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CALL CENTER API</a:t>
            </a:r>
          </a:p>
        </p:txBody>
      </p:sp>
      <p:sp>
        <p:nvSpPr>
          <p:cNvPr id="19" name="s4-api-in-detail">
            <a:extLst xmlns:a="http://schemas.openxmlformats.org/drawingml/2006/main">
              <a:ext uri="{FF2B5EF4-FFF2-40B4-BE49-F238E27FC236}">
                <a16:creationId xmlns:a16="http://schemas.microsoft.com/office/drawing/2014/main" id="{DEAC2D5A-D334-42A4-B287-55E40F14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314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25466"/>
                </a:solidFill>
              </a:defRPr>
            </a:pPr>
            <a:r>
              <a:rPr sz="975" b="0" i="0">
                <a:solidFill>
                  <a:srgbClr val="425466"/>
                </a:solidFill>
              </a:rPr>
              <a:t>Service auth | idempotency</a:t>
            </a:r>
          </a:p>
        </p:txBody>
      </p:sp>
      <p:sp>
        <p:nvSpPr>
          <p:cNvPr id="20" name="s4-secure">
            <a:extLst xmlns:a="http://schemas.openxmlformats.org/drawingml/2006/main">
              <a:ext uri="{FF2B5EF4-FFF2-40B4-BE49-F238E27FC236}">
                <a16:creationId xmlns:a16="http://schemas.microsoft.com/office/drawing/2014/main" id="{16622A38-4E99-4E0A-B5CF-D00EC856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145DA0"/>
            </a:solidFill>
            <a:prstDash val="solid"/>
          </a:ln>
        </p:spPr>
      </p:sp>
      <p:sp>
        <p:nvSpPr>
          <p:cNvPr id="21" name="s4-secure-title">
            <a:extLst xmlns:a="http://schemas.openxmlformats.org/drawingml/2006/main">
              <a:ext uri="{FF2B5EF4-FFF2-40B4-BE49-F238E27FC236}">
                <a16:creationId xmlns:a16="http://schemas.microsoft.com/office/drawing/2014/main" id="{DE0B0883-9229-4C6E-BDBD-10AE80AA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SECURE API</a:t>
            </a:r>
          </a:p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&amp; INGESTION</a:t>
            </a:r>
          </a:p>
        </p:txBody>
      </p:sp>
      <p:sp>
        <p:nvSpPr>
          <p:cNvPr id="22" name="s4-secure-detail">
            <a:extLst xmlns:a="http://schemas.openxmlformats.org/drawingml/2006/main">
              <a:ext uri="{FF2B5EF4-FFF2-40B4-BE49-F238E27FC236}">
                <a16:creationId xmlns:a16="http://schemas.microsoft.com/office/drawing/2014/main" id="{35F46182-1B50-4189-8049-0B8AB821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25466"/>
                </a:solidFill>
              </a:defRPr>
            </a:pPr>
            <a:r>
              <a:rPr sz="975" b="0" i="0">
                <a:solidFill>
                  <a:srgbClr val="425466"/>
                </a:solidFill>
              </a:rPr>
              <a:t>Auth | validation | hashing</a:t>
            </a:r>
          </a:p>
        </p:txBody>
      </p:sp>
      <p:sp>
        <p:nvSpPr>
          <p:cNvPr id="23" name="s4-state">
            <a:extLst xmlns:a="http://schemas.openxmlformats.org/drawingml/2006/main">
              <a:ext uri="{FF2B5EF4-FFF2-40B4-BE49-F238E27FC236}">
                <a16:creationId xmlns:a16="http://schemas.microsoft.com/office/drawing/2014/main" id="{9568734D-73C8-47C5-A1E1-39F16C6B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145DA0"/>
            </a:solidFill>
            <a:prstDash val="solid"/>
          </a:ln>
        </p:spPr>
      </p:sp>
      <p:sp>
        <p:nvSpPr>
          <p:cNvPr id="24" name="s4-state-title">
            <a:extLst xmlns:a="http://schemas.openxmlformats.org/drawingml/2006/main">
              <a:ext uri="{FF2B5EF4-FFF2-40B4-BE49-F238E27FC236}">
                <a16:creationId xmlns:a16="http://schemas.microsoft.com/office/drawing/2014/main" id="{757970A2-9523-45B9-B13A-F039076C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813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AUDIO STORE</a:t>
            </a:r>
          </a:p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+ SQLITE</a:t>
            </a:r>
          </a:p>
        </p:txBody>
      </p:sp>
      <p:sp>
        <p:nvSpPr>
          <p:cNvPr id="25" name="s4-state-detail">
            <a:extLst xmlns:a="http://schemas.openxmlformats.org/drawingml/2006/main">
              <a:ext uri="{FF2B5EF4-FFF2-40B4-BE49-F238E27FC236}">
                <a16:creationId xmlns:a16="http://schemas.microsoft.com/office/drawing/2014/main" id="{DC261AC3-A3C2-4AF5-BC85-1C0B4751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432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25466"/>
                </a:solidFill>
              </a:defRPr>
            </a:pPr>
            <a:r>
              <a:rPr sz="975" b="0" i="0">
                <a:solidFill>
                  <a:srgbClr val="425466"/>
                </a:solidFill>
              </a:rPr>
              <a:t>Calls | jobs | transcripts | reports</a:t>
            </a:r>
          </a:p>
        </p:txBody>
      </p:sp>
      <p:sp>
        <p:nvSpPr>
          <p:cNvPr id="26" name="s4-queue">
            <a:extLst xmlns:a="http://schemas.openxmlformats.org/drawingml/2006/main">
              <a:ext uri="{FF2B5EF4-FFF2-40B4-BE49-F238E27FC236}">
                <a16:creationId xmlns:a16="http://schemas.microsoft.com/office/drawing/2014/main" id="{CA5D1417-10B5-4B41-8F91-89B45E94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145DA0"/>
            </a:solidFill>
            <a:prstDash val="solid"/>
          </a:ln>
        </p:spPr>
      </p:sp>
      <p:sp>
        <p:nvSpPr>
          <p:cNvPr id="27" name="s4-queue-title">
            <a:extLst xmlns:a="http://schemas.openxmlformats.org/drawingml/2006/main">
              <a:ext uri="{FF2B5EF4-FFF2-40B4-BE49-F238E27FC236}">
                <a16:creationId xmlns:a16="http://schemas.microsoft.com/office/drawing/2014/main" id="{57B76AEA-B4BC-4F09-9333-39AD29A3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813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DB QUEUE</a:t>
            </a:r>
          </a:p>
        </p:txBody>
      </p:sp>
      <p:sp>
        <p:nvSpPr>
          <p:cNvPr id="28" name="s4-queue-detail">
            <a:extLst xmlns:a="http://schemas.openxmlformats.org/drawingml/2006/main">
              <a:ext uri="{FF2B5EF4-FFF2-40B4-BE49-F238E27FC236}">
                <a16:creationId xmlns:a16="http://schemas.microsoft.com/office/drawing/2014/main" id="{C3CB1026-8153-4441-A759-6587617B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25466"/>
                </a:solidFill>
              </a:defRPr>
            </a:pPr>
            <a:r>
              <a:rPr sz="975" b="0" i="0">
                <a:solidFill>
                  <a:srgbClr val="425466"/>
                </a:solidFill>
              </a:rPr>
              <a:t>Lease | retry | recovery</a:t>
            </a:r>
          </a:p>
        </p:txBody>
      </p:sp>
      <p:sp>
        <p:nvSpPr>
          <p:cNvPr id="29" name="s4-worker">
            <a:extLst xmlns:a="http://schemas.openxmlformats.org/drawingml/2006/main">
              <a:ext uri="{FF2B5EF4-FFF2-40B4-BE49-F238E27FC236}">
                <a16:creationId xmlns:a16="http://schemas.microsoft.com/office/drawing/2014/main" id="{7146AE7D-5C9D-4335-A3F3-35A6266B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148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FF"/>
          </a:solidFill>
          <a:ln xmlns:a="http://schemas.openxmlformats.org/drawingml/2006/main" w="19050">
            <a:solidFill>
              <a:srgbClr val="7136A8"/>
            </a:solidFill>
            <a:prstDash val="solid"/>
          </a:ln>
        </p:spPr>
      </p:sp>
      <p:sp>
        <p:nvSpPr>
          <p:cNvPr id="30" name="s4-worker-title">
            <a:extLst xmlns:a="http://schemas.openxmlformats.org/drawingml/2006/main">
              <a:ext uri="{FF2B5EF4-FFF2-40B4-BE49-F238E27FC236}">
                <a16:creationId xmlns:a16="http://schemas.microsoft.com/office/drawing/2014/main" id="{FEAE8C63-009E-4F17-9B87-AECA50EF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481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WORKER</a:t>
            </a:r>
          </a:p>
        </p:txBody>
      </p:sp>
      <p:sp>
        <p:nvSpPr>
          <p:cNvPr id="31" name="s4-worker-detail">
            <a:extLst xmlns:a="http://schemas.openxmlformats.org/drawingml/2006/main">
              <a:ext uri="{FF2B5EF4-FFF2-40B4-BE49-F238E27FC236}">
                <a16:creationId xmlns:a16="http://schemas.microsoft.com/office/drawing/2014/main" id="{7EF8B096-E49B-407F-841E-64801CE3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101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25466"/>
                </a:solidFill>
              </a:defRPr>
            </a:pPr>
            <a:r>
              <a:rPr sz="1050" b="0" i="0">
                <a:solidFill>
                  <a:srgbClr val="425466"/>
                </a:solidFill>
              </a:rPr>
              <a:t>Async orchestration</a:t>
            </a:r>
          </a:p>
        </p:txBody>
      </p:sp>
      <p:sp>
        <p:nvSpPr>
          <p:cNvPr id="32" name="s4-asr">
            <a:extLst xmlns:a="http://schemas.openxmlformats.org/drawingml/2006/main">
              <a:ext uri="{FF2B5EF4-FFF2-40B4-BE49-F238E27FC236}">
                <a16:creationId xmlns:a16="http://schemas.microsoft.com/office/drawing/2014/main" id="{36D90642-5EFC-4D2A-9BE8-0E884911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483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F"/>
          </a:solidFill>
          <a:ln xmlns:a="http://schemas.openxmlformats.org/drawingml/2006/main" w="19050">
            <a:solidFill>
              <a:srgbClr val="C88719"/>
            </a:solidFill>
            <a:prstDash val="solid"/>
          </a:ln>
        </p:spPr>
      </p:sp>
      <p:sp>
        <p:nvSpPr>
          <p:cNvPr id="33" name="s4-asr-title">
            <a:extLst xmlns:a="http://schemas.openxmlformats.org/drawingml/2006/main">
              <a:ext uri="{FF2B5EF4-FFF2-40B4-BE49-F238E27FC236}">
                <a16:creationId xmlns:a16="http://schemas.microsoft.com/office/drawing/2014/main" id="{79A84DC7-8178-47E2-A7C4-9DE8EC5E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5816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ASR</a:t>
            </a:r>
          </a:p>
        </p:txBody>
      </p:sp>
      <p:sp>
        <p:nvSpPr>
          <p:cNvPr id="34" name="s4-asr-detail">
            <a:extLst xmlns:a="http://schemas.openxmlformats.org/drawingml/2006/main">
              <a:ext uri="{FF2B5EF4-FFF2-40B4-BE49-F238E27FC236}">
                <a16:creationId xmlns:a16="http://schemas.microsoft.com/office/drawing/2014/main" id="{C2BE8ACA-3805-4FA8-8E66-32A9899A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436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25466"/>
                </a:solidFill>
              </a:defRPr>
            </a:pPr>
            <a:r>
              <a:rPr sz="1050" b="0" i="0">
                <a:solidFill>
                  <a:srgbClr val="425466"/>
                </a:solidFill>
              </a:rPr>
              <a:t>gpt-4o-transcribe</a:t>
            </a:r>
          </a:p>
        </p:txBody>
      </p:sp>
      <p:sp>
        <p:nvSpPr>
          <p:cNvPr id="35" name="s4-transcript">
            <a:extLst xmlns:a="http://schemas.openxmlformats.org/drawingml/2006/main">
              <a:ext uri="{FF2B5EF4-FFF2-40B4-BE49-F238E27FC236}">
                <a16:creationId xmlns:a16="http://schemas.microsoft.com/office/drawing/2014/main" id="{EC4CF9F9-381E-4BC9-94E6-F7DFDCA7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483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FF"/>
          </a:solidFill>
          <a:ln xmlns:a="http://schemas.openxmlformats.org/drawingml/2006/main" w="19050">
            <a:solidFill>
              <a:srgbClr val="7136A8"/>
            </a:solidFill>
            <a:prstDash val="solid"/>
          </a:ln>
        </p:spPr>
      </p:sp>
      <p:sp>
        <p:nvSpPr>
          <p:cNvPr id="36" name="s4-transcript-title">
            <a:extLst xmlns:a="http://schemas.openxmlformats.org/drawingml/2006/main">
              <a:ext uri="{FF2B5EF4-FFF2-40B4-BE49-F238E27FC236}">
                <a16:creationId xmlns:a16="http://schemas.microsoft.com/office/drawing/2014/main" id="{0C0202B3-0860-40A2-9329-883055DF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816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CANONICAL</a:t>
            </a:r>
          </a:p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TRANSCRIPT</a:t>
            </a:r>
          </a:p>
        </p:txBody>
      </p:sp>
      <p:sp>
        <p:nvSpPr>
          <p:cNvPr id="37" name="s4-transcript-detail">
            <a:extLst xmlns:a="http://schemas.openxmlformats.org/drawingml/2006/main">
              <a:ext uri="{FF2B5EF4-FFF2-40B4-BE49-F238E27FC236}">
                <a16:creationId xmlns:a16="http://schemas.microsoft.com/office/drawing/2014/main" id="{DC937279-D246-4719-A31A-E609B02A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9436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25466"/>
                </a:solidFill>
              </a:defRPr>
            </a:pPr>
            <a:r>
              <a:rPr sz="975" b="0" i="0">
                <a:solidFill>
                  <a:srgbClr val="425466"/>
                </a:solidFill>
              </a:rPr>
              <a:t>Text | segments | timestamps</a:t>
            </a:r>
          </a:p>
        </p:txBody>
      </p:sp>
      <p:sp>
        <p:nvSpPr>
          <p:cNvPr id="38" name="s4-llm">
            <a:extLst xmlns:a="http://schemas.openxmlformats.org/drawingml/2006/main">
              <a:ext uri="{FF2B5EF4-FFF2-40B4-BE49-F238E27FC236}">
                <a16:creationId xmlns:a16="http://schemas.microsoft.com/office/drawing/2014/main" id="{65176E7C-4F77-48CD-A10A-F441534E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483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F"/>
          </a:solidFill>
          <a:ln xmlns:a="http://schemas.openxmlformats.org/drawingml/2006/main" w="19050">
            <a:solidFill>
              <a:srgbClr val="C88719"/>
            </a:solidFill>
            <a:prstDash val="solid"/>
          </a:ln>
        </p:spPr>
      </p:sp>
      <p:sp>
        <p:nvSpPr>
          <p:cNvPr id="39" name="s4-llm-title">
            <a:extLst xmlns:a="http://schemas.openxmlformats.org/drawingml/2006/main">
              <a:ext uri="{FF2B5EF4-FFF2-40B4-BE49-F238E27FC236}">
                <a16:creationId xmlns:a16="http://schemas.microsoft.com/office/drawing/2014/main" id="{7715D155-DF0A-4AAD-9EE5-623D9F2E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816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LLM ANALYSIS</a:t>
            </a:r>
          </a:p>
        </p:txBody>
      </p:sp>
      <p:sp>
        <p:nvSpPr>
          <p:cNvPr id="40" name="s4-llm-detail">
            <a:extLst xmlns:a="http://schemas.openxmlformats.org/drawingml/2006/main">
              <a:ext uri="{FF2B5EF4-FFF2-40B4-BE49-F238E27FC236}">
                <a16:creationId xmlns:a16="http://schemas.microsoft.com/office/drawing/2014/main" id="{FF666C3F-03C5-4F3F-980F-E25B544D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9436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25466"/>
                </a:solidFill>
              </a:defRPr>
            </a:pPr>
            <a:r>
              <a:rPr sz="975" b="0" i="0">
                <a:solidFill>
                  <a:srgbClr val="425466"/>
                </a:solidFill>
              </a:rPr>
              <a:t>Prompt | ruleset | JSON schema</a:t>
            </a:r>
          </a:p>
        </p:txBody>
      </p:sp>
      <p:sp>
        <p:nvSpPr>
          <p:cNvPr id="41" name="s4-evidence">
            <a:extLst xmlns:a="http://schemas.openxmlformats.org/drawingml/2006/main">
              <a:ext uri="{FF2B5EF4-FFF2-40B4-BE49-F238E27FC236}">
                <a16:creationId xmlns:a16="http://schemas.microsoft.com/office/drawing/2014/main" id="{7251E447-65EA-4991-A6F4-B47B0190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148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4EA"/>
          </a:solidFill>
          <a:ln xmlns:a="http://schemas.openxmlformats.org/drawingml/2006/main" w="19050">
            <a:solidFill>
              <a:srgbClr val="0E8A78"/>
            </a:solidFill>
            <a:prstDash val="solid"/>
          </a:ln>
        </p:spPr>
      </p:sp>
      <p:sp>
        <p:nvSpPr>
          <p:cNvPr id="42" name="s4-evidence-title">
            <a:extLst xmlns:a="http://schemas.openxmlformats.org/drawingml/2006/main">
              <a:ext uri="{FF2B5EF4-FFF2-40B4-BE49-F238E27FC236}">
                <a16:creationId xmlns:a16="http://schemas.microsoft.com/office/drawing/2014/main" id="{375196D1-B783-42F6-9915-B7E087AC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481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EVIDENCE</a:t>
            </a:r>
          </a:p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VALIDATION</a:t>
            </a:r>
          </a:p>
        </p:txBody>
      </p:sp>
      <p:sp>
        <p:nvSpPr>
          <p:cNvPr id="43" name="s4-evidence-detail">
            <a:extLst xmlns:a="http://schemas.openxmlformats.org/drawingml/2006/main">
              <a:ext uri="{FF2B5EF4-FFF2-40B4-BE49-F238E27FC236}">
                <a16:creationId xmlns:a16="http://schemas.microsoft.com/office/drawing/2014/main" id="{3C3EE013-750D-4953-AB0F-2CDE40D9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101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25466"/>
                </a:solidFill>
              </a:defRPr>
            </a:pPr>
            <a:r>
              <a:rPr sz="975" b="0" i="0">
                <a:solidFill>
                  <a:srgbClr val="425466"/>
                </a:solidFill>
              </a:rPr>
              <a:t>Exact quote | segment match</a:t>
            </a:r>
          </a:p>
        </p:txBody>
      </p:sp>
      <p:sp>
        <p:nvSpPr>
          <p:cNvPr id="44" name="s4-report">
            <a:extLst xmlns:a="http://schemas.openxmlformats.org/drawingml/2006/main">
              <a:ext uri="{FF2B5EF4-FFF2-40B4-BE49-F238E27FC236}">
                <a16:creationId xmlns:a16="http://schemas.microsoft.com/office/drawing/2014/main" id="{AD4838CD-BCA3-4565-AB23-D941D44C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479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4EA"/>
          </a:solidFill>
          <a:ln xmlns:a="http://schemas.openxmlformats.org/drawingml/2006/main" w="19050">
            <a:solidFill>
              <a:srgbClr val="0E8A78"/>
            </a:solidFill>
            <a:prstDash val="solid"/>
          </a:ln>
        </p:spPr>
      </p:sp>
      <p:sp>
        <p:nvSpPr>
          <p:cNvPr id="45" name="s4-report-title">
            <a:extLst xmlns:a="http://schemas.openxmlformats.org/drawingml/2006/main">
              <a:ext uri="{FF2B5EF4-FFF2-40B4-BE49-F238E27FC236}">
                <a16:creationId xmlns:a16="http://schemas.microsoft.com/office/drawing/2014/main" id="{E64AA3C5-693B-4C16-9D2D-62CC81C7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REPORT +</a:t>
            </a:r>
          </a:p>
          <a:p xmlns:a="http://schemas.openxmlformats.org/drawingml/2006/main">
            <a:pPr algn="l">
              <a:defRPr sz="1350" b="1" i="0">
                <a:solidFill>
                  <a:srgbClr val="0B1F33"/>
                </a:solidFill>
              </a:defRPr>
            </a:pPr>
            <a:r>
              <a:rPr sz="1350" b="1" i="0">
                <a:solidFill>
                  <a:srgbClr val="0B1F33"/>
                </a:solidFill>
              </a:rPr>
              <a:t>HUMAN REVIEW</a:t>
            </a:r>
          </a:p>
        </p:txBody>
      </p:sp>
      <p:sp>
        <p:nvSpPr>
          <p:cNvPr id="46" name="s4-report-detail">
            <a:extLst xmlns:a="http://schemas.openxmlformats.org/drawingml/2006/main">
              <a:ext uri="{FF2B5EF4-FFF2-40B4-BE49-F238E27FC236}">
                <a16:creationId xmlns:a16="http://schemas.microsoft.com/office/drawing/2014/main" id="{DACB65F9-B14A-4619-ABA2-B5A1F9D7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4325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25466"/>
                </a:solidFill>
              </a:defRPr>
            </a:pPr>
            <a:r>
              <a:rPr sz="975" b="0" i="0">
                <a:solidFill>
                  <a:srgbClr val="425466"/>
                </a:solidFill>
              </a:rPr>
              <a:t>JSON | HTML | CSV</a:t>
            </a:r>
          </a:p>
        </p:txBody>
      </p:sp>
      <p:sp>
        <p:nvSpPr>
          <p:cNvPr id="47" name="s4-ext-label">
            <a:extLst xmlns:a="http://schemas.openxmlformats.org/drawingml/2006/main">
              <a:ext uri="{FF2B5EF4-FFF2-40B4-BE49-F238E27FC236}">
                <a16:creationId xmlns:a16="http://schemas.microsoft.com/office/drawing/2014/main" id="{9C20EDD4-3D5C-4489-9BB6-23F6BC0B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400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88719"/>
                </a:solidFill>
              </a:defRPr>
            </a:pPr>
            <a:r>
              <a:rPr sz="825" b="1" i="0">
                <a:solidFill>
                  <a:srgbClr val="C88719"/>
                </a:solidFill>
              </a:rPr>
              <a:t>External providers</a:t>
            </a:r>
          </a:p>
        </p:txBody>
      </p:sp>
      <p:sp>
        <p:nvSpPr>
          <p:cNvPr id="48" name="s4-ai-label">
            <a:extLst xmlns:a="http://schemas.openxmlformats.org/drawingml/2006/main">
              <a:ext uri="{FF2B5EF4-FFF2-40B4-BE49-F238E27FC236}">
                <a16:creationId xmlns:a16="http://schemas.microsoft.com/office/drawing/2014/main" id="{448A91AE-537A-4F30-A985-E059B0E0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400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7136A8"/>
                </a:solidFill>
              </a:defRPr>
            </a:pPr>
            <a:r>
              <a:rPr sz="825" b="1" i="0">
                <a:solidFill>
                  <a:srgbClr val="7136A8"/>
                </a:solidFill>
              </a:rPr>
              <a:t>AI pipeline</a:t>
            </a:r>
          </a:p>
        </p:txBody>
      </p:sp>
      <p:sp>
        <p:nvSpPr>
          <p:cNvPr id="49" name="s4-evidence-label">
            <a:extLst xmlns:a="http://schemas.openxmlformats.org/drawingml/2006/main">
              <a:ext uri="{FF2B5EF4-FFF2-40B4-BE49-F238E27FC236}">
                <a16:creationId xmlns:a16="http://schemas.microsoft.com/office/drawing/2014/main" id="{41713768-C1A0-497C-B02C-2300C46A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400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E8A78"/>
                </a:solidFill>
              </a:defRPr>
            </a:pPr>
            <a:r>
              <a:rPr sz="825" b="1" i="0">
                <a:solidFill>
                  <a:srgbClr val="0E8A78"/>
                </a:solidFill>
              </a:rPr>
              <a:t>Evidence &amp; delivery</a:t>
            </a:r>
          </a:p>
        </p:txBody>
      </p:sp>
      <p:sp>
        <p:nvSpPr>
          <p:cNvPr id="50" name="footer-4-label">
            <a:extLst xmlns:a="http://schemas.openxmlformats.org/drawingml/2006/main">
              <a:ext uri="{FF2B5EF4-FFF2-40B4-BE49-F238E27FC236}">
                <a16:creationId xmlns:a16="http://schemas.microsoft.com/office/drawing/2014/main" id="{941D55D2-8C21-48F8-B731-51C5B1B5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B7C8F"/>
                </a:solidFill>
              </a:defRPr>
            </a:pPr>
            <a:r>
              <a:rPr sz="750" b="1" i="0">
                <a:solidFill>
                  <a:srgbClr val="6B7C8F"/>
                </a:solidFill>
              </a:rPr>
              <a:t>INSURANCE CALLING QA SYSTEM</a:t>
            </a:r>
          </a:p>
        </p:txBody>
      </p:sp>
      <p:sp>
        <p:nvSpPr>
          <p:cNvPr id="51" name="footer-4-number">
            <a:extLst xmlns:a="http://schemas.openxmlformats.org/drawingml/2006/main">
              <a:ext uri="{FF2B5EF4-FFF2-40B4-BE49-F238E27FC236}">
                <a16:creationId xmlns:a16="http://schemas.microsoft.com/office/drawing/2014/main" id="{C580FD07-7806-43AC-A3BD-F98F1FD1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C8F"/>
                </a:solidFill>
              </a:defRPr>
            </a:pPr>
            <a:r>
              <a:rPr sz="825" b="1" i="0">
                <a:solidFill>
                  <a:srgbClr val="6B7C8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6574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04 | The AI trust model-eyebrow">
            <a:extLst xmlns:a="http://schemas.openxmlformats.org/drawingml/2006/main">
              <a:ext uri="{FF2B5EF4-FFF2-40B4-BE49-F238E27FC236}">
                <a16:creationId xmlns:a16="http://schemas.microsoft.com/office/drawing/2014/main" id="{2ADAFC4B-3D56-4A84-A68E-399D765E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E8A78"/>
                </a:solidFill>
              </a:defRPr>
            </a:pPr>
            <a:r>
              <a:rPr sz="900" b="1" i="0">
                <a:solidFill>
                  <a:srgbClr val="0E8A78"/>
                </a:solidFill>
              </a:rPr>
              <a:t>04 | THE AI TRUST MODEL</a:t>
            </a:r>
          </a:p>
        </p:txBody>
      </p:sp>
      <p:sp>
        <p:nvSpPr>
          <p:cNvPr id="2" name="04 | The AI trust model-title">
            <a:extLst xmlns:a="http://schemas.openxmlformats.org/drawingml/2006/main">
              <a:ext uri="{FF2B5EF4-FFF2-40B4-BE49-F238E27FC236}">
                <a16:creationId xmlns:a16="http://schemas.microsoft.com/office/drawing/2014/main" id="{E82FFCA3-BDAE-4469-A04A-5F227458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</a:defRPr>
            </a:pPr>
            <a:r>
              <a:rPr sz="2850" b="1" i="0">
                <a:solidFill>
                  <a:srgbClr val="0B1F33"/>
                </a:solidFill>
              </a:rPr>
              <a:t>The model is constrained by traceable inputs and verifiable outputs</a:t>
            </a:r>
          </a:p>
        </p:txBody>
      </p:sp>
      <p:sp>
        <p:nvSpPr>
          <p:cNvPr id="3" name="04 | The AI trust model-subtitle">
            <a:extLst xmlns:a="http://schemas.openxmlformats.org/drawingml/2006/main">
              <a:ext uri="{FF2B5EF4-FFF2-40B4-BE49-F238E27FC236}">
                <a16:creationId xmlns:a16="http://schemas.microsoft.com/office/drawing/2014/main" id="{2DD1E95D-DC87-4A5E-9A9D-6483F59F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LLM reasoning is useful only when the result can be anchored back to the conversation.</a:t>
            </a:r>
          </a:p>
        </p:txBody>
      </p:sp>
      <p:sp>
        <p:nvSpPr>
          <p:cNvPr id="4" name="s5-arrow-0">
            <a:extLst xmlns:a="http://schemas.openxmlformats.org/drawingml/2006/main">
              <a:ext uri="{FF2B5EF4-FFF2-40B4-BE49-F238E27FC236}">
                <a16:creationId xmlns:a16="http://schemas.microsoft.com/office/drawing/2014/main" id="{6FDC723C-EA71-4641-9AE8-58C7079E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4325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8719"/>
          </a:solidFill>
          <a:ln xmlns:a="http://schemas.openxmlformats.org/drawingml/2006/main" w="9525">
            <a:solidFill>
              <a:srgbClr val="C88719"/>
            </a:solidFill>
            <a:prstDash val="solid"/>
          </a:ln>
        </p:spPr>
      </p:sp>
      <p:sp>
        <p:nvSpPr>
          <p:cNvPr id="5" name="s5-node-0">
            <a:extLst xmlns:a="http://schemas.openxmlformats.org/drawingml/2006/main">
              <a:ext uri="{FF2B5EF4-FFF2-40B4-BE49-F238E27FC236}">
                <a16:creationId xmlns:a16="http://schemas.microsoft.com/office/drawing/2014/main" id="{F4CF87CF-57AA-42D0-A96B-07D39E08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CF"/>
          </a:solidFill>
          <a:ln xmlns:a="http://schemas.openxmlformats.org/drawingml/2006/main" w="19050">
            <a:solidFill>
              <a:srgbClr val="C88719"/>
            </a:solidFill>
            <a:prstDash val="solid"/>
          </a:ln>
        </p:spPr>
      </p:sp>
      <p:sp>
        <p:nvSpPr>
          <p:cNvPr id="6" name="s5-num-0">
            <a:extLst xmlns:a="http://schemas.openxmlformats.org/drawingml/2006/main">
              <a:ext uri="{FF2B5EF4-FFF2-40B4-BE49-F238E27FC236}">
                <a16:creationId xmlns:a16="http://schemas.microsoft.com/office/drawing/2014/main" id="{C240A07D-51E8-4806-AB3A-05B1F1A0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88719"/>
                </a:solidFill>
              </a:defRPr>
            </a:pPr>
            <a:r>
              <a:rPr sz="1200" b="1" i="0">
                <a:solidFill>
                  <a:srgbClr val="C88719"/>
                </a:solidFill>
              </a:rPr>
              <a:t>1</a:t>
            </a:r>
          </a:p>
        </p:txBody>
      </p:sp>
      <p:sp>
        <p:nvSpPr>
          <p:cNvPr id="7" name="s5-head-0">
            <a:extLst xmlns:a="http://schemas.openxmlformats.org/drawingml/2006/main">
              <a:ext uri="{FF2B5EF4-FFF2-40B4-BE49-F238E27FC236}">
                <a16:creationId xmlns:a16="http://schemas.microsoft.com/office/drawing/2014/main" id="{929AEFFB-B89A-4DB7-B14D-26AF5BF4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09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</a:defRPr>
            </a:pPr>
            <a:r>
              <a:rPr sz="1575" b="1" i="0">
                <a:solidFill>
                  <a:srgbClr val="0B1F33"/>
                </a:solidFill>
              </a:rPr>
              <a:t>ASR</a:t>
            </a:r>
          </a:p>
        </p:txBody>
      </p:sp>
      <p:sp>
        <p:nvSpPr>
          <p:cNvPr id="8" name="s5-detail-0">
            <a:extLst xmlns:a="http://schemas.openxmlformats.org/drawingml/2006/main">
              <a:ext uri="{FF2B5EF4-FFF2-40B4-BE49-F238E27FC236}">
                <a16:creationId xmlns:a16="http://schemas.microsoft.com/office/drawing/2014/main" id="{CD0711C9-DA6F-448E-815B-0EFDD534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Audio</a:t>
            </a:r>
          </a:p>
          <a:p xmlns:a="http://schemas.openxmlformats.org/drawingml/2006/main">
            <a:pPr algn="ctr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→ text</a:t>
            </a:r>
          </a:p>
        </p:txBody>
      </p:sp>
      <p:sp>
        <p:nvSpPr>
          <p:cNvPr id="9" name="s5-arrow-1">
            <a:extLst xmlns:a="http://schemas.openxmlformats.org/drawingml/2006/main">
              <a:ext uri="{FF2B5EF4-FFF2-40B4-BE49-F238E27FC236}">
                <a16:creationId xmlns:a16="http://schemas.microsoft.com/office/drawing/2014/main" id="{4D1F2895-9B7C-453A-9AC9-E0E06D9D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36A8"/>
          </a:solidFill>
          <a:ln xmlns:a="http://schemas.openxmlformats.org/drawingml/2006/main" w="9525">
            <a:solidFill>
              <a:srgbClr val="7136A8"/>
            </a:solidFill>
            <a:prstDash val="solid"/>
          </a:ln>
        </p:spPr>
      </p:sp>
      <p:sp>
        <p:nvSpPr>
          <p:cNvPr id="10" name="s5-node-1">
            <a:extLst xmlns:a="http://schemas.openxmlformats.org/drawingml/2006/main">
              <a:ext uri="{FF2B5EF4-FFF2-40B4-BE49-F238E27FC236}">
                <a16:creationId xmlns:a16="http://schemas.microsoft.com/office/drawing/2014/main" id="{E767F962-29BE-4D3E-A3B2-8234B330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384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D9FF"/>
          </a:solidFill>
          <a:ln xmlns:a="http://schemas.openxmlformats.org/drawingml/2006/main" w="19050">
            <a:solidFill>
              <a:srgbClr val="7136A8"/>
            </a:solidFill>
            <a:prstDash val="solid"/>
          </a:ln>
        </p:spPr>
      </p:sp>
      <p:sp>
        <p:nvSpPr>
          <p:cNvPr id="11" name="s5-num-1">
            <a:extLst xmlns:a="http://schemas.openxmlformats.org/drawingml/2006/main">
              <a:ext uri="{FF2B5EF4-FFF2-40B4-BE49-F238E27FC236}">
                <a16:creationId xmlns:a16="http://schemas.microsoft.com/office/drawing/2014/main" id="{319081B1-ACCE-4A60-B9EF-3547EBC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098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7136A8"/>
                </a:solidFill>
              </a:defRPr>
            </a:pPr>
            <a:r>
              <a:rPr sz="1200" b="1" i="0">
                <a:solidFill>
                  <a:srgbClr val="7136A8"/>
                </a:solidFill>
              </a:rPr>
              <a:t>2</a:t>
            </a:r>
          </a:p>
        </p:txBody>
      </p:sp>
      <p:sp>
        <p:nvSpPr>
          <p:cNvPr id="12" name="s5-head-1">
            <a:extLst xmlns:a="http://schemas.openxmlformats.org/drawingml/2006/main">
              <a:ext uri="{FF2B5EF4-FFF2-40B4-BE49-F238E27FC236}">
                <a16:creationId xmlns:a16="http://schemas.microsoft.com/office/drawing/2014/main" id="{B65EEE73-AD37-4E8D-9D87-6447F1A6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09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</a:defRPr>
            </a:pPr>
            <a:r>
              <a:rPr sz="1575" b="1" i="0">
                <a:solidFill>
                  <a:srgbClr val="0B1F33"/>
                </a:solidFill>
              </a:rPr>
              <a:t>NORMALIZE</a:t>
            </a:r>
          </a:p>
        </p:txBody>
      </p:sp>
      <p:sp>
        <p:nvSpPr>
          <p:cNvPr id="13" name="s5-detail-1">
            <a:extLst xmlns:a="http://schemas.openxmlformats.org/drawingml/2006/main">
              <a:ext uri="{FF2B5EF4-FFF2-40B4-BE49-F238E27FC236}">
                <a16:creationId xmlns:a16="http://schemas.microsoft.com/office/drawing/2014/main" id="{F9192700-9864-4BF4-93D3-6EC15B99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051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Stable transcript</a:t>
            </a:r>
          </a:p>
          <a:p xmlns:a="http://schemas.openxmlformats.org/drawingml/2006/main">
            <a:pPr algn="ctr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→ model input</a:t>
            </a:r>
          </a:p>
        </p:txBody>
      </p:sp>
      <p:sp>
        <p:nvSpPr>
          <p:cNvPr id="14" name="s5-arrow-2">
            <a:extLst xmlns:a="http://schemas.openxmlformats.org/drawingml/2006/main">
              <a:ext uri="{FF2B5EF4-FFF2-40B4-BE49-F238E27FC236}">
                <a16:creationId xmlns:a16="http://schemas.microsoft.com/office/drawing/2014/main" id="{CD8DBB01-0D32-4284-A167-D83437AE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4325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8719"/>
          </a:solidFill>
          <a:ln xmlns:a="http://schemas.openxmlformats.org/drawingml/2006/main" w="9525">
            <a:solidFill>
              <a:srgbClr val="C88719"/>
            </a:solidFill>
            <a:prstDash val="solid"/>
          </a:ln>
        </p:spPr>
      </p:sp>
      <p:sp>
        <p:nvSpPr>
          <p:cNvPr id="15" name="s5-node-2">
            <a:extLst xmlns:a="http://schemas.openxmlformats.org/drawingml/2006/main">
              <a:ext uri="{FF2B5EF4-FFF2-40B4-BE49-F238E27FC236}">
                <a16:creationId xmlns:a16="http://schemas.microsoft.com/office/drawing/2014/main" id="{9B9DFF4B-D505-438F-B879-D1BD2C8F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384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CF"/>
          </a:solidFill>
          <a:ln xmlns:a="http://schemas.openxmlformats.org/drawingml/2006/main" w="19050">
            <a:solidFill>
              <a:srgbClr val="C88719"/>
            </a:solidFill>
            <a:prstDash val="solid"/>
          </a:ln>
        </p:spPr>
      </p:sp>
      <p:sp>
        <p:nvSpPr>
          <p:cNvPr id="16" name="s5-num-2">
            <a:extLst xmlns:a="http://schemas.openxmlformats.org/drawingml/2006/main">
              <a:ext uri="{FF2B5EF4-FFF2-40B4-BE49-F238E27FC236}">
                <a16:creationId xmlns:a16="http://schemas.microsoft.com/office/drawing/2014/main" id="{690E25D7-D400-4EC0-80C8-CFF9510A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098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88719"/>
                </a:solidFill>
              </a:defRPr>
            </a:pPr>
            <a:r>
              <a:rPr sz="1200" b="1" i="0">
                <a:solidFill>
                  <a:srgbClr val="C88719"/>
                </a:solidFill>
              </a:rPr>
              <a:t>3</a:t>
            </a:r>
          </a:p>
        </p:txBody>
      </p:sp>
      <p:sp>
        <p:nvSpPr>
          <p:cNvPr id="17" name="s5-head-2">
            <a:extLst xmlns:a="http://schemas.openxmlformats.org/drawingml/2006/main">
              <a:ext uri="{FF2B5EF4-FFF2-40B4-BE49-F238E27FC236}">
                <a16:creationId xmlns:a16="http://schemas.microsoft.com/office/drawing/2014/main" id="{1DD1E06E-2CA5-4B5C-8897-8C76A552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</a:defRPr>
            </a:pPr>
            <a:r>
              <a:rPr sz="1575" b="1" i="0">
                <a:solidFill>
                  <a:srgbClr val="0B1F33"/>
                </a:solidFill>
              </a:rPr>
              <a:t>LLM</a:t>
            </a:r>
          </a:p>
        </p:txBody>
      </p:sp>
      <p:sp>
        <p:nvSpPr>
          <p:cNvPr id="18" name="s5-detail-2">
            <a:extLst xmlns:a="http://schemas.openxmlformats.org/drawingml/2006/main">
              <a:ext uri="{FF2B5EF4-FFF2-40B4-BE49-F238E27FC236}">
                <a16:creationId xmlns:a16="http://schemas.microsoft.com/office/drawing/2014/main" id="{6986E356-903E-4389-9838-975A6E95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051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Rules + schema</a:t>
            </a:r>
          </a:p>
          <a:p xmlns:a="http://schemas.openxmlformats.org/drawingml/2006/main">
            <a:pPr algn="ctr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→ candidate JSON</a:t>
            </a:r>
          </a:p>
        </p:txBody>
      </p:sp>
      <p:sp>
        <p:nvSpPr>
          <p:cNvPr id="19" name="s5-node-3">
            <a:extLst xmlns:a="http://schemas.openxmlformats.org/drawingml/2006/main">
              <a:ext uri="{FF2B5EF4-FFF2-40B4-BE49-F238E27FC236}">
                <a16:creationId xmlns:a16="http://schemas.microsoft.com/office/drawing/2014/main" id="{6E92CE7C-83FC-4D16-A90A-1942E4E3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3840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CFF4EA"/>
          </a:solidFill>
          <a:ln xmlns:a="http://schemas.openxmlformats.org/drawingml/2006/main" w="19050">
            <a:solidFill>
              <a:srgbClr val="0E8A78"/>
            </a:solidFill>
            <a:prstDash val="solid"/>
          </a:ln>
        </p:spPr>
      </p:sp>
      <p:sp>
        <p:nvSpPr>
          <p:cNvPr id="20" name="s5-num-3">
            <a:extLst xmlns:a="http://schemas.openxmlformats.org/drawingml/2006/main">
              <a:ext uri="{FF2B5EF4-FFF2-40B4-BE49-F238E27FC236}">
                <a16:creationId xmlns:a16="http://schemas.microsoft.com/office/drawing/2014/main" id="{5A4D4EE5-70BA-4BAC-A549-54798BF4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E8A78"/>
                </a:solidFill>
              </a:defRPr>
            </a:pPr>
            <a:r>
              <a:rPr sz="1200" b="1" i="0">
                <a:solidFill>
                  <a:srgbClr val="0E8A78"/>
                </a:solidFill>
              </a:rPr>
              <a:t>4</a:t>
            </a:r>
          </a:p>
        </p:txBody>
      </p:sp>
      <p:sp>
        <p:nvSpPr>
          <p:cNvPr id="21" name="s5-head-3">
            <a:extLst xmlns:a="http://schemas.openxmlformats.org/drawingml/2006/main">
              <a:ext uri="{FF2B5EF4-FFF2-40B4-BE49-F238E27FC236}">
                <a16:creationId xmlns:a16="http://schemas.microsoft.com/office/drawing/2014/main" id="{C5406BD0-EBEC-497F-9349-D78E4778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09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</a:defRPr>
            </a:pPr>
            <a:r>
              <a:rPr sz="1575" b="1" i="0">
                <a:solidFill>
                  <a:srgbClr val="0B1F33"/>
                </a:solidFill>
              </a:rPr>
              <a:t>VERIFY</a:t>
            </a:r>
          </a:p>
        </p:txBody>
      </p:sp>
      <p:sp>
        <p:nvSpPr>
          <p:cNvPr id="22" name="s5-detail-3">
            <a:extLst xmlns:a="http://schemas.openxmlformats.org/drawingml/2006/main">
              <a:ext uri="{FF2B5EF4-FFF2-40B4-BE49-F238E27FC236}">
                <a16:creationId xmlns:a16="http://schemas.microsoft.com/office/drawing/2014/main" id="{DAD79F51-32FC-49B7-81DA-F7740397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Exact quote</a:t>
            </a:r>
          </a:p>
          <a:p xmlns:a="http://schemas.openxmlformats.org/drawingml/2006/main">
            <a:pPr algn="ctr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→ report</a:t>
            </a:r>
          </a:p>
        </p:txBody>
      </p:sp>
      <p:sp>
        <p:nvSpPr>
          <p:cNvPr id="23" name="s5-rule-band">
            <a:extLst xmlns:a="http://schemas.openxmlformats.org/drawingml/2006/main">
              <a:ext uri="{FF2B5EF4-FFF2-40B4-BE49-F238E27FC236}">
                <a16:creationId xmlns:a16="http://schemas.microsoft.com/office/drawing/2014/main" id="{E9A0BDFA-9A52-4A1A-96AA-DDFAAD70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9124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24" name="s5-rule-text">
            <a:extLst xmlns:a="http://schemas.openxmlformats.org/drawingml/2006/main">
              <a:ext uri="{FF2B5EF4-FFF2-40B4-BE49-F238E27FC236}">
                <a16:creationId xmlns:a16="http://schemas.microsoft.com/office/drawing/2014/main" id="{D47FAA2D-F081-4108-9B02-B7C832F8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The LLM proposes a finding.</a:t>
            </a:r>
          </a:p>
          <a:p xmlns:a="http://schemas.openxmlformats.org/drawingml/2006/main">
            <a:pPr algn="ctr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The local policy verifies the evidence.</a:t>
            </a:r>
          </a:p>
        </p:txBody>
      </p:sp>
      <p:sp>
        <p:nvSpPr>
          <p:cNvPr id="25" name="s5-limit-frame">
            <a:extLst xmlns:a="http://schemas.openxmlformats.org/drawingml/2006/main">
              <a:ext uri="{FF2B5EF4-FFF2-40B4-BE49-F238E27FC236}">
                <a16:creationId xmlns:a16="http://schemas.microsoft.com/office/drawing/2014/main" id="{E7B59B4B-E80B-4059-870B-A1102A4A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47900"/>
            <a:ext cx="1428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F"/>
          </a:solidFill>
          <a:ln xmlns:a="http://schemas.openxmlformats.org/drawingml/2006/main" w="19050">
            <a:solidFill>
              <a:srgbClr val="C88719"/>
            </a:solidFill>
            <a:prstDash val="solid"/>
          </a:ln>
        </p:spPr>
      </p:sp>
      <p:sp>
        <p:nvSpPr>
          <p:cNvPr id="26" name="s5-limit-title">
            <a:extLst xmlns:a="http://schemas.openxmlformats.org/drawingml/2006/main">
              <a:ext uri="{FF2B5EF4-FFF2-40B4-BE49-F238E27FC236}">
                <a16:creationId xmlns:a16="http://schemas.microsoft.com/office/drawing/2014/main" id="{CF9D11B1-155C-4F88-A216-73BA80B0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336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88719"/>
                </a:solidFill>
              </a:defRPr>
            </a:pPr>
            <a:r>
              <a:rPr sz="1050" b="1" i="0">
                <a:solidFill>
                  <a:srgbClr val="C88719"/>
                </a:solidFill>
              </a:rPr>
              <a:t>CURRENT LIMIT</a:t>
            </a:r>
          </a:p>
        </p:txBody>
      </p:sp>
      <p:sp>
        <p:nvSpPr>
          <p:cNvPr id="27" name="s5-limit-text">
            <a:extLst xmlns:a="http://schemas.openxmlformats.org/drawingml/2006/main">
              <a:ext uri="{FF2B5EF4-FFF2-40B4-BE49-F238E27FC236}">
                <a16:creationId xmlns:a16="http://schemas.microsoft.com/office/drawing/2014/main" id="{FDCCD1C1-9D79-43E7-A0C1-CD9D2CEF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81350"/>
            <a:ext cx="1047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Speaker</a:t>
            </a:r>
          </a:p>
          <a:p xmlns:a="http://schemas.openxmlformats.org/drawingml/2006/main">
            <a:pPr algn="ctr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attribution</a:t>
            </a:r>
          </a:p>
          <a:p xmlns:a="http://schemas.openxmlformats.org/drawingml/2006/main">
            <a:pPr algn="ctr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is unavailable</a:t>
            </a:r>
          </a:p>
          <a:p xmlns:a="http://schemas.openxmlformats.org/drawingml/2006/main">
            <a:pPr algn="ctr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in the current</a:t>
            </a:r>
          </a:p>
          <a:p xmlns:a="http://schemas.openxmlformats.org/drawingml/2006/main">
            <a:pPr algn="ctr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ASR profile.</a:t>
            </a:r>
          </a:p>
        </p:txBody>
      </p:sp>
      <p:sp>
        <p:nvSpPr>
          <p:cNvPr id="28" name="s5-limit-note">
            <a:extLst xmlns:a="http://schemas.openxmlformats.org/drawingml/2006/main">
              <a:ext uri="{FF2B5EF4-FFF2-40B4-BE49-F238E27FC236}">
                <a16:creationId xmlns:a16="http://schemas.microsoft.com/office/drawing/2014/main" id="{D26E4883-E4CB-4DBB-B4F0-0C29B159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572000"/>
            <a:ext cx="112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425466"/>
                </a:solidFill>
              </a:defRPr>
            </a:pPr>
            <a:r>
              <a:rPr sz="975" b="0" i="0">
                <a:solidFill>
                  <a:srgbClr val="425466"/>
                </a:solidFill>
              </a:rPr>
              <a:t>Speaker-dependent criteria may require manual review.</a:t>
            </a:r>
          </a:p>
        </p:txBody>
      </p:sp>
      <p:sp>
        <p:nvSpPr>
          <p:cNvPr id="29" name="footer-5-label">
            <a:extLst xmlns:a="http://schemas.openxmlformats.org/drawingml/2006/main">
              <a:ext uri="{FF2B5EF4-FFF2-40B4-BE49-F238E27FC236}">
                <a16:creationId xmlns:a16="http://schemas.microsoft.com/office/drawing/2014/main" id="{1A687254-B543-46A1-A3F4-2114AB92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B7C8F"/>
                </a:solidFill>
              </a:defRPr>
            </a:pPr>
            <a:r>
              <a:rPr sz="750" b="1" i="0">
                <a:solidFill>
                  <a:srgbClr val="6B7C8F"/>
                </a:solidFill>
              </a:rPr>
              <a:t>INSURANCE CALLING QA SYSTEM</a:t>
            </a:r>
          </a:p>
        </p:txBody>
      </p:sp>
      <p:sp>
        <p:nvSpPr>
          <p:cNvPr id="30" name="footer-5-number">
            <a:extLst xmlns:a="http://schemas.openxmlformats.org/drawingml/2006/main">
              <a:ext uri="{FF2B5EF4-FFF2-40B4-BE49-F238E27FC236}">
                <a16:creationId xmlns:a16="http://schemas.microsoft.com/office/drawing/2014/main" id="{58D0E006-8D6D-406D-B652-F9E51A59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C8F"/>
                </a:solidFill>
              </a:defRPr>
            </a:pPr>
            <a:r>
              <a:rPr sz="825" b="1" i="0">
                <a:solidFill>
                  <a:srgbClr val="6B7C8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063029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05 | The operating model-eyebrow">
            <a:extLst xmlns:a="http://schemas.openxmlformats.org/drawingml/2006/main">
              <a:ext uri="{FF2B5EF4-FFF2-40B4-BE49-F238E27FC236}">
                <a16:creationId xmlns:a16="http://schemas.microsoft.com/office/drawing/2014/main" id="{66DAE3CB-15FF-4960-8DE7-953B722D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5D7D0"/>
                </a:solidFill>
              </a:defRPr>
            </a:pPr>
            <a:r>
              <a:rPr sz="900" b="1" i="0">
                <a:solidFill>
                  <a:srgbClr val="75D7D0"/>
                </a:solidFill>
              </a:rPr>
              <a:t>05 | THE OPERATING MODEL</a:t>
            </a:r>
          </a:p>
        </p:txBody>
      </p:sp>
      <p:sp>
        <p:nvSpPr>
          <p:cNvPr id="2" name="05 | The operating model-title">
            <a:extLst xmlns:a="http://schemas.openxmlformats.org/drawingml/2006/main">
              <a:ext uri="{FF2B5EF4-FFF2-40B4-BE49-F238E27FC236}">
                <a16:creationId xmlns:a16="http://schemas.microsoft.com/office/drawing/2014/main" id="{3F740A7C-9795-4A3A-B749-76C91527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AI accelerates review; humans retain the decision</a:t>
            </a:r>
          </a:p>
        </p:txBody>
      </p:sp>
      <p:sp>
        <p:nvSpPr>
          <p:cNvPr id="3" name="05 | The operating model-subtitle">
            <a:extLst xmlns:a="http://schemas.openxmlformats.org/drawingml/2006/main">
              <a:ext uri="{FF2B5EF4-FFF2-40B4-BE49-F238E27FC236}">
                <a16:creationId xmlns:a16="http://schemas.microsoft.com/office/drawing/2014/main" id="{06537923-E637-4F45-821A-3AEB133D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7C9D9"/>
                </a:solidFill>
              </a:defRPr>
            </a:pPr>
            <a:r>
              <a:rPr sz="1350" b="0" i="0">
                <a:solidFill>
                  <a:srgbClr val="B7C9D9"/>
                </a:solidFill>
              </a:rPr>
              <a:t>The output is a structured, evidence-backed workbench—not a black-box score.</a:t>
            </a:r>
          </a:p>
        </p:txBody>
      </p:sp>
      <p:sp>
        <p:nvSpPr>
          <p:cNvPr id="4" name="s6-outcome-0">
            <a:extLst xmlns:a="http://schemas.openxmlformats.org/drawingml/2006/main">
              <a:ext uri="{FF2B5EF4-FFF2-40B4-BE49-F238E27FC236}">
                <a16:creationId xmlns:a16="http://schemas.microsoft.com/office/drawing/2014/main" id="{3B3840B0-8E2C-40F9-8269-85FF0663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D45"/>
          </a:solidFill>
          <a:ln xmlns:a="http://schemas.openxmlformats.org/drawingml/2006/main" w="19050">
            <a:solidFill>
              <a:srgbClr val="0E8A78"/>
            </a:solidFill>
            <a:prstDash val="solid"/>
          </a:ln>
        </p:spPr>
      </p:sp>
      <p:sp>
        <p:nvSpPr>
          <p:cNvPr id="5" name="s6-outcome-head-0">
            <a:extLst xmlns:a="http://schemas.openxmlformats.org/drawingml/2006/main">
              <a:ext uri="{FF2B5EF4-FFF2-40B4-BE49-F238E27FC236}">
                <a16:creationId xmlns:a16="http://schemas.microsoft.com/office/drawing/2014/main" id="{79690C74-7C0B-4A3D-BE12-09D89CF2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E8A78"/>
                </a:solidFill>
              </a:defRPr>
            </a:pPr>
            <a:r>
              <a:rPr sz="1500" b="1" i="0">
                <a:solidFill>
                  <a:srgbClr val="0E8A78"/>
                </a:solidFill>
              </a:rPr>
              <a:t>PASS</a:t>
            </a:r>
          </a:p>
        </p:txBody>
      </p:sp>
      <p:sp>
        <p:nvSpPr>
          <p:cNvPr id="6" name="s6-outcome-detail-0">
            <a:extLst xmlns:a="http://schemas.openxmlformats.org/drawingml/2006/main">
              <a:ext uri="{FF2B5EF4-FFF2-40B4-BE49-F238E27FC236}">
                <a16:creationId xmlns:a16="http://schemas.microsoft.com/office/drawing/2014/main" id="{D99FCE78-EBF1-4EF1-9EBB-71A38FB8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B7C9D9"/>
                </a:solidFill>
              </a:defRPr>
            </a:pPr>
            <a:r>
              <a:rPr sz="1050" b="0" i="0">
                <a:solidFill>
                  <a:srgbClr val="B7C9D9"/>
                </a:solidFill>
              </a:rPr>
              <a:t>Evidence supports the criteria</a:t>
            </a:r>
          </a:p>
        </p:txBody>
      </p:sp>
      <p:sp>
        <p:nvSpPr>
          <p:cNvPr id="7" name="s6-outcome-1">
            <a:extLst xmlns:a="http://schemas.openxmlformats.org/drawingml/2006/main">
              <a:ext uri="{FF2B5EF4-FFF2-40B4-BE49-F238E27FC236}">
                <a16:creationId xmlns:a16="http://schemas.microsoft.com/office/drawing/2014/main" id="{83EB7E62-EF53-49FE-B777-6F4CD23D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D45"/>
          </a:solidFill>
          <a:ln xmlns:a="http://schemas.openxmlformats.org/drawingml/2006/main" w="19050">
            <a:solidFill>
              <a:srgbClr val="C88719"/>
            </a:solidFill>
            <a:prstDash val="solid"/>
          </a:ln>
        </p:spPr>
      </p:sp>
      <p:sp>
        <p:nvSpPr>
          <p:cNvPr id="8" name="s6-outcome-head-1">
            <a:extLst xmlns:a="http://schemas.openxmlformats.org/drawingml/2006/main">
              <a:ext uri="{FF2B5EF4-FFF2-40B4-BE49-F238E27FC236}">
                <a16:creationId xmlns:a16="http://schemas.microsoft.com/office/drawing/2014/main" id="{F2CF5C38-EB1B-45CE-8FF4-4C358BDA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43150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88719"/>
                </a:solidFill>
              </a:defRPr>
            </a:pPr>
            <a:r>
              <a:rPr sz="1125" b="1" i="0">
                <a:solidFill>
                  <a:srgbClr val="C88719"/>
                </a:solidFill>
              </a:rPr>
              <a:t>MANUAL REVIEW</a:t>
            </a:r>
          </a:p>
        </p:txBody>
      </p:sp>
      <p:sp>
        <p:nvSpPr>
          <p:cNvPr id="9" name="s6-outcome-detail-1">
            <a:extLst xmlns:a="http://schemas.openxmlformats.org/drawingml/2006/main">
              <a:ext uri="{FF2B5EF4-FFF2-40B4-BE49-F238E27FC236}">
                <a16:creationId xmlns:a16="http://schemas.microsoft.com/office/drawing/2014/main" id="{6682AD27-8274-4025-8545-B660739E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8605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B7C9D9"/>
                </a:solidFill>
              </a:defRPr>
            </a:pPr>
            <a:r>
              <a:rPr sz="1050" b="0" i="0">
                <a:solidFill>
                  <a:srgbClr val="B7C9D9"/>
                </a:solidFill>
              </a:rPr>
              <a:t>Evidence is incomplete or mixed</a:t>
            </a:r>
          </a:p>
        </p:txBody>
      </p:sp>
      <p:sp>
        <p:nvSpPr>
          <p:cNvPr id="10" name="s6-outcome-2">
            <a:extLst xmlns:a="http://schemas.openxmlformats.org/drawingml/2006/main">
              <a:ext uri="{FF2B5EF4-FFF2-40B4-BE49-F238E27FC236}">
                <a16:creationId xmlns:a16="http://schemas.microsoft.com/office/drawing/2014/main" id="{B1C16BAD-5E95-4ADC-94AC-424AD636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D45"/>
          </a:solidFill>
          <a:ln xmlns:a="http://schemas.openxmlformats.org/drawingml/2006/main" w="19050">
            <a:solidFill>
              <a:srgbClr val="C62828"/>
            </a:solidFill>
            <a:prstDash val="solid"/>
          </a:ln>
        </p:spPr>
      </p:sp>
      <p:sp>
        <p:nvSpPr>
          <p:cNvPr id="11" name="s6-outcome-head-2">
            <a:extLst xmlns:a="http://schemas.openxmlformats.org/drawingml/2006/main">
              <a:ext uri="{FF2B5EF4-FFF2-40B4-BE49-F238E27FC236}">
                <a16:creationId xmlns:a16="http://schemas.microsoft.com/office/drawing/2014/main" id="{9F2B1DBE-C068-4C33-ACD2-9CEE3F7B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62828"/>
                </a:solidFill>
              </a:defRPr>
            </a:pPr>
            <a:r>
              <a:rPr sz="1500" b="1" i="0">
                <a:solidFill>
                  <a:srgbClr val="C62828"/>
                </a:solidFill>
              </a:rPr>
              <a:t>FAIL</a:t>
            </a:r>
          </a:p>
        </p:txBody>
      </p:sp>
      <p:sp>
        <p:nvSpPr>
          <p:cNvPr id="12" name="s6-outcome-detail-2">
            <a:extLst xmlns:a="http://schemas.openxmlformats.org/drawingml/2006/main">
              <a:ext uri="{FF2B5EF4-FFF2-40B4-BE49-F238E27FC236}">
                <a16:creationId xmlns:a16="http://schemas.microsoft.com/office/drawing/2014/main" id="{C57D96DD-FCEF-4C4C-8B0A-484DE104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B7C9D9"/>
                </a:solidFill>
              </a:defRPr>
            </a:pPr>
            <a:r>
              <a:rPr sz="1050" b="0" i="0">
                <a:solidFill>
                  <a:srgbClr val="B7C9D9"/>
                </a:solidFill>
              </a:rPr>
              <a:t>A blocking issue is supported</a:t>
            </a:r>
          </a:p>
        </p:txBody>
      </p:sp>
      <p:sp>
        <p:nvSpPr>
          <p:cNvPr id="13" name="s6-outcome-3">
            <a:extLst xmlns:a="http://schemas.openxmlformats.org/drawingml/2006/main">
              <a:ext uri="{FF2B5EF4-FFF2-40B4-BE49-F238E27FC236}">
                <a16:creationId xmlns:a16="http://schemas.microsoft.com/office/drawing/2014/main" id="{3AC0473E-7AB3-4FEA-A04A-99B5FC50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480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D45"/>
          </a:solidFill>
          <a:ln xmlns:a="http://schemas.openxmlformats.org/drawingml/2006/main" w="19050">
            <a:solidFill>
              <a:srgbClr val="78909C"/>
            </a:solidFill>
            <a:prstDash val="solid"/>
          </a:ln>
        </p:spPr>
      </p:sp>
      <p:sp>
        <p:nvSpPr>
          <p:cNvPr id="14" name="s6-outcome-head-3">
            <a:extLst xmlns:a="http://schemas.openxmlformats.org/drawingml/2006/main">
              <a:ext uri="{FF2B5EF4-FFF2-40B4-BE49-F238E27FC236}">
                <a16:creationId xmlns:a16="http://schemas.microsoft.com/office/drawing/2014/main" id="{140BAB32-C13A-4343-ADA3-3C20876D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00450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8909C"/>
                </a:solidFill>
              </a:defRPr>
            </a:pPr>
            <a:r>
              <a:rPr sz="1125" b="1" i="0">
                <a:solidFill>
                  <a:srgbClr val="78909C"/>
                </a:solidFill>
              </a:rPr>
              <a:t>NOT EVALUABLE</a:t>
            </a:r>
          </a:p>
        </p:txBody>
      </p:sp>
      <p:sp>
        <p:nvSpPr>
          <p:cNvPr id="15" name="s6-outcome-detail-3">
            <a:extLst xmlns:a="http://schemas.openxmlformats.org/drawingml/2006/main">
              <a:ext uri="{FF2B5EF4-FFF2-40B4-BE49-F238E27FC236}">
                <a16:creationId xmlns:a16="http://schemas.microsoft.com/office/drawing/2014/main" id="{772B7779-6127-4387-84AA-2B7EADC7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4335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B7C9D9"/>
                </a:solidFill>
              </a:defRPr>
            </a:pPr>
            <a:r>
              <a:rPr sz="1050" b="0" i="0">
                <a:solidFill>
                  <a:srgbClr val="B7C9D9"/>
                </a:solidFill>
              </a:rPr>
              <a:t>The data cannot support a conclusion</a:t>
            </a:r>
          </a:p>
        </p:txBody>
      </p:sp>
      <p:sp>
        <p:nvSpPr>
          <p:cNvPr id="16" name="s6-main-arrow-1">
            <a:extLst xmlns:a="http://schemas.openxmlformats.org/drawingml/2006/main">
              <a:ext uri="{FF2B5EF4-FFF2-40B4-BE49-F238E27FC236}">
                <a16:creationId xmlns:a16="http://schemas.microsoft.com/office/drawing/2014/main" id="{E18686C0-872B-4FC2-9CEC-306E5547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0040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A78"/>
          </a:solidFill>
          <a:ln xmlns:a="http://schemas.openxmlformats.org/drawingml/2006/main" w="9525">
            <a:solidFill>
              <a:srgbClr val="0E8A78"/>
            </a:solidFill>
            <a:prstDash val="solid"/>
          </a:ln>
        </p:spPr>
      </p:sp>
      <p:sp>
        <p:nvSpPr>
          <p:cNvPr id="17" name="s6-main-arrow-2">
            <a:extLst xmlns:a="http://schemas.openxmlformats.org/drawingml/2006/main">
              <a:ext uri="{FF2B5EF4-FFF2-40B4-BE49-F238E27FC236}">
                <a16:creationId xmlns:a16="http://schemas.microsoft.com/office/drawing/2014/main" id="{65CA2457-D185-4453-AD56-ABF95D9D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0040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A78"/>
          </a:solidFill>
          <a:ln xmlns:a="http://schemas.openxmlformats.org/drawingml/2006/main" w="9525">
            <a:solidFill>
              <a:srgbClr val="0E8A78"/>
            </a:solidFill>
            <a:prstDash val="solid"/>
          </a:ln>
        </p:spPr>
      </p:sp>
      <p:sp>
        <p:nvSpPr>
          <p:cNvPr id="18" name="s6-ai">
            <a:extLst xmlns:a="http://schemas.openxmlformats.org/drawingml/2006/main">
              <a:ext uri="{FF2B5EF4-FFF2-40B4-BE49-F238E27FC236}">
                <a16:creationId xmlns:a16="http://schemas.microsoft.com/office/drawing/2014/main" id="{686A0D3F-893D-4DA9-9CCA-1E6AA728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1714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83A54"/>
          </a:solidFill>
          <a:ln xmlns:a="http://schemas.openxmlformats.org/drawingml/2006/main" w="19050">
            <a:solidFill>
              <a:srgbClr val="75D7D0"/>
            </a:solidFill>
            <a:prstDash val="solid"/>
          </a:ln>
        </p:spPr>
      </p:sp>
      <p:sp>
        <p:nvSpPr>
          <p:cNvPr id="19" name="s6-ai-title">
            <a:extLst xmlns:a="http://schemas.openxmlformats.org/drawingml/2006/main">
              <a:ext uri="{FF2B5EF4-FFF2-40B4-BE49-F238E27FC236}">
                <a16:creationId xmlns:a16="http://schemas.microsoft.com/office/drawing/2014/main" id="{25BEB621-83E7-4DFF-B82C-2E632591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908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AI PROPOSES</a:t>
            </a:r>
          </a:p>
        </p:txBody>
      </p:sp>
      <p:sp>
        <p:nvSpPr>
          <p:cNvPr id="20" name="s6-ai-detail">
            <a:extLst xmlns:a="http://schemas.openxmlformats.org/drawingml/2006/main">
              <a:ext uri="{FF2B5EF4-FFF2-40B4-BE49-F238E27FC236}">
                <a16:creationId xmlns:a16="http://schemas.microsoft.com/office/drawing/2014/main" id="{649C4287-72AE-4F38-8577-5D6F28D4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52750"/>
            <a:ext cx="140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7C9D9"/>
                </a:solidFill>
              </a:defRPr>
            </a:pPr>
            <a:r>
              <a:rPr sz="1200" b="0" i="0">
                <a:solidFill>
                  <a:srgbClr val="B7C9D9"/>
                </a:solidFill>
              </a:rPr>
              <a:t>Findings + rationale</a:t>
            </a:r>
          </a:p>
          <a:p xmlns:a="http://schemas.openxmlformats.org/drawingml/2006/main">
            <a:pPr algn="l">
              <a:defRPr sz="1200" b="0" i="0">
                <a:solidFill>
                  <a:srgbClr val="B7C9D9"/>
                </a:solidFill>
              </a:defRPr>
            </a:pPr>
            <a:r>
              <a:rPr sz="1200" b="0" i="0">
                <a:solidFill>
                  <a:srgbClr val="B7C9D9"/>
                </a:solidFill>
              </a:rPr>
              <a:t>Evidence quotes</a:t>
            </a:r>
          </a:p>
        </p:txBody>
      </p:sp>
      <p:sp>
        <p:nvSpPr>
          <p:cNvPr id="21" name="s6-policy">
            <a:extLst xmlns:a="http://schemas.openxmlformats.org/drawingml/2006/main">
              <a:ext uri="{FF2B5EF4-FFF2-40B4-BE49-F238E27FC236}">
                <a16:creationId xmlns:a16="http://schemas.microsoft.com/office/drawing/2014/main" id="{DD13A5DD-716E-4BE7-B05A-9794324A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1714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83A54"/>
          </a:solidFill>
          <a:ln xmlns:a="http://schemas.openxmlformats.org/drawingml/2006/main" w="19050">
            <a:solidFill>
              <a:srgbClr val="75D7D0"/>
            </a:solidFill>
            <a:prstDash val="solid"/>
          </a:ln>
        </p:spPr>
      </p:sp>
      <p:sp>
        <p:nvSpPr>
          <p:cNvPr id="22" name="s6-policy-title">
            <a:extLst xmlns:a="http://schemas.openxmlformats.org/drawingml/2006/main">
              <a:ext uri="{FF2B5EF4-FFF2-40B4-BE49-F238E27FC236}">
                <a16:creationId xmlns:a16="http://schemas.microsoft.com/office/drawing/2014/main" id="{F66FE7E2-37E0-4A0C-8B17-75638E01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POLICY VERIFIES</a:t>
            </a:r>
          </a:p>
        </p:txBody>
      </p:sp>
      <p:sp>
        <p:nvSpPr>
          <p:cNvPr id="23" name="s6-policy-detail">
            <a:extLst xmlns:a="http://schemas.openxmlformats.org/drawingml/2006/main">
              <a:ext uri="{FF2B5EF4-FFF2-40B4-BE49-F238E27FC236}">
                <a16:creationId xmlns:a16="http://schemas.microsoft.com/office/drawing/2014/main" id="{2B185505-B14F-43A1-A9FA-8DAE5279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140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7C9D9"/>
                </a:solidFill>
              </a:defRPr>
            </a:pPr>
            <a:r>
              <a:rPr sz="1200" b="0" i="0">
                <a:solidFill>
                  <a:srgbClr val="B7C9D9"/>
                </a:solidFill>
              </a:rPr>
              <a:t>Exact match</a:t>
            </a:r>
          </a:p>
          <a:p xmlns:a="http://schemas.openxmlformats.org/drawingml/2006/main">
            <a:pPr algn="l">
              <a:defRPr sz="1200" b="0" i="0">
                <a:solidFill>
                  <a:srgbClr val="B7C9D9"/>
                </a:solidFill>
              </a:defRPr>
            </a:pPr>
            <a:r>
              <a:rPr sz="1200" b="0" i="0">
                <a:solidFill>
                  <a:srgbClr val="B7C9D9"/>
                </a:solidFill>
              </a:rPr>
              <a:t>Provenance</a:t>
            </a:r>
          </a:p>
          <a:p xmlns:a="http://schemas.openxmlformats.org/drawingml/2006/main">
            <a:pPr algn="l">
              <a:defRPr sz="1200" b="0" i="0">
                <a:solidFill>
                  <a:srgbClr val="B7C9D9"/>
                </a:solidFill>
              </a:defRPr>
            </a:pPr>
            <a:r>
              <a:rPr sz="1200" b="0" i="0">
                <a:solidFill>
                  <a:srgbClr val="B7C9D9"/>
                </a:solidFill>
              </a:rPr>
              <a:t>Schema</a:t>
            </a:r>
          </a:p>
        </p:txBody>
      </p:sp>
      <p:sp>
        <p:nvSpPr>
          <p:cNvPr id="24" name="s6-human">
            <a:extLst xmlns:a="http://schemas.openxmlformats.org/drawingml/2006/main">
              <a:ext uri="{FF2B5EF4-FFF2-40B4-BE49-F238E27FC236}">
                <a16:creationId xmlns:a16="http://schemas.microsoft.com/office/drawing/2014/main" id="{A8AE4E65-9288-45F5-BA7D-DAB17DC3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1714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83A54"/>
          </a:solidFill>
          <a:ln xmlns:a="http://schemas.openxmlformats.org/drawingml/2006/main" w="19050">
            <a:solidFill>
              <a:srgbClr val="75D7D0"/>
            </a:solidFill>
            <a:prstDash val="solid"/>
          </a:ln>
        </p:spPr>
      </p:sp>
      <p:sp>
        <p:nvSpPr>
          <p:cNvPr id="25" name="s6-human-title">
            <a:extLst xmlns:a="http://schemas.openxmlformats.org/drawingml/2006/main">
              <a:ext uri="{FF2B5EF4-FFF2-40B4-BE49-F238E27FC236}">
                <a16:creationId xmlns:a16="http://schemas.microsoft.com/office/drawing/2014/main" id="{29306FC4-92FF-4B44-B515-968FDC21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908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ANALYST DECIDES</a:t>
            </a:r>
          </a:p>
        </p:txBody>
      </p:sp>
      <p:sp>
        <p:nvSpPr>
          <p:cNvPr id="26" name="s6-human-detail">
            <a:extLst xmlns:a="http://schemas.openxmlformats.org/drawingml/2006/main">
              <a:ext uri="{FF2B5EF4-FFF2-40B4-BE49-F238E27FC236}">
                <a16:creationId xmlns:a16="http://schemas.microsoft.com/office/drawing/2014/main" id="{3932FF6B-B25E-4974-AD77-845818C7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952750"/>
            <a:ext cx="140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7C9D9"/>
                </a:solidFill>
              </a:defRPr>
            </a:pPr>
            <a:r>
              <a:rPr sz="1200" b="0" i="0">
                <a:solidFill>
                  <a:srgbClr val="B7C9D9"/>
                </a:solidFill>
              </a:rPr>
              <a:t>Audio + transcript</a:t>
            </a:r>
          </a:p>
          <a:p xmlns:a="http://schemas.openxmlformats.org/drawingml/2006/main">
            <a:pPr algn="l">
              <a:defRPr sz="1200" b="0" i="0">
                <a:solidFill>
                  <a:srgbClr val="B7C9D9"/>
                </a:solidFill>
              </a:defRPr>
            </a:pPr>
            <a:r>
              <a:rPr sz="1200" b="0" i="0">
                <a:solidFill>
                  <a:srgbClr val="B7C9D9"/>
                </a:solidFill>
              </a:rPr>
              <a:t>Final review</a:t>
            </a:r>
          </a:p>
        </p:txBody>
      </p:sp>
      <p:sp>
        <p:nvSpPr>
          <p:cNvPr id="27" name="s6-bottom-frame">
            <a:extLst xmlns:a="http://schemas.openxmlformats.org/drawingml/2006/main">
              <a:ext uri="{FF2B5EF4-FFF2-40B4-BE49-F238E27FC236}">
                <a16:creationId xmlns:a16="http://schemas.microsoft.com/office/drawing/2014/main" id="{9125F38A-F149-46E4-892E-EFBF19B7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14850"/>
            <a:ext cx="6896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5"/>
          </a:solidFill>
          <a:ln xmlns:a="http://schemas.openxmlformats.org/drawingml/2006/main" w="19050">
            <a:solidFill>
              <a:srgbClr val="2D526B"/>
            </a:solidFill>
            <a:prstDash val="solid"/>
          </a:ln>
        </p:spPr>
      </p:sp>
      <p:sp>
        <p:nvSpPr>
          <p:cNvPr id="28" name="s6-bottom-text">
            <a:extLst xmlns:a="http://schemas.openxmlformats.org/drawingml/2006/main">
              <a:ext uri="{FF2B5EF4-FFF2-40B4-BE49-F238E27FC236}">
                <a16:creationId xmlns:a16="http://schemas.microsoft.com/office/drawing/2014/main" id="{AC71616B-43DC-4671-ADAD-0F568775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43450"/>
            <a:ext cx="624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Human review is not a fallback. It is part of the product design.</a:t>
            </a:r>
          </a:p>
        </p:txBody>
      </p:sp>
      <p:sp>
        <p:nvSpPr>
          <p:cNvPr id="29" name="footer-6-label">
            <a:extLst xmlns:a="http://schemas.openxmlformats.org/drawingml/2006/main">
              <a:ext uri="{FF2B5EF4-FFF2-40B4-BE49-F238E27FC236}">
                <a16:creationId xmlns:a16="http://schemas.microsoft.com/office/drawing/2014/main" id="{9F265D51-566F-4F4B-8675-B59099D5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B7C8F"/>
                </a:solidFill>
              </a:defRPr>
            </a:pPr>
            <a:r>
              <a:rPr sz="750" b="1" i="0">
                <a:solidFill>
                  <a:srgbClr val="6B7C8F"/>
                </a:solidFill>
              </a:rPr>
              <a:t>INSURANCE CALLING QA SYSTEM</a:t>
            </a:r>
          </a:p>
        </p:txBody>
      </p:sp>
      <p:sp>
        <p:nvSpPr>
          <p:cNvPr id="30" name="footer-6-number">
            <a:extLst xmlns:a="http://schemas.openxmlformats.org/drawingml/2006/main">
              <a:ext uri="{FF2B5EF4-FFF2-40B4-BE49-F238E27FC236}">
                <a16:creationId xmlns:a16="http://schemas.microsoft.com/office/drawing/2014/main" id="{3189E64A-837E-4CC1-BD79-C9F17C6F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C8F"/>
                </a:solidFill>
              </a:defRPr>
            </a:pPr>
            <a:r>
              <a:rPr sz="825" b="1" i="0">
                <a:solidFill>
                  <a:srgbClr val="6B7C8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7532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06 | Governance and next step-eyebrow">
            <a:extLst xmlns:a="http://schemas.openxmlformats.org/drawingml/2006/main">
              <a:ext uri="{FF2B5EF4-FFF2-40B4-BE49-F238E27FC236}">
                <a16:creationId xmlns:a16="http://schemas.microsoft.com/office/drawing/2014/main" id="{92B170FC-3CC9-4CD1-867E-E7133F6C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E8A78"/>
                </a:solidFill>
              </a:defRPr>
            </a:pPr>
            <a:r>
              <a:rPr sz="900" b="1" i="0">
                <a:solidFill>
                  <a:srgbClr val="0E8A78"/>
                </a:solidFill>
              </a:rPr>
              <a:t>06 | GOVERNANCE AND NEXT STEP</a:t>
            </a:r>
          </a:p>
        </p:txBody>
      </p:sp>
      <p:sp>
        <p:nvSpPr>
          <p:cNvPr id="2" name="06 | Governance and next step-title">
            <a:extLst xmlns:a="http://schemas.openxmlformats.org/drawingml/2006/main">
              <a:ext uri="{FF2B5EF4-FFF2-40B4-BE49-F238E27FC236}">
                <a16:creationId xmlns:a16="http://schemas.microsoft.com/office/drawing/2014/main" id="{F850AFE9-977B-4801-ADDB-21CEBABF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</a:defRPr>
            </a:pPr>
            <a:r>
              <a:rPr sz="2850" b="1" i="0">
                <a:solidFill>
                  <a:srgbClr val="0B1F33"/>
                </a:solidFill>
              </a:rPr>
              <a:t>Ready for controlled validation—not blind automation</a:t>
            </a:r>
          </a:p>
        </p:txBody>
      </p:sp>
      <p:sp>
        <p:nvSpPr>
          <p:cNvPr id="3" name="06 | Governance and next step-subtitle">
            <a:extLst xmlns:a="http://schemas.openxmlformats.org/drawingml/2006/main">
              <a:ext uri="{FF2B5EF4-FFF2-40B4-BE49-F238E27FC236}">
                <a16:creationId xmlns:a16="http://schemas.microsoft.com/office/drawing/2014/main" id="{1A7CA31E-4F01-47BC-88B9-AC36351D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25466"/>
                </a:solidFill>
              </a:defRPr>
            </a:pPr>
            <a:r>
              <a:rPr sz="1350" b="0" i="0">
                <a:solidFill>
                  <a:srgbClr val="425466"/>
                </a:solidFill>
              </a:rPr>
              <a:t>The POC is designed to be measurable, reviewable, and safe to extend.</a:t>
            </a:r>
          </a:p>
        </p:txBody>
      </p:sp>
      <p:sp>
        <p:nvSpPr>
          <p:cNvPr id="4" name="s7-guard-frame">
            <a:extLst xmlns:a="http://schemas.openxmlformats.org/drawingml/2006/main">
              <a:ext uri="{FF2B5EF4-FFF2-40B4-BE49-F238E27FC236}">
                <a16:creationId xmlns:a16="http://schemas.microsoft.com/office/drawing/2014/main" id="{ABCA9D5E-0749-4E51-AD85-70B835C7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4667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5" name="s7-guard-title">
            <a:extLst xmlns:a="http://schemas.openxmlformats.org/drawingml/2006/main">
              <a:ext uri="{FF2B5EF4-FFF2-40B4-BE49-F238E27FC236}">
                <a16:creationId xmlns:a16="http://schemas.microsoft.com/office/drawing/2014/main" id="{EE1EE85A-21D2-45C9-910E-04E6E141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5D7D0"/>
                </a:solidFill>
              </a:defRPr>
            </a:pPr>
            <a:r>
              <a:rPr sz="1125" b="1" i="0">
                <a:solidFill>
                  <a:srgbClr val="75D7D0"/>
                </a:solidFill>
              </a:rPr>
              <a:t>GUARDRAILS BUILT INTO THE FLOW</a:t>
            </a:r>
          </a:p>
        </p:txBody>
      </p:sp>
      <p:sp>
        <p:nvSpPr>
          <p:cNvPr id="6" name="s7-guard-dot-0">
            <a:extLst xmlns:a="http://schemas.openxmlformats.org/drawingml/2006/main">
              <a:ext uri="{FF2B5EF4-FFF2-40B4-BE49-F238E27FC236}">
                <a16:creationId xmlns:a16="http://schemas.microsoft.com/office/drawing/2014/main" id="{2CC7DBAB-E122-474D-A49B-C00EE95F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78"/>
          </a:solidFill>
          <a:ln xmlns:a="http://schemas.openxmlformats.org/drawingml/2006/main" w="9525">
            <a:solidFill>
              <a:srgbClr val="0E8A78"/>
            </a:solidFill>
            <a:prstDash val="solid"/>
          </a:ln>
        </p:spPr>
      </p:sp>
      <p:sp>
        <p:nvSpPr>
          <p:cNvPr id="7" name="s7-guard-text-0">
            <a:extLst xmlns:a="http://schemas.openxmlformats.org/drawingml/2006/main">
              <a:ext uri="{FF2B5EF4-FFF2-40B4-BE49-F238E27FC236}">
                <a16:creationId xmlns:a16="http://schemas.microsoft.com/office/drawing/2014/main" id="{B53540D9-5190-4BF5-AA01-29596663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Data boundary gate</a:t>
            </a:r>
          </a:p>
        </p:txBody>
      </p:sp>
      <p:sp>
        <p:nvSpPr>
          <p:cNvPr id="8" name="s7-guard-dot-1">
            <a:extLst xmlns:a="http://schemas.openxmlformats.org/drawingml/2006/main">
              <a:ext uri="{FF2B5EF4-FFF2-40B4-BE49-F238E27FC236}">
                <a16:creationId xmlns:a16="http://schemas.microsoft.com/office/drawing/2014/main" id="{1D77EE2B-E713-4ED0-BDBA-75E5574A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78"/>
          </a:solidFill>
          <a:ln xmlns:a="http://schemas.openxmlformats.org/drawingml/2006/main" w="9525">
            <a:solidFill>
              <a:srgbClr val="0E8A78"/>
            </a:solidFill>
            <a:prstDash val="solid"/>
          </a:ln>
        </p:spPr>
      </p:sp>
      <p:sp>
        <p:nvSpPr>
          <p:cNvPr id="9" name="s7-guard-text-1">
            <a:extLst xmlns:a="http://schemas.openxmlformats.org/drawingml/2006/main">
              <a:ext uri="{FF2B5EF4-FFF2-40B4-BE49-F238E27FC236}">
                <a16:creationId xmlns:a16="http://schemas.microsoft.com/office/drawing/2014/main" id="{AFCEA410-CB70-44A0-A42E-7EC97E5C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90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Private / allowlisted transport</a:t>
            </a:r>
          </a:p>
        </p:txBody>
      </p:sp>
      <p:sp>
        <p:nvSpPr>
          <p:cNvPr id="10" name="s7-guard-dot-2">
            <a:extLst xmlns:a="http://schemas.openxmlformats.org/drawingml/2006/main">
              <a:ext uri="{FF2B5EF4-FFF2-40B4-BE49-F238E27FC236}">
                <a16:creationId xmlns:a16="http://schemas.microsoft.com/office/drawing/2014/main" id="{174AFC88-3639-4F2C-9592-90582D12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78"/>
          </a:solidFill>
          <a:ln xmlns:a="http://schemas.openxmlformats.org/drawingml/2006/main" w="9525">
            <a:solidFill>
              <a:srgbClr val="0E8A78"/>
            </a:solidFill>
            <a:prstDash val="solid"/>
          </a:ln>
        </p:spPr>
      </p:sp>
      <p:sp>
        <p:nvSpPr>
          <p:cNvPr id="11" name="s7-guard-text-2">
            <a:extLst xmlns:a="http://schemas.openxmlformats.org/drawingml/2006/main">
              <a:ext uri="{FF2B5EF4-FFF2-40B4-BE49-F238E27FC236}">
                <a16:creationId xmlns:a16="http://schemas.microsoft.com/office/drawing/2014/main" id="{A0613614-9275-4E07-8761-93662A45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Pinned provider and prompt versions</a:t>
            </a:r>
          </a:p>
        </p:txBody>
      </p:sp>
      <p:sp>
        <p:nvSpPr>
          <p:cNvPr id="12" name="s7-guard-dot-3">
            <a:extLst xmlns:a="http://schemas.openxmlformats.org/drawingml/2006/main">
              <a:ext uri="{FF2B5EF4-FFF2-40B4-BE49-F238E27FC236}">
                <a16:creationId xmlns:a16="http://schemas.microsoft.com/office/drawing/2014/main" id="{AC266D6A-C632-4100-9F55-8BD349CB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78"/>
          </a:solidFill>
          <a:ln xmlns:a="http://schemas.openxmlformats.org/drawingml/2006/main" w="9525">
            <a:solidFill>
              <a:srgbClr val="0E8A78"/>
            </a:solidFill>
            <a:prstDash val="solid"/>
          </a:ln>
        </p:spPr>
      </p:sp>
      <p:sp>
        <p:nvSpPr>
          <p:cNvPr id="13" name="s7-guard-text-3">
            <a:extLst xmlns:a="http://schemas.openxmlformats.org/drawingml/2006/main">
              <a:ext uri="{FF2B5EF4-FFF2-40B4-BE49-F238E27FC236}">
                <a16:creationId xmlns:a16="http://schemas.microsoft.com/office/drawing/2014/main" id="{324A619C-E70A-4E94-8AC0-2C77E658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291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Safe logging + retention</a:t>
            </a:r>
          </a:p>
        </p:txBody>
      </p:sp>
      <p:sp>
        <p:nvSpPr>
          <p:cNvPr id="14" name="s7-guard-dot-4">
            <a:extLst xmlns:a="http://schemas.openxmlformats.org/drawingml/2006/main">
              <a:ext uri="{FF2B5EF4-FFF2-40B4-BE49-F238E27FC236}">
                <a16:creationId xmlns:a16="http://schemas.microsoft.com/office/drawing/2014/main" id="{7EE5392C-C423-4D85-9131-880681FB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78"/>
          </a:solidFill>
          <a:ln xmlns:a="http://schemas.openxmlformats.org/drawingml/2006/main" w="9525">
            <a:solidFill>
              <a:srgbClr val="0E8A78"/>
            </a:solidFill>
            <a:prstDash val="solid"/>
          </a:ln>
        </p:spPr>
      </p:sp>
      <p:sp>
        <p:nvSpPr>
          <p:cNvPr id="15" name="s7-guard-text-4">
            <a:extLst xmlns:a="http://schemas.openxmlformats.org/drawingml/2006/main">
              <a:ext uri="{FF2B5EF4-FFF2-40B4-BE49-F238E27FC236}">
                <a16:creationId xmlns:a16="http://schemas.microsoft.com/office/drawing/2014/main" id="{6816D51C-B0DF-4171-B7E5-B9EF16CC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482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Audit trail + reconciliation</a:t>
            </a:r>
          </a:p>
        </p:txBody>
      </p:sp>
      <p:sp>
        <p:nvSpPr>
          <p:cNvPr id="16" name="s7-boundary-frame">
            <a:extLst xmlns:a="http://schemas.openxmlformats.org/drawingml/2006/main">
              <a:ext uri="{FF2B5EF4-FFF2-40B4-BE49-F238E27FC236}">
                <a16:creationId xmlns:a16="http://schemas.microsoft.com/office/drawing/2014/main" id="{2D696C2B-6EA0-4A97-B639-6FEA9B9D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2571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6E0"/>
            </a:solidFill>
            <a:prstDash val="solid"/>
          </a:ln>
        </p:spPr>
      </p:sp>
      <p:sp>
        <p:nvSpPr>
          <p:cNvPr id="17" name="s7-boundary-title">
            <a:extLst xmlns:a="http://schemas.openxmlformats.org/drawingml/2006/main">
              <a:ext uri="{FF2B5EF4-FFF2-40B4-BE49-F238E27FC236}">
                <a16:creationId xmlns:a16="http://schemas.microsoft.com/office/drawing/2014/main" id="{18008414-CB78-4523-A0C6-4B7C87CD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88719"/>
                </a:solidFill>
              </a:defRPr>
            </a:pPr>
            <a:r>
              <a:rPr sz="1125" b="1" i="0">
                <a:solidFill>
                  <a:srgbClr val="C88719"/>
                </a:solidFill>
              </a:rPr>
              <a:t>CURRENT POC BOUNDARY</a:t>
            </a:r>
          </a:p>
        </p:txBody>
      </p:sp>
      <p:sp>
        <p:nvSpPr>
          <p:cNvPr id="18" name="s7-boundary-text">
            <a:extLst xmlns:a="http://schemas.openxmlformats.org/drawingml/2006/main">
              <a:ext uri="{FF2B5EF4-FFF2-40B4-BE49-F238E27FC236}">
                <a16:creationId xmlns:a16="http://schemas.microsoft.com/office/drawing/2014/main" id="{92D76CB1-E9B7-46B0-8770-A0316A26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2000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25466"/>
                </a:solidFill>
              </a:defRPr>
            </a:pPr>
            <a:r>
              <a:rPr sz="1350" b="1" i="0">
                <a:solidFill>
                  <a:srgbClr val="425466"/>
                </a:solidFill>
              </a:rPr>
              <a:t>Post-call only</a:t>
            </a:r>
          </a:p>
          <a:p xmlns:a="http://schemas.openxmlformats.org/drawingml/2006/main">
            <a:pPr algn="ctr">
              <a:defRPr sz="1350" b="1" i="0">
                <a:solidFill>
                  <a:srgbClr val="425466"/>
                </a:solidFill>
              </a:defRPr>
            </a:pPr>
            <a:r>
              <a:rPr sz="1350" b="1" i="0">
                <a:solidFill>
                  <a:srgbClr val="425466"/>
                </a:solidFill>
              </a:rPr>
              <a:t>No real-time guidance</a:t>
            </a:r>
          </a:p>
          <a:p xmlns:a="http://schemas.openxmlformats.org/drawingml/2006/main">
            <a:pPr algn="ctr">
              <a:defRPr sz="1350" b="1" i="0">
                <a:solidFill>
                  <a:srgbClr val="425466"/>
                </a:solidFill>
              </a:defRPr>
            </a:pPr>
            <a:r>
              <a:rPr sz="1350" b="1" i="0">
                <a:solidFill>
                  <a:srgbClr val="425466"/>
                </a:solidFill>
              </a:rPr>
              <a:t>Speaker attribution limited</a:t>
            </a:r>
          </a:p>
          <a:p xmlns:a="http://schemas.openxmlformats.org/drawingml/2006/main">
            <a:pPr algn="ctr">
              <a:defRPr sz="1350" b="1" i="0">
                <a:solidFill>
                  <a:srgbClr val="425466"/>
                </a:solidFill>
              </a:defRPr>
            </a:pPr>
            <a:r>
              <a:rPr sz="1350" b="1" i="0">
                <a:solidFill>
                  <a:srgbClr val="425466"/>
                </a:solidFill>
              </a:rPr>
              <a:t>Human review required</a:t>
            </a:r>
          </a:p>
          <a:p xmlns:a="http://schemas.openxmlformats.org/drawingml/2006/main">
            <a:pPr algn="ctr">
              <a:defRPr sz="1350" b="1" i="0">
                <a:solidFill>
                  <a:srgbClr val="425466"/>
                </a:solidFill>
              </a:defRPr>
            </a:pPr>
            <a:r>
              <a:rPr sz="1350" b="1" i="0">
                <a:solidFill>
                  <a:srgbClr val="425466"/>
                </a:solidFill>
              </a:rPr>
              <a:t>Rubric is not a regulatory standard</a:t>
            </a:r>
          </a:p>
        </p:txBody>
      </p:sp>
      <p:sp>
        <p:nvSpPr>
          <p:cNvPr id="19" name="s7-next-frame">
            <a:extLst xmlns:a="http://schemas.openxmlformats.org/drawingml/2006/main">
              <a:ext uri="{FF2B5EF4-FFF2-40B4-BE49-F238E27FC236}">
                <a16:creationId xmlns:a16="http://schemas.microsoft.com/office/drawing/2014/main" id="{03094ECD-2019-4EBF-9608-B8B3E95D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476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4EA"/>
          </a:solidFill>
          <a:ln xmlns:a="http://schemas.openxmlformats.org/drawingml/2006/main" w="19050">
            <a:solidFill>
              <a:srgbClr val="0E8A78"/>
            </a:solidFill>
            <a:prstDash val="solid"/>
          </a:ln>
        </p:spPr>
      </p:sp>
      <p:sp>
        <p:nvSpPr>
          <p:cNvPr id="20" name="s7-next-title">
            <a:extLst xmlns:a="http://schemas.openxmlformats.org/drawingml/2006/main">
              <a:ext uri="{FF2B5EF4-FFF2-40B4-BE49-F238E27FC236}">
                <a16:creationId xmlns:a16="http://schemas.microsoft.com/office/drawing/2014/main" id="{D35D8C28-5AB2-4AFD-BA55-D45CF3AF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336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E8A78"/>
                </a:solidFill>
              </a:defRPr>
            </a:pPr>
            <a:r>
              <a:rPr sz="1125" b="1" i="0">
                <a:solidFill>
                  <a:srgbClr val="0E8A78"/>
                </a:solidFill>
              </a:rPr>
              <a:t>CONTROLLED VALIDATION</a:t>
            </a:r>
          </a:p>
        </p:txBody>
      </p:sp>
      <p:sp>
        <p:nvSpPr>
          <p:cNvPr id="21" name="s7-next-text">
            <a:extLst xmlns:a="http://schemas.openxmlformats.org/drawingml/2006/main">
              <a:ext uri="{FF2B5EF4-FFF2-40B4-BE49-F238E27FC236}">
                <a16:creationId xmlns:a16="http://schemas.microsoft.com/office/drawing/2014/main" id="{D169DD25-EA40-4033-9065-207D0C7A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18669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F33"/>
                </a:solidFill>
              </a:defRPr>
            </a:pPr>
            <a:r>
              <a:rPr sz="1200" b="0" i="0">
                <a:solidFill>
                  <a:srgbClr val="0B1F33"/>
                </a:solidFill>
              </a:rPr>
              <a:t>1  Build an approved evaluation 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0B1F33"/>
                </a:solidFill>
              </a:defRPr>
            </a:pPr>
            <a:r>
              <a:rPr sz="1200" b="0" i="0">
                <a:solidFill>
                  <a:srgbClr val="0B1F33"/>
                </a:solidFill>
              </a:rPr>
              <a:t>2  Measure evidence accuracy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0B1F33"/>
                </a:solidFill>
              </a:defRPr>
            </a:pPr>
            <a:r>
              <a:rPr sz="1200" b="0" i="0">
                <a:solidFill>
                  <a:srgbClr val="0B1F33"/>
                </a:solidFill>
              </a:rPr>
              <a:t>3  Calibrate rules with analysts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0B1F33"/>
                </a:solidFill>
              </a:defRPr>
            </a:pPr>
            <a:r>
              <a:rPr sz="1200" b="0" i="0">
                <a:solidFill>
                  <a:srgbClr val="0B1F33"/>
                </a:solidFill>
              </a:rPr>
              <a:t>4  Decide how duration and validity combine</a:t>
            </a:r>
          </a:p>
        </p:txBody>
      </p:sp>
      <p:sp>
        <p:nvSpPr>
          <p:cNvPr id="22" name="s7-close-band">
            <a:extLst xmlns:a="http://schemas.openxmlformats.org/drawingml/2006/main">
              <a:ext uri="{FF2B5EF4-FFF2-40B4-BE49-F238E27FC236}">
                <a16:creationId xmlns:a16="http://schemas.microsoft.com/office/drawing/2014/main" id="{278A4982-C23B-4C48-AF33-55E8475F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78"/>
          </a:solidFill>
          <a:ln xmlns:a="http://schemas.openxmlformats.org/drawingml/2006/main" w="19050">
            <a:solidFill>
              <a:srgbClr val="0E8A78"/>
            </a:solidFill>
            <a:prstDash val="solid"/>
          </a:ln>
        </p:spPr>
      </p:sp>
      <p:sp>
        <p:nvSpPr>
          <p:cNvPr id="23" name="s7-close-text">
            <a:extLst xmlns:a="http://schemas.openxmlformats.org/drawingml/2006/main">
              <a:ext uri="{FF2B5EF4-FFF2-40B4-BE49-F238E27FC236}">
                <a16:creationId xmlns:a16="http://schemas.microsoft.com/office/drawing/2014/main" id="{44DCA4F6-896E-47A1-A69D-91915FDF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150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Better decisions start with evidence that people can inspect.</a:t>
            </a:r>
          </a:p>
        </p:txBody>
      </p:sp>
      <p:sp>
        <p:nvSpPr>
          <p:cNvPr id="24" name="footer-7-label">
            <a:extLst xmlns:a="http://schemas.openxmlformats.org/drawingml/2006/main">
              <a:ext uri="{FF2B5EF4-FFF2-40B4-BE49-F238E27FC236}">
                <a16:creationId xmlns:a16="http://schemas.microsoft.com/office/drawing/2014/main" id="{1B1A2283-64C8-4195-B261-D0304453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B7C8F"/>
                </a:solidFill>
              </a:defRPr>
            </a:pPr>
            <a:r>
              <a:rPr sz="750" b="1" i="0">
                <a:solidFill>
                  <a:srgbClr val="6B7C8F"/>
                </a:solidFill>
              </a:rPr>
              <a:t>INSURANCE CALLING QA SYSTEM</a:t>
            </a:r>
          </a:p>
        </p:txBody>
      </p:sp>
      <p:sp>
        <p:nvSpPr>
          <p:cNvPr id="25" name="footer-7-number">
            <a:extLst xmlns:a="http://schemas.openxmlformats.org/drawingml/2006/main">
              <a:ext uri="{FF2B5EF4-FFF2-40B4-BE49-F238E27FC236}">
                <a16:creationId xmlns:a16="http://schemas.microsoft.com/office/drawing/2014/main" id="{DFA4F2B8-B3E0-42B6-81F2-A8AC0D5D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C8F"/>
                </a:solidFill>
              </a:defRPr>
            </a:pPr>
            <a:r>
              <a:rPr sz="825" b="1" i="0">
                <a:solidFill>
                  <a:srgbClr val="6B7C8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6740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2026-08-11T05:39:38.1090000Z</dcterms:created>
  <dcterms:modified xsi:type="dcterms:W3CDTF">2026-08-11T05:39:38.1090000Z</dcterms:modified>
</coreProperties>
</file>