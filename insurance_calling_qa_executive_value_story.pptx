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9adfc4633b49c2" /><Relationship Type="http://schemas.openxmlformats.org/officeDocument/2006/relationships/extended-properties" Target="/docProps/app.xml" Id="R25852f19db3748c3" /><Relationship Type="http://schemas.openxmlformats.org/officeDocument/2006/relationships/officeDocument" Target="/ppt/presentation.xml" Id="R2efafa60562649ce" /></Relationships>
</file>

<file path=ppt/presentation.xml><?xml version="1.0" encoding="utf-8"?>
<p:presentation xmlns:p="http://schemas.openxmlformats.org/presentationml/2006/main">
  <p:sldMasterIdLst>
    <p:sldMasterId xmlns:r="http://schemas.openxmlformats.org/officeDocument/2006/relationships" id="2147483648" r:id="R034487d4dfc143c5"/>
  </p:sldMasterIdLst>
  <p:notesMasterIdLst>
    <p:notesMasterId xmlns:r="http://schemas.openxmlformats.org/officeDocument/2006/relationships" r:id="R6bd6510908d342f1"/>
  </p:notesMasterIdLst>
  <p:sldIdLst>
    <p:sldId xmlns:r="http://schemas.openxmlformats.org/officeDocument/2006/relationships" id="256" r:id="R02f9eb41de6b417c"/>
    <p:sldId xmlns:r="http://schemas.openxmlformats.org/officeDocument/2006/relationships" id="257" r:id="R12df36a9bacd40ee"/>
    <p:sldId xmlns:r="http://schemas.openxmlformats.org/officeDocument/2006/relationships" id="258" r:id="R94ded88a0d1848af"/>
    <p:sldId xmlns:r="http://schemas.openxmlformats.org/officeDocument/2006/relationships" id="259" r:id="R43255cd7cb8b4b15"/>
    <p:sldId xmlns:r="http://schemas.openxmlformats.org/officeDocument/2006/relationships" id="260" r:id="Re76ba0aaea0a4b7d"/>
    <p:sldId xmlns:r="http://schemas.openxmlformats.org/officeDocument/2006/relationships" id="261" r:id="Rb963eaf841694722"/>
    <p:sldId xmlns:r="http://schemas.openxmlformats.org/officeDocument/2006/relationships" id="262" r:id="R7f9eca8f2cab438a"/>
    <p:sldId xmlns:r="http://schemas.openxmlformats.org/officeDocument/2006/relationships" id="263" r:id="Rb1f33e0976ee4b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63cb66119a4e79" /><Relationship Type="http://schemas.openxmlformats.org/officeDocument/2006/relationships/slideMaster" Target="/ppt/slideMasters/slideMaster1.xml" Id="R034487d4dfc143c5" /><Relationship Type="http://schemas.openxmlformats.org/officeDocument/2006/relationships/notesMaster" Target="/ppt/notesMasters/notesMaster1.xml" Id="R6bd6510908d342f1" /><Relationship Type="http://schemas.openxmlformats.org/officeDocument/2006/relationships/presProps" Target="/ppt/presProps.xml" Id="R3bfeff0af67f47c5" /><Relationship Type="http://schemas.openxmlformats.org/officeDocument/2006/relationships/tableStyles" Target="/ppt/tableStyles.xml" Id="R9790ced903c64633" /><Relationship Type="http://schemas.openxmlformats.org/officeDocument/2006/relationships/slide" Target="/ppt/slides/slide1.xml" Id="R02f9eb41de6b417c" /><Relationship Type="http://schemas.openxmlformats.org/officeDocument/2006/relationships/slide" Target="/ppt/slides/slide2.xml" Id="R12df36a9bacd40ee" /><Relationship Type="http://schemas.openxmlformats.org/officeDocument/2006/relationships/slide" Target="/ppt/slides/slide3.xml" Id="R94ded88a0d1848af" /><Relationship Type="http://schemas.openxmlformats.org/officeDocument/2006/relationships/slide" Target="/ppt/slides/slide4.xml" Id="R43255cd7cb8b4b15" /><Relationship Type="http://schemas.openxmlformats.org/officeDocument/2006/relationships/slide" Target="/ppt/slides/slide5.xml" Id="Re76ba0aaea0a4b7d" /><Relationship Type="http://schemas.openxmlformats.org/officeDocument/2006/relationships/slide" Target="/ppt/slides/slide6.xml" Id="Rb963eaf841694722" /><Relationship Type="http://schemas.openxmlformats.org/officeDocument/2006/relationships/slide" Target="/ppt/slides/slide7.xml" Id="R7f9eca8f2cab438a" /><Relationship Type="http://schemas.openxmlformats.org/officeDocument/2006/relationships/slide" Target="/ppt/slides/slide8.xml" Id="Rb1f33e0976ee4b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4901b7e41b45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2c88938f334f9e" /><Relationship Type="http://schemas.openxmlformats.org/officeDocument/2006/relationships/notesMaster" Target="/ppt/notesMasters/notesMaster1.xml" Id="R56f0b03ad23a4f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2c242490cd495a" /><Relationship Type="http://schemas.openxmlformats.org/officeDocument/2006/relationships/notesMaster" Target="/ppt/notesMasters/notesMaster1.xml" Id="R64da5f41720443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28b310975240ba" /><Relationship Type="http://schemas.openxmlformats.org/officeDocument/2006/relationships/notesMaster" Target="/ppt/notesMasters/notesMaster1.xml" Id="R3e73a188c73b49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78bf7aad314443" /><Relationship Type="http://schemas.openxmlformats.org/officeDocument/2006/relationships/notesMaster" Target="/ppt/notesMasters/notesMaster1.xml" Id="R78ab417d96a641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bf4d7383864337" /><Relationship Type="http://schemas.openxmlformats.org/officeDocument/2006/relationships/notesMaster" Target="/ppt/notesMasters/notesMaster1.xml" Id="Rdea0c7a493d246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f7920fa97947a1" /><Relationship Type="http://schemas.openxmlformats.org/officeDocument/2006/relationships/notesMaster" Target="/ppt/notesMasters/notesMaster1.xml" Id="Rde81546a315847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df133eb0964304" /><Relationship Type="http://schemas.openxmlformats.org/officeDocument/2006/relationships/notesMaster" Target="/ppt/notesMasters/notesMaster1.xml" Id="R6823f1fc4dfd4c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cd824d8e1e4404" /><Relationship Type="http://schemas.openxmlformats.org/officeDocument/2006/relationships/notesMaster" Target="/ppt/notesMasters/notesMaster1.xml" Id="R53bf85e2731a4d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executive thesis: the opportunity is to upgrade quality management from a labor-heavy check into a scalable business capability. The immediate decision is sponsorship for a controlled value pilot, with success measured in business outcomes.</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in business terms. A duration threshold is easy to count, but it cannot distinguish a long conversation with little value from a short conversation with meaningful content. This creates cost, coverage, and customer experience gaps.</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three stakeholder outcomes. The company gains capacity and a better cost curve; managers gain a reviewable record and faster issue discovery; customers experience less scripted filler and more consistent service.</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the product in business language. The flow moves from a recorded call to a transcript, then to a report with evidence, and finally to human action. The demonstration should show one call and one clear finding, not technical implementation details.</a:t>
            </a:r>
          </a:p>
          <a:p xmlns:a="http://schemas.openxmlformats.org/drawingml/2006/main">
            <a:r>
              <a:t/>
            </a:r>
          </a:p>
          <a:p xmlns:a="http://schemas.openxmlformats.org/drawingml/2006/main">
            <a:r>
              <a:t>[Sources]</a:t>
            </a:r>
          </a:p>
          <a:p xmlns:a="http://schemas.openxmlformats.org/drawingml/2006/main">
            <a:r>
              <a:t>- E:/Mia/insurance-qa-calling/src/services/worker_service.js</a:t>
            </a:r>
          </a:p>
          <a:p xmlns:a="http://schemas.openxmlformats.org/drawingml/2006/main">
            <a:r>
              <a:t>- E:/Mia/insurance-qa-calling/src/services/report_service.js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1,000-call example as an illustrative target case, not a committed result. The business hypothesis is that AI can route most routine calls and concentrate human effort on a smaller set of uncertain or high-value cases. The value stage should validate cost per call, review time, coverage, and finding quality.</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 E:/Mia/insurance-qa-calling/src/services/report_service.js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long-term value without overpromising. The starting point is insurance callbacks, but the same approach can extend to other service teams, products, and voice quality scenarios. Over time, structured call records and transcripts can reveal customer preferences and friction points that support business decisions.</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investment request. The next step is a controlled value pilot with agreed business owners, representative calls, and success thresholds. The goal is not to scale on faith; it is to create enough evidence for a confident scale decision.</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discussion around the value case, the target operating model, and the criteria management would want to see before expansion.</a:t>
            </a:r>
          </a:p>
          <a:p xmlns:a="http://schemas.openxmlformats.org/drawingml/2006/main">
            <a:r>
              <a:t/>
            </a:r>
          </a:p>
          <a:p xmlns:a="http://schemas.openxmlformats.org/drawingml/2006/main">
            <a:r>
              <a:t>[Sources]</a:t>
            </a:r>
          </a:p>
          <a:p xmlns:a="http://schemas.openxmlformats.org/drawingml/2006/main">
            <a:r>
              <a:t>- E:/Mia/insurance-qa-calling/README.md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c44c7acb1042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fbead8f6694266" /><Relationship Type="http://schemas.openxmlformats.org/officeDocument/2006/relationships/slideLayout" Target="/ppt/slideLayouts/slideLayout1.xml" Id="Ra16ecf19ac8242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ecf19ac8242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b52f277ccc4a70" /><Relationship Type="http://schemas.openxmlformats.org/officeDocument/2006/relationships/notesSlide" Target="/ppt/notesSlides/notesSlide1.xml" Id="R84f39b6b8c004c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707c6772494c71" /><Relationship Type="http://schemas.openxmlformats.org/officeDocument/2006/relationships/notesSlide" Target="/ppt/notesSlides/notesSlide2.xml" Id="R6686057e65fa4c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69c5714e7d466c" /><Relationship Type="http://schemas.openxmlformats.org/officeDocument/2006/relationships/notesSlide" Target="/ppt/notesSlides/notesSlide3.xml" Id="R5fbb47d201304d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0df7f7195e4c3a" /><Relationship Type="http://schemas.openxmlformats.org/officeDocument/2006/relationships/notesSlide" Target="/ppt/notesSlides/notesSlide4.xml" Id="Rb25b139024794c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ba1f7e0cd34a29" /><Relationship Type="http://schemas.openxmlformats.org/officeDocument/2006/relationships/notesSlide" Target="/ppt/notesSlides/notesSlide5.xml" Id="R6d66fd88390d4b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78f968b26c4fb9" /><Relationship Type="http://schemas.openxmlformats.org/officeDocument/2006/relationships/notesSlide" Target="/ppt/notesSlides/notesSlide6.xml" Id="Rb5ff4d04cf8b45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45ff0ec3284f9d" /><Relationship Type="http://schemas.openxmlformats.org/officeDocument/2006/relationships/notesSlide" Target="/ppt/notesSlides/notesSlide7.xml" Id="R4aa0cc99862841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642d9b70d64be7" /><Relationship Type="http://schemas.openxmlformats.org/officeDocument/2006/relationships/notesSlide" Target="/ppt/notesSlides/notesSlide8.xml" Id="R10b90b4227474855" /></Relationships>
</file>

<file path=ppt/slides/slide1.xml><?xml version="1.0" encoding="utf-8"?>
<p:sld xmlns:p="http://schemas.openxmlformats.org/presentationml/2006/main">
  <p:cSld>
    <p:bg>
      <p:bgPr>
        <a:solidFill xmlns:a="http://schemas.openxmlformats.org/drawingml/2006/main">
          <a:srgbClr val="0B1736"/>
        </a:solidFill>
      </p:bgPr>
    </p:bg>
    <p:spTree>
      <p:nvGrpSpPr>
        <p:cNvPr id="1" name=""/>
        <p:cNvGrpSpPr/>
        <p:nvPr/>
      </p:nvGrpSpPr>
      <p:grpSpPr>
        <a:xfrm xmlns:a="http://schemas.openxmlformats.org/drawingml/2006/main"/>
      </p:grpSpPr>
      <p:sp>
        <p:nvSpPr>
          <p:cNvPr id="27" name="shape-1">
            <a:extLst xmlns:a="http://schemas.openxmlformats.org/drawingml/2006/main">
              <a:ext uri="{FF2B5EF4-FFF2-40B4-BE49-F238E27FC236}">
                <a16:creationId xmlns:a16="http://schemas.microsoft.com/office/drawing/2014/main" id="{7EE4734A-5077-496A-B03E-097960FF09F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736"/>
          </a:solidFill>
          <a:ln xmlns:a="http://schemas.openxmlformats.org/drawingml/2006/main" w="0">
            <a:solidFill>
              <a:srgbClr val="0B1736"/>
            </a:solidFill>
            <a:prstDash val="solid"/>
          </a:ln>
        </p:spPr>
      </p:sp>
      <p:sp>
        <p:nvSpPr>
          <p:cNvPr id="2" name="shape-2">
            <a:extLst xmlns:a="http://schemas.openxmlformats.org/drawingml/2006/main">
              <a:ext uri="{FF2B5EF4-FFF2-40B4-BE49-F238E27FC236}">
                <a16:creationId xmlns:a16="http://schemas.microsoft.com/office/drawing/2014/main" id="{D73680EE-855C-4C7C-86B1-3AD85920B3A7}"/>
              </a:ext>
            </a:extLst>
          </p:cNvPr>
          <p:cNvSpPr>
            <a:spLocks xmlns:a="http://schemas.openxmlformats.org/drawingml/2006/main" noGrp="1"/>
          </p:cNvSpPr>
          <p:nvPr/>
        </p:nvSpPr>
        <p:spPr>
          <a:xfrm xmlns:a="http://schemas.openxmlformats.org/drawingml/2006/main">
            <a:off x="0" y="0"/>
            <a:ext cx="164592" cy="6858000"/>
          </a:xfrm>
          <a:prstGeom xmlns:a="http://schemas.openxmlformats.org/drawingml/2006/main" prst="rect">
            <a:avLst/>
          </a:prstGeom>
          <a:solidFill xmlns:a="http://schemas.openxmlformats.org/drawingml/2006/main">
            <a:srgbClr val="26C6DA"/>
          </a:solidFill>
          <a:ln xmlns:a="http://schemas.openxmlformats.org/drawingml/2006/main" w="0">
            <a:solidFill>
              <a:srgbClr val="26C6DA"/>
            </a:solidFill>
            <a:prstDash val="solid"/>
          </a:ln>
        </p:spPr>
      </p:sp>
      <p:sp>
        <p:nvSpPr>
          <p:cNvPr id="3" name="text-3">
            <a:extLst xmlns:a="http://schemas.openxmlformats.org/drawingml/2006/main">
              <a:ext uri="{FF2B5EF4-FFF2-40B4-BE49-F238E27FC236}">
                <a16:creationId xmlns:a16="http://schemas.microsoft.com/office/drawing/2014/main" id="{5069639D-8199-4A96-8C06-B06732772050}"/>
              </a:ext>
            </a:extLst>
          </p:cNvPr>
          <p:cNvSpPr>
            <a:spLocks xmlns:a="http://schemas.openxmlformats.org/drawingml/2006/main" noGrp="1"/>
          </p:cNvSpPr>
          <p:nvPr/>
        </p:nvSpPr>
        <p:spPr>
          <a:xfrm xmlns:a="http://schemas.openxmlformats.org/drawingml/2006/main">
            <a:off x="713232" y="685800"/>
            <a:ext cx="5760720"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26C6DA"/>
                </a:solidFill>
              </a:defRPr>
            </a:pPr>
            <a:r>
              <a:rPr sz="900" b="1" i="0">
                <a:solidFill>
                  <a:srgbClr val="26C6DA"/>
                </a:solidFill>
              </a:rPr>
              <a:t>EXECUTIVE VALUE STORY | INSURANCE CUSTOMER SERVICE</a:t>
            </a:r>
          </a:p>
        </p:txBody>
      </p:sp>
      <p:sp>
        <p:nvSpPr>
          <p:cNvPr id="4" name="text-4">
            <a:extLst xmlns:a="http://schemas.openxmlformats.org/drawingml/2006/main">
              <a:ext uri="{FF2B5EF4-FFF2-40B4-BE49-F238E27FC236}">
                <a16:creationId xmlns:a16="http://schemas.microsoft.com/office/drawing/2014/main" id="{9BD213F4-3A3E-4F7C-818C-4B7CFC700111}"/>
              </a:ext>
            </a:extLst>
          </p:cNvPr>
          <p:cNvSpPr>
            <a:spLocks xmlns:a="http://schemas.openxmlformats.org/drawingml/2006/main" noGrp="1"/>
          </p:cNvSpPr>
          <p:nvPr/>
        </p:nvSpPr>
        <p:spPr>
          <a:xfrm xmlns:a="http://schemas.openxmlformats.org/drawingml/2006/main">
            <a:off x="685800" y="1143000"/>
            <a:ext cx="5852160" cy="1298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i="0">
                <a:solidFill>
                  <a:srgbClr val="FFFFFF"/>
                </a:solidFill>
              </a:defRPr>
            </a:pPr>
            <a:r>
              <a:rPr sz="3150" b="1" i="0">
                <a:solidFill>
                  <a:srgbClr val="FFFFFF"/>
                </a:solidFill>
              </a:rPr>
              <a:t>A smarter way to</a:t>
            </a:r>
          </a:p>
          <a:p xmlns:a="http://schemas.openxmlformats.org/drawingml/2006/main">
            <a:pPr algn="l">
              <a:defRPr sz="3150" b="1" i="0">
                <a:solidFill>
                  <a:srgbClr val="FFFFFF"/>
                </a:solidFill>
              </a:defRPr>
            </a:pPr>
            <a:r>
              <a:rPr sz="3150" b="1" i="0">
                <a:solidFill>
                  <a:srgbClr val="FFFFFF"/>
                </a:solidFill>
              </a:rPr>
              <a:t>manage service quality</a:t>
            </a:r>
          </a:p>
        </p:txBody>
      </p:sp>
      <p:sp>
        <p:nvSpPr>
          <p:cNvPr id="5" name="text-5">
            <a:extLst xmlns:a="http://schemas.openxmlformats.org/drawingml/2006/main">
              <a:ext uri="{FF2B5EF4-FFF2-40B4-BE49-F238E27FC236}">
                <a16:creationId xmlns:a16="http://schemas.microsoft.com/office/drawing/2014/main" id="{70E06D1D-E639-4F8E-ACC9-B01B8E030D81}"/>
              </a:ext>
            </a:extLst>
          </p:cNvPr>
          <p:cNvSpPr>
            <a:spLocks xmlns:a="http://schemas.openxmlformats.org/drawingml/2006/main" noGrp="1"/>
          </p:cNvSpPr>
          <p:nvPr/>
        </p:nvSpPr>
        <p:spPr>
          <a:xfrm xmlns:a="http://schemas.openxmlformats.org/drawingml/2006/main">
            <a:off x="731520" y="2788920"/>
            <a:ext cx="5166360" cy="7498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D9E6FF"/>
                </a:solidFill>
              </a:defRPr>
            </a:pPr>
            <a:r>
              <a:rPr sz="1500" b="0" i="0">
                <a:solidFill>
                  <a:srgbClr val="D9E6FF"/>
                </a:solidFill>
              </a:rPr>
              <a:t>AI-driven quality management that lowers review effort, improves customer conversations, and scales with the business.</a:t>
            </a:r>
          </a:p>
        </p:txBody>
      </p:sp>
      <p:sp>
        <p:nvSpPr>
          <p:cNvPr id="6" name="shape-6">
            <a:extLst xmlns:a="http://schemas.openxmlformats.org/drawingml/2006/main">
              <a:ext uri="{FF2B5EF4-FFF2-40B4-BE49-F238E27FC236}">
                <a16:creationId xmlns:a16="http://schemas.microsoft.com/office/drawing/2014/main" id="{C00B59D3-FA50-44E1-9C90-B9C8EBA39303}"/>
              </a:ext>
            </a:extLst>
          </p:cNvPr>
          <p:cNvSpPr>
            <a:spLocks xmlns:a="http://schemas.openxmlformats.org/drawingml/2006/main" noGrp="1"/>
          </p:cNvSpPr>
          <p:nvPr/>
        </p:nvSpPr>
        <p:spPr>
          <a:xfrm xmlns:a="http://schemas.openxmlformats.org/drawingml/2006/main">
            <a:off x="731520" y="3931920"/>
            <a:ext cx="4800600" cy="265176"/>
          </a:xfrm>
          <a:prstGeom xmlns:a="http://schemas.openxmlformats.org/drawingml/2006/main" prst="roundRect">
            <a:avLst>
              <a:gd name="adj" fmla="val 28736"/>
            </a:avLst>
          </a:prstGeom>
          <a:solidFill xmlns:a="http://schemas.openxmlformats.org/drawingml/2006/main">
            <a:srgbClr val="F4B740"/>
          </a:solidFill>
          <a:ln xmlns:a="http://schemas.openxmlformats.org/drawingml/2006/main" w="0">
            <a:solidFill>
              <a:srgbClr val="F4B740"/>
            </a:solidFill>
            <a:prstDash val="solid"/>
          </a:ln>
        </p:spPr>
      </p:sp>
      <p:sp>
        <p:nvSpPr>
          <p:cNvPr id="7" name="text-7">
            <a:extLst xmlns:a="http://schemas.openxmlformats.org/drawingml/2006/main">
              <a:ext uri="{FF2B5EF4-FFF2-40B4-BE49-F238E27FC236}">
                <a16:creationId xmlns:a16="http://schemas.microsoft.com/office/drawing/2014/main" id="{33087B5F-A423-4CF6-BC59-FB0177C97599}"/>
              </a:ext>
            </a:extLst>
          </p:cNvPr>
          <p:cNvSpPr>
            <a:spLocks xmlns:a="http://schemas.openxmlformats.org/drawingml/2006/main" noGrp="1"/>
          </p:cNvSpPr>
          <p:nvPr/>
        </p:nvSpPr>
        <p:spPr>
          <a:xfrm xmlns:a="http://schemas.openxmlformats.org/drawingml/2006/main">
            <a:off x="822960" y="3950208"/>
            <a:ext cx="461772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40" b="1" i="0">
                <a:solidFill>
                  <a:srgbClr val="0B1736"/>
                </a:solidFill>
              </a:defRPr>
            </a:pPr>
            <a:r>
              <a:rPr sz="840" b="1" i="0">
                <a:solidFill>
                  <a:srgbClr val="0B1736"/>
                </a:solidFill>
              </a:rPr>
              <a:t>DECISION REQUESTED: SPONSOR A CONTROLLED VALUE PILOT</a:t>
            </a:r>
          </a:p>
        </p:txBody>
      </p:sp>
      <p:sp>
        <p:nvSpPr>
          <p:cNvPr id="8" name="text-8">
            <a:extLst xmlns:a="http://schemas.openxmlformats.org/drawingml/2006/main">
              <a:ext uri="{FF2B5EF4-FFF2-40B4-BE49-F238E27FC236}">
                <a16:creationId xmlns:a16="http://schemas.microsoft.com/office/drawing/2014/main" id="{060BD108-FB17-4A41-A8B2-7DD6C6698D4A}"/>
              </a:ext>
            </a:extLst>
          </p:cNvPr>
          <p:cNvSpPr>
            <a:spLocks xmlns:a="http://schemas.openxmlformats.org/drawingml/2006/main" noGrp="1"/>
          </p:cNvSpPr>
          <p:nvPr/>
        </p:nvSpPr>
        <p:spPr>
          <a:xfrm xmlns:a="http://schemas.openxmlformats.org/drawingml/2006/main">
            <a:off x="749808" y="4590288"/>
            <a:ext cx="4389120" cy="274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FFFFF"/>
                </a:solidFill>
              </a:defRPr>
            </a:pPr>
            <a:r>
              <a:rPr sz="1275" b="1" i="0">
                <a:solidFill>
                  <a:srgbClr val="FFFFFF"/>
                </a:solidFill>
              </a:rPr>
              <a:t>Measure value first. Scale what works.</a:t>
            </a:r>
          </a:p>
        </p:txBody>
      </p:sp>
      <p:sp>
        <p:nvSpPr>
          <p:cNvPr id="9" name="text-9">
            <a:extLst xmlns:a="http://schemas.openxmlformats.org/drawingml/2006/main">
              <a:ext uri="{FF2B5EF4-FFF2-40B4-BE49-F238E27FC236}">
                <a16:creationId xmlns:a16="http://schemas.microsoft.com/office/drawing/2014/main" id="{8E14D976-E104-4867-A99A-5500BE3FC03C}"/>
              </a:ext>
            </a:extLst>
          </p:cNvPr>
          <p:cNvSpPr>
            <a:spLocks xmlns:a="http://schemas.openxmlformats.org/drawingml/2006/main" noGrp="1"/>
          </p:cNvSpPr>
          <p:nvPr/>
        </p:nvSpPr>
        <p:spPr>
          <a:xfrm xmlns:a="http://schemas.openxmlformats.org/drawingml/2006/main">
            <a:off x="6839712" y="877824"/>
            <a:ext cx="4389120"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i="0">
                <a:solidFill>
                  <a:srgbClr val="A9C4F4"/>
                </a:solidFill>
              </a:defRPr>
            </a:pPr>
            <a:r>
              <a:rPr sz="825" b="1" i="0">
                <a:solidFill>
                  <a:srgbClr val="A9C4F4"/>
                </a:solidFill>
              </a:rPr>
              <a:t>FROM CALL VOLUME TO BUSINESS VALUE</a:t>
            </a:r>
          </a:p>
        </p:txBody>
      </p:sp>
      <p:sp>
        <p:nvSpPr>
          <p:cNvPr id="10" name="shape-10">
            <a:extLst xmlns:a="http://schemas.openxmlformats.org/drawingml/2006/main">
              <a:ext uri="{FF2B5EF4-FFF2-40B4-BE49-F238E27FC236}">
                <a16:creationId xmlns:a16="http://schemas.microsoft.com/office/drawing/2014/main" id="{BB6A0A8B-BA5D-4B01-9B96-1A44ECDF77B7}"/>
              </a:ext>
            </a:extLst>
          </p:cNvPr>
          <p:cNvSpPr>
            <a:spLocks xmlns:a="http://schemas.openxmlformats.org/drawingml/2006/main" noGrp="1"/>
          </p:cNvSpPr>
          <p:nvPr/>
        </p:nvSpPr>
        <p:spPr>
          <a:xfrm xmlns:a="http://schemas.openxmlformats.org/drawingml/2006/main">
            <a:off x="6446520" y="1353312"/>
            <a:ext cx="4956048" cy="4160520"/>
          </a:xfrm>
          <a:prstGeom xmlns:a="http://schemas.openxmlformats.org/drawingml/2006/main" prst="roundRect">
            <a:avLst>
              <a:gd name="adj" fmla="val 1832"/>
            </a:avLst>
          </a:prstGeom>
          <a:solidFill xmlns:a="http://schemas.openxmlformats.org/drawingml/2006/main">
            <a:srgbClr val="13234B"/>
          </a:solidFill>
          <a:ln xmlns:a="http://schemas.openxmlformats.org/drawingml/2006/main" w="11430">
            <a:solidFill>
              <a:srgbClr val="38588C"/>
            </a:solidFill>
            <a:prstDash val="solid"/>
          </a:ln>
        </p:spPr>
      </p:sp>
      <p:sp>
        <p:nvSpPr>
          <p:cNvPr id="11" name="shape-11">
            <a:extLst xmlns:a="http://schemas.openxmlformats.org/drawingml/2006/main">
              <a:ext uri="{FF2B5EF4-FFF2-40B4-BE49-F238E27FC236}">
                <a16:creationId xmlns:a16="http://schemas.microsoft.com/office/drawing/2014/main" id="{CD093349-4DE2-4FFB-9E10-DEF2FF649765}"/>
              </a:ext>
            </a:extLst>
          </p:cNvPr>
          <p:cNvSpPr>
            <a:spLocks xmlns:a="http://schemas.openxmlformats.org/drawingml/2006/main" noGrp="1"/>
          </p:cNvSpPr>
          <p:nvPr/>
        </p:nvSpPr>
        <p:spPr>
          <a:xfrm xmlns:a="http://schemas.openxmlformats.org/drawingml/2006/main">
            <a:off x="6876288" y="1883664"/>
            <a:ext cx="713232" cy="713232"/>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2" name="text-12">
            <a:extLst xmlns:a="http://schemas.openxmlformats.org/drawingml/2006/main">
              <a:ext uri="{FF2B5EF4-FFF2-40B4-BE49-F238E27FC236}">
                <a16:creationId xmlns:a16="http://schemas.microsoft.com/office/drawing/2014/main" id="{45EB9293-23B3-4A21-A92B-3BEAA4557767}"/>
              </a:ext>
            </a:extLst>
          </p:cNvPr>
          <p:cNvSpPr>
            <a:spLocks xmlns:a="http://schemas.openxmlformats.org/drawingml/2006/main" noGrp="1"/>
          </p:cNvSpPr>
          <p:nvPr/>
        </p:nvSpPr>
        <p:spPr>
          <a:xfrm xmlns:a="http://schemas.openxmlformats.org/drawingml/2006/main">
            <a:off x="6876288" y="1892808"/>
            <a:ext cx="713232" cy="694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FFFFFF"/>
                </a:solidFill>
              </a:defRPr>
            </a:pPr>
            <a:r>
              <a:rPr sz="1200" b="1" i="0">
                <a:solidFill>
                  <a:srgbClr val="FFFFFF"/>
                </a:solidFill>
              </a:rPr>
              <a:t>01</a:t>
            </a:r>
          </a:p>
        </p:txBody>
      </p:sp>
      <p:sp>
        <p:nvSpPr>
          <p:cNvPr id="13" name="text-13">
            <a:extLst xmlns:a="http://schemas.openxmlformats.org/drawingml/2006/main">
              <a:ext uri="{FF2B5EF4-FFF2-40B4-BE49-F238E27FC236}">
                <a16:creationId xmlns:a16="http://schemas.microsoft.com/office/drawing/2014/main" id="{AA7D3AEB-1372-4D95-A2D7-07E10EE84EA0}"/>
              </a:ext>
            </a:extLst>
          </p:cNvPr>
          <p:cNvSpPr>
            <a:spLocks xmlns:a="http://schemas.openxmlformats.org/drawingml/2006/main" noGrp="1"/>
          </p:cNvSpPr>
          <p:nvPr/>
        </p:nvSpPr>
        <p:spPr>
          <a:xfrm xmlns:a="http://schemas.openxmlformats.org/drawingml/2006/main">
            <a:off x="7790688" y="1901952"/>
            <a:ext cx="196596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FFFF"/>
                </a:solidFill>
              </a:defRPr>
            </a:pPr>
            <a:r>
              <a:rPr sz="1200" b="1" i="0">
                <a:solidFill>
                  <a:srgbClr val="FFFFFF"/>
                </a:solidFill>
              </a:rPr>
              <a:t>CALL RECORDS</a:t>
            </a:r>
          </a:p>
        </p:txBody>
      </p:sp>
      <p:sp>
        <p:nvSpPr>
          <p:cNvPr id="14" name="text-14">
            <a:extLst xmlns:a="http://schemas.openxmlformats.org/drawingml/2006/main">
              <a:ext uri="{FF2B5EF4-FFF2-40B4-BE49-F238E27FC236}">
                <a16:creationId xmlns:a16="http://schemas.microsoft.com/office/drawing/2014/main" id="{7CB7BCEF-1C04-40DE-B85A-30F5B8B24052}"/>
              </a:ext>
            </a:extLst>
          </p:cNvPr>
          <p:cNvSpPr>
            <a:spLocks xmlns:a="http://schemas.openxmlformats.org/drawingml/2006/main" noGrp="1"/>
          </p:cNvSpPr>
          <p:nvPr/>
        </p:nvSpPr>
        <p:spPr>
          <a:xfrm xmlns:a="http://schemas.openxmlformats.org/drawingml/2006/main">
            <a:off x="7790688" y="2185416"/>
            <a:ext cx="26517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0">
                <a:solidFill>
                  <a:srgbClr val="C9D7F0"/>
                </a:solidFill>
              </a:defRPr>
            </a:pPr>
            <a:r>
              <a:rPr sz="975" b="0" i="0">
                <a:solidFill>
                  <a:srgbClr val="C9D7F0"/>
                </a:solidFill>
              </a:rPr>
              <a:t>Every conversation becomes observable</a:t>
            </a:r>
          </a:p>
        </p:txBody>
      </p:sp>
      <p:sp>
        <p:nvSpPr>
          <p:cNvPr id="15" name="shape-15">
            <a:extLst xmlns:a="http://schemas.openxmlformats.org/drawingml/2006/main">
              <a:ext uri="{FF2B5EF4-FFF2-40B4-BE49-F238E27FC236}">
                <a16:creationId xmlns:a16="http://schemas.microsoft.com/office/drawing/2014/main" id="{0D9ACFAC-000C-4A1E-B5E6-431F641E7A31}"/>
              </a:ext>
            </a:extLst>
          </p:cNvPr>
          <p:cNvSpPr>
            <a:spLocks xmlns:a="http://schemas.openxmlformats.org/drawingml/2006/main" noGrp="1"/>
          </p:cNvSpPr>
          <p:nvPr/>
        </p:nvSpPr>
        <p:spPr>
          <a:xfrm xmlns:a="http://schemas.openxmlformats.org/drawingml/2006/main">
            <a:off x="7315200" y="2688336"/>
            <a:ext cx="0" cy="283464"/>
          </a:xfrm>
          <a:prstGeom xmlns:a="http://schemas.openxmlformats.org/drawingml/2006/main" prst="line">
            <a:avLst/>
          </a:prstGeom>
          <a:noFill xmlns:a="http://schemas.openxmlformats.org/drawingml/2006/main"/>
          <a:ln xmlns:a="http://schemas.openxmlformats.org/drawingml/2006/main" w="20003">
            <a:solidFill>
              <a:srgbClr val="26C6DA"/>
            </a:solidFill>
            <a:prstDash val="solid"/>
          </a:ln>
        </p:spPr>
      </p:sp>
      <p:sp>
        <p:nvSpPr>
          <p:cNvPr id="16" name="shape-16">
            <a:extLst xmlns:a="http://schemas.openxmlformats.org/drawingml/2006/main">
              <a:ext uri="{FF2B5EF4-FFF2-40B4-BE49-F238E27FC236}">
                <a16:creationId xmlns:a16="http://schemas.microsoft.com/office/drawing/2014/main" id="{BBD83067-B10C-48A6-B2A2-798C888D1CA2}"/>
              </a:ext>
            </a:extLst>
          </p:cNvPr>
          <p:cNvSpPr>
            <a:spLocks xmlns:a="http://schemas.openxmlformats.org/drawingml/2006/main" noGrp="1"/>
          </p:cNvSpPr>
          <p:nvPr/>
        </p:nvSpPr>
        <p:spPr>
          <a:xfrm xmlns:a="http://schemas.openxmlformats.org/drawingml/2006/main">
            <a:off x="6876288" y="3054096"/>
            <a:ext cx="713232" cy="713232"/>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17" name="text-17">
            <a:extLst xmlns:a="http://schemas.openxmlformats.org/drawingml/2006/main">
              <a:ext uri="{FF2B5EF4-FFF2-40B4-BE49-F238E27FC236}">
                <a16:creationId xmlns:a16="http://schemas.microsoft.com/office/drawing/2014/main" id="{5FCCD044-64CB-4B1A-96A6-F8965ED66C7C}"/>
              </a:ext>
            </a:extLst>
          </p:cNvPr>
          <p:cNvSpPr>
            <a:spLocks xmlns:a="http://schemas.openxmlformats.org/drawingml/2006/main" noGrp="1"/>
          </p:cNvSpPr>
          <p:nvPr/>
        </p:nvSpPr>
        <p:spPr>
          <a:xfrm xmlns:a="http://schemas.openxmlformats.org/drawingml/2006/main">
            <a:off x="6876288" y="3063240"/>
            <a:ext cx="713232" cy="694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0B1736"/>
                </a:solidFill>
              </a:defRPr>
            </a:pPr>
            <a:r>
              <a:rPr sz="1200" b="1" i="0">
                <a:solidFill>
                  <a:srgbClr val="0B1736"/>
                </a:solidFill>
              </a:rPr>
              <a:t>02</a:t>
            </a:r>
          </a:p>
        </p:txBody>
      </p:sp>
      <p:sp>
        <p:nvSpPr>
          <p:cNvPr id="18" name="text-18">
            <a:extLst xmlns:a="http://schemas.openxmlformats.org/drawingml/2006/main">
              <a:ext uri="{FF2B5EF4-FFF2-40B4-BE49-F238E27FC236}">
                <a16:creationId xmlns:a16="http://schemas.microsoft.com/office/drawing/2014/main" id="{E3BCCB99-EAC7-4C57-B019-C8E0859D1D98}"/>
              </a:ext>
            </a:extLst>
          </p:cNvPr>
          <p:cNvSpPr>
            <a:spLocks xmlns:a="http://schemas.openxmlformats.org/drawingml/2006/main" noGrp="1"/>
          </p:cNvSpPr>
          <p:nvPr/>
        </p:nvSpPr>
        <p:spPr>
          <a:xfrm xmlns:a="http://schemas.openxmlformats.org/drawingml/2006/main">
            <a:off x="7790688" y="3072384"/>
            <a:ext cx="22860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FFFF"/>
                </a:solidFill>
              </a:defRPr>
            </a:pPr>
            <a:r>
              <a:rPr sz="1200" b="1" i="0">
                <a:solidFill>
                  <a:srgbClr val="FFFFFF"/>
                </a:solidFill>
              </a:rPr>
              <a:t>QUALITY SIGNAL</a:t>
            </a:r>
          </a:p>
        </p:txBody>
      </p:sp>
      <p:sp>
        <p:nvSpPr>
          <p:cNvPr id="19" name="text-19">
            <a:extLst xmlns:a="http://schemas.openxmlformats.org/drawingml/2006/main">
              <a:ext uri="{FF2B5EF4-FFF2-40B4-BE49-F238E27FC236}">
                <a16:creationId xmlns:a16="http://schemas.microsoft.com/office/drawing/2014/main" id="{6CDEA551-56C4-4DFC-9883-56F1F8ED9DE4}"/>
              </a:ext>
            </a:extLst>
          </p:cNvPr>
          <p:cNvSpPr>
            <a:spLocks xmlns:a="http://schemas.openxmlformats.org/drawingml/2006/main" noGrp="1"/>
          </p:cNvSpPr>
          <p:nvPr/>
        </p:nvSpPr>
        <p:spPr>
          <a:xfrm xmlns:a="http://schemas.openxmlformats.org/drawingml/2006/main">
            <a:off x="7790688" y="3355848"/>
            <a:ext cx="29260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0">
                <a:solidFill>
                  <a:srgbClr val="C9D7F0"/>
                </a:solidFill>
              </a:defRPr>
            </a:pPr>
            <a:r>
              <a:rPr sz="975" b="0" i="0">
                <a:solidFill>
                  <a:srgbClr val="C9D7F0"/>
                </a:solidFill>
              </a:rPr>
              <a:t>Value, evidence, and exceptions are visible</a:t>
            </a:r>
          </a:p>
        </p:txBody>
      </p:sp>
      <p:sp>
        <p:nvSpPr>
          <p:cNvPr id="20" name="shape-20">
            <a:extLst xmlns:a="http://schemas.openxmlformats.org/drawingml/2006/main">
              <a:ext uri="{FF2B5EF4-FFF2-40B4-BE49-F238E27FC236}">
                <a16:creationId xmlns:a16="http://schemas.microsoft.com/office/drawing/2014/main" id="{80ECAE12-5FEE-4F8A-8C8C-8606E00AC629}"/>
              </a:ext>
            </a:extLst>
          </p:cNvPr>
          <p:cNvSpPr>
            <a:spLocks xmlns:a="http://schemas.openxmlformats.org/drawingml/2006/main" noGrp="1"/>
          </p:cNvSpPr>
          <p:nvPr/>
        </p:nvSpPr>
        <p:spPr>
          <a:xfrm xmlns:a="http://schemas.openxmlformats.org/drawingml/2006/main">
            <a:off x="7315200" y="3858768"/>
            <a:ext cx="0" cy="283464"/>
          </a:xfrm>
          <a:prstGeom xmlns:a="http://schemas.openxmlformats.org/drawingml/2006/main" prst="line">
            <a:avLst/>
          </a:prstGeom>
          <a:noFill xmlns:a="http://schemas.openxmlformats.org/drawingml/2006/main"/>
          <a:ln xmlns:a="http://schemas.openxmlformats.org/drawingml/2006/main" w="20003">
            <a:solidFill>
              <a:srgbClr val="26C6DA"/>
            </a:solidFill>
            <a:prstDash val="solid"/>
          </a:ln>
        </p:spPr>
      </p:sp>
      <p:sp>
        <p:nvSpPr>
          <p:cNvPr id="21" name="shape-21">
            <a:extLst xmlns:a="http://schemas.openxmlformats.org/drawingml/2006/main">
              <a:ext uri="{FF2B5EF4-FFF2-40B4-BE49-F238E27FC236}">
                <a16:creationId xmlns:a16="http://schemas.microsoft.com/office/drawing/2014/main" id="{0A513E6E-49AC-4F91-9016-C1775052D8F4}"/>
              </a:ext>
            </a:extLst>
          </p:cNvPr>
          <p:cNvSpPr>
            <a:spLocks xmlns:a="http://schemas.openxmlformats.org/drawingml/2006/main" noGrp="1"/>
          </p:cNvSpPr>
          <p:nvPr/>
        </p:nvSpPr>
        <p:spPr>
          <a:xfrm xmlns:a="http://schemas.openxmlformats.org/drawingml/2006/main">
            <a:off x="6876288" y="4224528"/>
            <a:ext cx="713232" cy="713232"/>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2" name="text-22">
            <a:extLst xmlns:a="http://schemas.openxmlformats.org/drawingml/2006/main">
              <a:ext uri="{FF2B5EF4-FFF2-40B4-BE49-F238E27FC236}">
                <a16:creationId xmlns:a16="http://schemas.microsoft.com/office/drawing/2014/main" id="{CB6E4876-3889-447C-8163-229D698B43A5}"/>
              </a:ext>
            </a:extLst>
          </p:cNvPr>
          <p:cNvSpPr>
            <a:spLocks xmlns:a="http://schemas.openxmlformats.org/drawingml/2006/main" noGrp="1"/>
          </p:cNvSpPr>
          <p:nvPr/>
        </p:nvSpPr>
        <p:spPr>
          <a:xfrm xmlns:a="http://schemas.openxmlformats.org/drawingml/2006/main">
            <a:off x="6876288" y="4233672"/>
            <a:ext cx="713232" cy="694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FFFFFF"/>
                </a:solidFill>
              </a:defRPr>
            </a:pPr>
            <a:r>
              <a:rPr sz="1200" b="1" i="0">
                <a:solidFill>
                  <a:srgbClr val="FFFFFF"/>
                </a:solidFill>
              </a:rPr>
              <a:t>03</a:t>
            </a:r>
          </a:p>
        </p:txBody>
      </p:sp>
      <p:sp>
        <p:nvSpPr>
          <p:cNvPr id="23" name="text-23">
            <a:extLst xmlns:a="http://schemas.openxmlformats.org/drawingml/2006/main">
              <a:ext uri="{FF2B5EF4-FFF2-40B4-BE49-F238E27FC236}">
                <a16:creationId xmlns:a16="http://schemas.microsoft.com/office/drawing/2014/main" id="{5D7A2A56-948D-47A4-B16C-E081E07A1C72}"/>
              </a:ext>
            </a:extLst>
          </p:cNvPr>
          <p:cNvSpPr>
            <a:spLocks xmlns:a="http://schemas.openxmlformats.org/drawingml/2006/main" noGrp="1"/>
          </p:cNvSpPr>
          <p:nvPr/>
        </p:nvSpPr>
        <p:spPr>
          <a:xfrm xmlns:a="http://schemas.openxmlformats.org/drawingml/2006/main">
            <a:off x="7790688" y="4242816"/>
            <a:ext cx="25146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FFFF"/>
                </a:solidFill>
              </a:defRPr>
            </a:pPr>
            <a:r>
              <a:rPr sz="1200" b="1" i="0">
                <a:solidFill>
                  <a:srgbClr val="FFFFFF"/>
                </a:solidFill>
              </a:rPr>
              <a:t>BUSINESS ACTION</a:t>
            </a:r>
          </a:p>
        </p:txBody>
      </p:sp>
      <p:sp>
        <p:nvSpPr>
          <p:cNvPr id="24" name="text-24">
            <a:extLst xmlns:a="http://schemas.openxmlformats.org/drawingml/2006/main">
              <a:ext uri="{FF2B5EF4-FFF2-40B4-BE49-F238E27FC236}">
                <a16:creationId xmlns:a16="http://schemas.microsoft.com/office/drawing/2014/main" id="{38E29188-9B90-4C53-B3E4-0660CC73C9FA}"/>
              </a:ext>
            </a:extLst>
          </p:cNvPr>
          <p:cNvSpPr>
            <a:spLocks xmlns:a="http://schemas.openxmlformats.org/drawingml/2006/main" noGrp="1"/>
          </p:cNvSpPr>
          <p:nvPr/>
        </p:nvSpPr>
        <p:spPr>
          <a:xfrm xmlns:a="http://schemas.openxmlformats.org/drawingml/2006/main">
            <a:off x="7790688" y="4526280"/>
            <a:ext cx="29718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0">
                <a:solidFill>
                  <a:srgbClr val="C9D7F0"/>
                </a:solidFill>
              </a:defRPr>
            </a:pPr>
            <a:r>
              <a:rPr sz="975" b="0" i="0">
                <a:solidFill>
                  <a:srgbClr val="C9D7F0"/>
                </a:solidFill>
              </a:rPr>
              <a:t>Review less, improve more, scale with confidence</a:t>
            </a:r>
          </a:p>
        </p:txBody>
      </p:sp>
      <p:sp>
        <p:nvSpPr>
          <p:cNvPr id="25" name="text-25">
            <a:extLst xmlns:a="http://schemas.openxmlformats.org/drawingml/2006/main">
              <a:ext uri="{FF2B5EF4-FFF2-40B4-BE49-F238E27FC236}">
                <a16:creationId xmlns:a16="http://schemas.microsoft.com/office/drawing/2014/main" id="{E336261F-ADF6-4806-8646-C7A8BD2E5ECA}"/>
              </a:ext>
            </a:extLst>
          </p:cNvPr>
          <p:cNvSpPr>
            <a:spLocks xmlns:a="http://schemas.openxmlformats.org/drawingml/2006/main" noGrp="1"/>
          </p:cNvSpPr>
          <p:nvPr/>
        </p:nvSpPr>
        <p:spPr>
          <a:xfrm xmlns:a="http://schemas.openxmlformats.org/drawingml/2006/main">
            <a:off x="731520" y="6473952"/>
            <a:ext cx="29260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8EA7D4"/>
                </a:solidFill>
              </a:defRPr>
            </a:pPr>
            <a:r>
              <a:rPr sz="713" b="1" i="0">
                <a:solidFill>
                  <a:srgbClr val="8EA7D4"/>
                </a:solidFill>
              </a:rPr>
              <a:t>INSURANCE CALLING QA</a:t>
            </a:r>
          </a:p>
        </p:txBody>
      </p:sp>
      <p:sp>
        <p:nvSpPr>
          <p:cNvPr id="26" name="text-26">
            <a:extLst xmlns:a="http://schemas.openxmlformats.org/drawingml/2006/main">
              <a:ext uri="{FF2B5EF4-FFF2-40B4-BE49-F238E27FC236}">
                <a16:creationId xmlns:a16="http://schemas.microsoft.com/office/drawing/2014/main" id="{28A82A63-2E7D-4C01-AF0B-F23E48C271B5}"/>
              </a:ext>
            </a:extLst>
          </p:cNvPr>
          <p:cNvSpPr>
            <a:spLocks xmlns:a="http://schemas.openxmlformats.org/drawingml/2006/main" noGrp="1"/>
          </p:cNvSpPr>
          <p:nvPr/>
        </p:nvSpPr>
        <p:spPr>
          <a:xfrm xmlns:a="http://schemas.openxmlformats.org/drawingml/2006/main">
            <a:off x="11109960" y="6473952"/>
            <a:ext cx="32004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8EA7D4"/>
                </a:solidFill>
              </a:defRPr>
            </a:pPr>
            <a:r>
              <a:rPr sz="750" b="1" i="0">
                <a:solidFill>
                  <a:srgbClr val="8EA7D4"/>
                </a:solidFill>
              </a:rPr>
              <a:t>01</a:t>
            </a:r>
          </a:p>
        </p:txBody>
      </p:sp>
    </p:spTree>
    <p:extLst>
      <p:ext uri="{BB962C8B-B14F-4D97-AF65-F5344CB8AC3E}">
        <p14:creationId xmlns:p14="http://schemas.microsoft.com/office/powerpoint/2010/main" val="213820677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shape-27">
            <a:extLst xmlns:a="http://schemas.openxmlformats.org/drawingml/2006/main">
              <a:ext uri="{FF2B5EF4-FFF2-40B4-BE49-F238E27FC236}">
                <a16:creationId xmlns:a16="http://schemas.microsoft.com/office/drawing/2014/main" id="{B08BF34A-EE78-4322-BB58-F689779FC8A5}"/>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28">
            <a:extLst xmlns:a="http://schemas.openxmlformats.org/drawingml/2006/main">
              <a:ext uri="{FF2B5EF4-FFF2-40B4-BE49-F238E27FC236}">
                <a16:creationId xmlns:a16="http://schemas.microsoft.com/office/drawing/2014/main" id="{C2685C1F-5823-4516-B249-87587E71C74D}"/>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A 90-second KPI cannot tell us whether a call was valuable</a:t>
            </a:r>
          </a:p>
        </p:txBody>
      </p:sp>
      <p:sp>
        <p:nvSpPr>
          <p:cNvPr id="3" name="text-29">
            <a:extLst xmlns:a="http://schemas.openxmlformats.org/drawingml/2006/main">
              <a:ext uri="{FF2B5EF4-FFF2-40B4-BE49-F238E27FC236}">
                <a16:creationId xmlns:a16="http://schemas.microsoft.com/office/drawing/2014/main" id="{82BBB65D-B4CF-42C0-AD4B-EB7BC7C2B8AA}"/>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The current process is costly, low-coverage, and difficult to review at scale.</a:t>
            </a:r>
          </a:p>
        </p:txBody>
      </p:sp>
      <p:sp>
        <p:nvSpPr>
          <p:cNvPr id="4" name="text-30">
            <a:extLst xmlns:a="http://schemas.openxmlformats.org/drawingml/2006/main">
              <a:ext uri="{FF2B5EF4-FFF2-40B4-BE49-F238E27FC236}">
                <a16:creationId xmlns:a16="http://schemas.microsoft.com/office/drawing/2014/main" id="{636C2B2F-1469-4C36-B01A-91B26C1ED7B6}"/>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31">
            <a:extLst xmlns:a="http://schemas.openxmlformats.org/drawingml/2006/main">
              <a:ext uri="{FF2B5EF4-FFF2-40B4-BE49-F238E27FC236}">
                <a16:creationId xmlns:a16="http://schemas.microsoft.com/office/drawing/2014/main" id="{826C98BD-8A1F-4746-B271-31BB16786DDE}"/>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02</a:t>
            </a:r>
          </a:p>
        </p:txBody>
      </p:sp>
      <p:sp>
        <p:nvSpPr>
          <p:cNvPr id="6" name="shape-32">
            <a:extLst xmlns:a="http://schemas.openxmlformats.org/drawingml/2006/main">
              <a:ext uri="{FF2B5EF4-FFF2-40B4-BE49-F238E27FC236}">
                <a16:creationId xmlns:a16="http://schemas.microsoft.com/office/drawing/2014/main" id="{EFD6BEED-DD3E-46BB-99E9-F194DD0A5AE9}"/>
              </a:ext>
            </a:extLst>
          </p:cNvPr>
          <p:cNvSpPr>
            <a:spLocks xmlns:a="http://schemas.openxmlformats.org/drawingml/2006/main" noGrp="1"/>
          </p:cNvSpPr>
          <p:nvPr/>
        </p:nvSpPr>
        <p:spPr>
          <a:xfrm xmlns:a="http://schemas.openxmlformats.org/drawingml/2006/main">
            <a:off x="621792" y="1572768"/>
            <a:ext cx="2880360" cy="4224528"/>
          </a:xfrm>
          <a:prstGeom xmlns:a="http://schemas.openxmlformats.org/drawingml/2006/main" prst="roundRect">
            <a:avLst>
              <a:gd name="adj" fmla="val 2646"/>
            </a:avLst>
          </a:prstGeom>
          <a:solidFill xmlns:a="http://schemas.openxmlformats.org/drawingml/2006/main">
            <a:srgbClr val="FFF0F0"/>
          </a:solidFill>
          <a:ln xmlns:a="http://schemas.openxmlformats.org/drawingml/2006/main" w="9525">
            <a:solidFill>
              <a:srgbClr val="F7C5C5"/>
            </a:solidFill>
            <a:prstDash val="solid"/>
          </a:ln>
        </p:spPr>
      </p:sp>
      <p:sp>
        <p:nvSpPr>
          <p:cNvPr id="7" name="text-33">
            <a:extLst xmlns:a="http://schemas.openxmlformats.org/drawingml/2006/main">
              <a:ext uri="{FF2B5EF4-FFF2-40B4-BE49-F238E27FC236}">
                <a16:creationId xmlns:a16="http://schemas.microsoft.com/office/drawing/2014/main" id="{7C88F93C-6611-4B5D-88F4-DDBDA17F11B5}"/>
              </a:ext>
            </a:extLst>
          </p:cNvPr>
          <p:cNvSpPr>
            <a:spLocks xmlns:a="http://schemas.openxmlformats.org/drawingml/2006/main" noGrp="1"/>
          </p:cNvSpPr>
          <p:nvPr/>
        </p:nvSpPr>
        <p:spPr>
          <a:xfrm xmlns:a="http://schemas.openxmlformats.org/drawingml/2006/main">
            <a:off x="841248" y="1874520"/>
            <a:ext cx="2441448" cy="640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i="0">
                <a:solidFill>
                  <a:srgbClr val="F06464"/>
                </a:solidFill>
              </a:defRPr>
            </a:pPr>
            <a:r>
              <a:rPr sz="3000" b="1" i="0">
                <a:solidFill>
                  <a:srgbClr val="F06464"/>
                </a:solidFill>
              </a:rPr>
              <a:t>&gt; 90 SEC</a:t>
            </a:r>
          </a:p>
        </p:txBody>
      </p:sp>
      <p:sp>
        <p:nvSpPr>
          <p:cNvPr id="8" name="text-34">
            <a:extLst xmlns:a="http://schemas.openxmlformats.org/drawingml/2006/main">
              <a:ext uri="{FF2B5EF4-FFF2-40B4-BE49-F238E27FC236}">
                <a16:creationId xmlns:a16="http://schemas.microsoft.com/office/drawing/2014/main" id="{2FA12B2C-F40F-43B7-8F89-9E0AF42904FB}"/>
              </a:ext>
            </a:extLst>
          </p:cNvPr>
          <p:cNvSpPr>
            <a:spLocks xmlns:a="http://schemas.openxmlformats.org/drawingml/2006/main" noGrp="1"/>
          </p:cNvSpPr>
          <p:nvPr/>
        </p:nvSpPr>
        <p:spPr>
          <a:xfrm xmlns:a="http://schemas.openxmlformats.org/drawingml/2006/main">
            <a:off x="914400" y="2670048"/>
            <a:ext cx="2286000" cy="6949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0B1736"/>
                </a:solidFill>
              </a:defRPr>
            </a:pPr>
            <a:r>
              <a:rPr sz="1425" b="1" i="0">
                <a:solidFill>
                  <a:srgbClr val="0B1736"/>
                </a:solidFill>
              </a:rPr>
              <a:t>The metric we can see</a:t>
            </a:r>
          </a:p>
          <a:p xmlns:a="http://schemas.openxmlformats.org/drawingml/2006/main">
            <a:pPr algn="ctr">
              <a:defRPr sz="1425" b="1" i="0">
                <a:solidFill>
                  <a:srgbClr val="0B1736"/>
                </a:solidFill>
              </a:defRPr>
            </a:pPr>
            <a:r>
              <a:rPr sz="1425" b="1" i="0">
                <a:solidFill>
                  <a:srgbClr val="0B1736"/>
                </a:solidFill>
              </a:rPr>
              <a:t>may not be the value we need.</a:t>
            </a:r>
          </a:p>
        </p:txBody>
      </p:sp>
      <p:sp>
        <p:nvSpPr>
          <p:cNvPr id="9" name="shape-35">
            <a:extLst xmlns:a="http://schemas.openxmlformats.org/drawingml/2006/main">
              <a:ext uri="{FF2B5EF4-FFF2-40B4-BE49-F238E27FC236}">
                <a16:creationId xmlns:a16="http://schemas.microsoft.com/office/drawing/2014/main" id="{66AA459A-4FE5-49AA-84E9-AA4F38F0A558}"/>
              </a:ext>
            </a:extLst>
          </p:cNvPr>
          <p:cNvSpPr>
            <a:spLocks xmlns:a="http://schemas.openxmlformats.org/drawingml/2006/main" noGrp="1"/>
          </p:cNvSpPr>
          <p:nvPr/>
        </p:nvSpPr>
        <p:spPr>
          <a:xfrm xmlns:a="http://schemas.openxmlformats.org/drawingml/2006/main">
            <a:off x="1024128" y="3749040"/>
            <a:ext cx="2066544" cy="0"/>
          </a:xfrm>
          <a:prstGeom xmlns:a="http://schemas.openxmlformats.org/drawingml/2006/main" prst="line">
            <a:avLst/>
          </a:prstGeom>
          <a:noFill xmlns:a="http://schemas.openxmlformats.org/drawingml/2006/main"/>
          <a:ln xmlns:a="http://schemas.openxmlformats.org/drawingml/2006/main" w="11430">
            <a:solidFill>
              <a:srgbClr val="F2B6B6"/>
            </a:solidFill>
            <a:prstDash val="solid"/>
          </a:ln>
        </p:spPr>
      </p:sp>
      <p:sp>
        <p:nvSpPr>
          <p:cNvPr id="10" name="text-36">
            <a:extLst xmlns:a="http://schemas.openxmlformats.org/drawingml/2006/main">
              <a:ext uri="{FF2B5EF4-FFF2-40B4-BE49-F238E27FC236}">
                <a16:creationId xmlns:a16="http://schemas.microsoft.com/office/drawing/2014/main" id="{3CE6E035-6123-4730-973A-E6242F5AF8A7}"/>
              </a:ext>
            </a:extLst>
          </p:cNvPr>
          <p:cNvSpPr>
            <a:spLocks xmlns:a="http://schemas.openxmlformats.org/drawingml/2006/main" noGrp="1"/>
          </p:cNvSpPr>
          <p:nvPr/>
        </p:nvSpPr>
        <p:spPr>
          <a:xfrm xmlns:a="http://schemas.openxmlformats.org/drawingml/2006/main">
            <a:off x="941832" y="4078224"/>
            <a:ext cx="22860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2627B"/>
                </a:solidFill>
              </a:defRPr>
            </a:pPr>
            <a:r>
              <a:rPr sz="1125" b="0" i="0">
                <a:solidFill>
                  <a:srgbClr val="52627B"/>
                </a:solidFill>
              </a:rPr>
              <a:t>A single duration threshold</a:t>
            </a:r>
          </a:p>
          <a:p xmlns:a="http://schemas.openxmlformats.org/drawingml/2006/main">
            <a:pPr algn="ctr">
              <a:defRPr sz="1125" b="0" i="0">
                <a:solidFill>
                  <a:srgbClr val="52627B"/>
                </a:solidFill>
              </a:defRPr>
            </a:pPr>
            <a:r>
              <a:rPr sz="1125" b="0" i="0">
                <a:solidFill>
                  <a:srgbClr val="52627B"/>
                </a:solidFill>
              </a:rPr>
              <a:t>creates the wrong incentive.</a:t>
            </a:r>
          </a:p>
        </p:txBody>
      </p:sp>
      <p:sp>
        <p:nvSpPr>
          <p:cNvPr id="11" name="shape-37">
            <a:extLst xmlns:a="http://schemas.openxmlformats.org/drawingml/2006/main">
              <a:ext uri="{FF2B5EF4-FFF2-40B4-BE49-F238E27FC236}">
                <a16:creationId xmlns:a16="http://schemas.microsoft.com/office/drawing/2014/main" id="{8FFAC1E5-206B-48E8-83C7-5864A112317E}"/>
              </a:ext>
            </a:extLst>
          </p:cNvPr>
          <p:cNvSpPr>
            <a:spLocks xmlns:a="http://schemas.openxmlformats.org/drawingml/2006/main" noGrp="1"/>
          </p:cNvSpPr>
          <p:nvPr/>
        </p:nvSpPr>
        <p:spPr>
          <a:xfrm xmlns:a="http://schemas.openxmlformats.org/drawingml/2006/main">
            <a:off x="3913632" y="1572768"/>
            <a:ext cx="3493008" cy="1700784"/>
          </a:xfrm>
          <a:prstGeom xmlns:a="http://schemas.openxmlformats.org/drawingml/2006/main" prst="roundRect">
            <a:avLst>
              <a:gd name="adj" fmla="val 4480"/>
            </a:avLst>
          </a:prstGeom>
          <a:solidFill xmlns:a="http://schemas.openxmlformats.org/drawingml/2006/main">
            <a:srgbClr val="FFFFFF"/>
          </a:solidFill>
          <a:ln xmlns:a="http://schemas.openxmlformats.org/drawingml/2006/main" w="9525">
            <a:solidFill>
              <a:srgbClr val="D9E2F0"/>
            </a:solidFill>
            <a:prstDash val="solid"/>
          </a:ln>
        </p:spPr>
      </p:sp>
      <p:sp>
        <p:nvSpPr>
          <p:cNvPr id="12" name="shape-38">
            <a:extLst xmlns:a="http://schemas.openxmlformats.org/drawingml/2006/main">
              <a:ext uri="{FF2B5EF4-FFF2-40B4-BE49-F238E27FC236}">
                <a16:creationId xmlns:a16="http://schemas.microsoft.com/office/drawing/2014/main" id="{87F8EFFB-0697-4356-AB88-0C4A8C4C1EF6}"/>
              </a:ext>
            </a:extLst>
          </p:cNvPr>
          <p:cNvSpPr>
            <a:spLocks xmlns:a="http://schemas.openxmlformats.org/drawingml/2006/main" noGrp="1"/>
          </p:cNvSpPr>
          <p:nvPr/>
        </p:nvSpPr>
        <p:spPr>
          <a:xfrm xmlns:a="http://schemas.openxmlformats.org/drawingml/2006/main">
            <a:off x="4206240" y="1847088"/>
            <a:ext cx="1600200" cy="265176"/>
          </a:xfrm>
          <a:prstGeom xmlns:a="http://schemas.openxmlformats.org/drawingml/2006/main" prst="roundRect">
            <a:avLst>
              <a:gd name="adj" fmla="val 28736"/>
            </a:avLst>
          </a:prstGeom>
          <a:solidFill xmlns:a="http://schemas.openxmlformats.org/drawingml/2006/main">
            <a:srgbClr val="FFF6D9"/>
          </a:solidFill>
          <a:ln xmlns:a="http://schemas.openxmlformats.org/drawingml/2006/main" w="0">
            <a:solidFill>
              <a:srgbClr val="FFF6D9"/>
            </a:solidFill>
            <a:prstDash val="solid"/>
          </a:ln>
        </p:spPr>
      </p:sp>
      <p:sp>
        <p:nvSpPr>
          <p:cNvPr id="13" name="text-39">
            <a:extLst xmlns:a="http://schemas.openxmlformats.org/drawingml/2006/main">
              <a:ext uri="{FF2B5EF4-FFF2-40B4-BE49-F238E27FC236}">
                <a16:creationId xmlns:a16="http://schemas.microsoft.com/office/drawing/2014/main" id="{5C4C0A89-14E5-42F3-8F00-1BE54D39C825}"/>
              </a:ext>
            </a:extLst>
          </p:cNvPr>
          <p:cNvSpPr>
            <a:spLocks xmlns:a="http://schemas.openxmlformats.org/drawingml/2006/main" noGrp="1"/>
          </p:cNvSpPr>
          <p:nvPr/>
        </p:nvSpPr>
        <p:spPr>
          <a:xfrm xmlns:a="http://schemas.openxmlformats.org/drawingml/2006/main">
            <a:off x="4297680" y="1865376"/>
            <a:ext cx="141732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i="0">
                <a:solidFill>
                  <a:srgbClr val="8A5A00"/>
                </a:solidFill>
              </a:defRPr>
            </a:pPr>
            <a:r>
              <a:rPr sz="825" b="1" i="0">
                <a:solidFill>
                  <a:srgbClr val="8A5A00"/>
                </a:solidFill>
              </a:rPr>
              <a:t>LONG BUT EMPTY</a:t>
            </a:r>
          </a:p>
        </p:txBody>
      </p:sp>
      <p:sp>
        <p:nvSpPr>
          <p:cNvPr id="14" name="text-40">
            <a:extLst xmlns:a="http://schemas.openxmlformats.org/drawingml/2006/main">
              <a:ext uri="{FF2B5EF4-FFF2-40B4-BE49-F238E27FC236}">
                <a16:creationId xmlns:a16="http://schemas.microsoft.com/office/drawing/2014/main" id="{7D410691-678D-47DC-936E-3D5673F10339}"/>
              </a:ext>
            </a:extLst>
          </p:cNvPr>
          <p:cNvSpPr>
            <a:spLocks xmlns:a="http://schemas.openxmlformats.org/drawingml/2006/main" noGrp="1"/>
          </p:cNvSpPr>
          <p:nvPr/>
        </p:nvSpPr>
        <p:spPr>
          <a:xfrm xmlns:a="http://schemas.openxmlformats.org/drawingml/2006/main">
            <a:off x="4206240" y="2304288"/>
            <a:ext cx="2633472"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0B1736"/>
                </a:solidFill>
              </a:defRPr>
            </a:pPr>
            <a:r>
              <a:rPr sz="1425" b="1" i="0">
                <a:solidFill>
                  <a:srgbClr val="0B1736"/>
                </a:solidFill>
              </a:rPr>
              <a:t>A call exceeds the threshold</a:t>
            </a:r>
          </a:p>
          <a:p xmlns:a="http://schemas.openxmlformats.org/drawingml/2006/main">
            <a:pPr algn="l">
              <a:defRPr sz="1425" b="1" i="0">
                <a:solidFill>
                  <a:srgbClr val="0B1736"/>
                </a:solidFill>
              </a:defRPr>
            </a:pPr>
            <a:r>
              <a:rPr sz="1425" b="1" i="0">
                <a:solidFill>
                  <a:srgbClr val="0B1736"/>
                </a:solidFill>
              </a:rPr>
              <a:t>without useful information.</a:t>
            </a:r>
          </a:p>
        </p:txBody>
      </p:sp>
      <p:sp>
        <p:nvSpPr>
          <p:cNvPr id="15" name="text-41">
            <a:extLst xmlns:a="http://schemas.openxmlformats.org/drawingml/2006/main">
              <a:ext uri="{FF2B5EF4-FFF2-40B4-BE49-F238E27FC236}">
                <a16:creationId xmlns:a16="http://schemas.microsoft.com/office/drawing/2014/main" id="{66A72ED2-3E38-4BD9-8248-E5DFEB620E2D}"/>
              </a:ext>
            </a:extLst>
          </p:cNvPr>
          <p:cNvSpPr>
            <a:spLocks xmlns:a="http://schemas.openxmlformats.org/drawingml/2006/main" noGrp="1"/>
          </p:cNvSpPr>
          <p:nvPr/>
        </p:nvSpPr>
        <p:spPr>
          <a:xfrm xmlns:a="http://schemas.openxmlformats.org/drawingml/2006/main">
            <a:off x="4206240" y="2944368"/>
            <a:ext cx="278892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i="0">
                <a:solidFill>
                  <a:srgbClr val="52627B"/>
                </a:solidFill>
              </a:defRPr>
            </a:pPr>
            <a:r>
              <a:rPr sz="1013" b="0" i="0">
                <a:solidFill>
                  <a:srgbClr val="52627B"/>
                </a:solidFill>
              </a:rPr>
              <a:t>Cost rises while quality remains uncertain.</a:t>
            </a:r>
          </a:p>
        </p:txBody>
      </p:sp>
      <p:sp>
        <p:nvSpPr>
          <p:cNvPr id="16" name="shape-42">
            <a:extLst xmlns:a="http://schemas.openxmlformats.org/drawingml/2006/main">
              <a:ext uri="{FF2B5EF4-FFF2-40B4-BE49-F238E27FC236}">
                <a16:creationId xmlns:a16="http://schemas.microsoft.com/office/drawing/2014/main" id="{50B53EBD-9009-417A-A681-633B7D7DEA07}"/>
              </a:ext>
            </a:extLst>
          </p:cNvPr>
          <p:cNvSpPr>
            <a:spLocks xmlns:a="http://schemas.openxmlformats.org/drawingml/2006/main" noGrp="1"/>
          </p:cNvSpPr>
          <p:nvPr/>
        </p:nvSpPr>
        <p:spPr>
          <a:xfrm xmlns:a="http://schemas.openxmlformats.org/drawingml/2006/main">
            <a:off x="3913632" y="3611880"/>
            <a:ext cx="3493008" cy="1700784"/>
          </a:xfrm>
          <a:prstGeom xmlns:a="http://schemas.openxmlformats.org/drawingml/2006/main" prst="roundRect">
            <a:avLst>
              <a:gd name="adj" fmla="val 4480"/>
            </a:avLst>
          </a:prstGeom>
          <a:solidFill xmlns:a="http://schemas.openxmlformats.org/drawingml/2006/main">
            <a:srgbClr val="FFFFFF"/>
          </a:solidFill>
          <a:ln xmlns:a="http://schemas.openxmlformats.org/drawingml/2006/main" w="9525">
            <a:solidFill>
              <a:srgbClr val="D9E2F0"/>
            </a:solidFill>
            <a:prstDash val="solid"/>
          </a:ln>
        </p:spPr>
      </p:sp>
      <p:sp>
        <p:nvSpPr>
          <p:cNvPr id="17" name="shape-43">
            <a:extLst xmlns:a="http://schemas.openxmlformats.org/drawingml/2006/main">
              <a:ext uri="{FF2B5EF4-FFF2-40B4-BE49-F238E27FC236}">
                <a16:creationId xmlns:a16="http://schemas.microsoft.com/office/drawing/2014/main" id="{8B1944C3-661D-4B39-87F0-8AFDAAE089A1}"/>
              </a:ext>
            </a:extLst>
          </p:cNvPr>
          <p:cNvSpPr>
            <a:spLocks xmlns:a="http://schemas.openxmlformats.org/drawingml/2006/main" noGrp="1"/>
          </p:cNvSpPr>
          <p:nvPr/>
        </p:nvSpPr>
        <p:spPr>
          <a:xfrm xmlns:a="http://schemas.openxmlformats.org/drawingml/2006/main">
            <a:off x="4206240" y="3886200"/>
            <a:ext cx="1847088" cy="265176"/>
          </a:xfrm>
          <a:prstGeom xmlns:a="http://schemas.openxmlformats.org/drawingml/2006/main" prst="roundRect">
            <a:avLst>
              <a:gd name="adj" fmla="val 28736"/>
            </a:avLst>
          </a:prstGeom>
          <a:solidFill xmlns:a="http://schemas.openxmlformats.org/drawingml/2006/main">
            <a:srgbClr val="E9F9F2"/>
          </a:solidFill>
          <a:ln xmlns:a="http://schemas.openxmlformats.org/drawingml/2006/main" w="0">
            <a:solidFill>
              <a:srgbClr val="E9F9F2"/>
            </a:solidFill>
            <a:prstDash val="solid"/>
          </a:ln>
        </p:spPr>
      </p:sp>
      <p:sp>
        <p:nvSpPr>
          <p:cNvPr id="18" name="text-44">
            <a:extLst xmlns:a="http://schemas.openxmlformats.org/drawingml/2006/main">
              <a:ext uri="{FF2B5EF4-FFF2-40B4-BE49-F238E27FC236}">
                <a16:creationId xmlns:a16="http://schemas.microsoft.com/office/drawing/2014/main" id="{48297079-CBA6-4743-ACA2-F813B09F9884}"/>
              </a:ext>
            </a:extLst>
          </p:cNvPr>
          <p:cNvSpPr>
            <a:spLocks xmlns:a="http://schemas.openxmlformats.org/drawingml/2006/main" noGrp="1"/>
          </p:cNvSpPr>
          <p:nvPr/>
        </p:nvSpPr>
        <p:spPr>
          <a:xfrm xmlns:a="http://schemas.openxmlformats.org/drawingml/2006/main">
            <a:off x="4297680" y="3904488"/>
            <a:ext cx="1664208"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i="0">
                <a:solidFill>
                  <a:srgbClr val="087443"/>
                </a:solidFill>
              </a:defRPr>
            </a:pPr>
            <a:r>
              <a:rPr sz="825" b="1" i="0">
                <a:solidFill>
                  <a:srgbClr val="087443"/>
                </a:solidFill>
              </a:rPr>
              <a:t>SHORT BUT VALUABLE</a:t>
            </a:r>
          </a:p>
        </p:txBody>
      </p:sp>
      <p:sp>
        <p:nvSpPr>
          <p:cNvPr id="19" name="text-45">
            <a:extLst xmlns:a="http://schemas.openxmlformats.org/drawingml/2006/main">
              <a:ext uri="{FF2B5EF4-FFF2-40B4-BE49-F238E27FC236}">
                <a16:creationId xmlns:a16="http://schemas.microsoft.com/office/drawing/2014/main" id="{4999EFF7-E4C3-4211-957B-49AAFA15CF4A}"/>
              </a:ext>
            </a:extLst>
          </p:cNvPr>
          <p:cNvSpPr>
            <a:spLocks xmlns:a="http://schemas.openxmlformats.org/drawingml/2006/main" noGrp="1"/>
          </p:cNvSpPr>
          <p:nvPr/>
        </p:nvSpPr>
        <p:spPr>
          <a:xfrm xmlns:a="http://schemas.openxmlformats.org/drawingml/2006/main">
            <a:off x="4206240" y="4343400"/>
            <a:ext cx="2633472"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0B1736"/>
                </a:solidFill>
              </a:defRPr>
            </a:pPr>
            <a:r>
              <a:rPr sz="1425" b="1" i="0">
                <a:solidFill>
                  <a:srgbClr val="0B1736"/>
                </a:solidFill>
              </a:rPr>
              <a:t>A concise call contains</a:t>
            </a:r>
          </a:p>
          <a:p xmlns:a="http://schemas.openxmlformats.org/drawingml/2006/main">
            <a:pPr algn="l">
              <a:defRPr sz="1425" b="1" i="0">
                <a:solidFill>
                  <a:srgbClr val="0B1736"/>
                </a:solidFill>
              </a:defRPr>
            </a:pPr>
            <a:r>
              <a:rPr sz="1425" b="1" i="0">
                <a:solidFill>
                  <a:srgbClr val="0B1736"/>
                </a:solidFill>
              </a:rPr>
              <a:t>valid customer information.</a:t>
            </a:r>
          </a:p>
        </p:txBody>
      </p:sp>
      <p:sp>
        <p:nvSpPr>
          <p:cNvPr id="20" name="text-46">
            <a:extLst xmlns:a="http://schemas.openxmlformats.org/drawingml/2006/main">
              <a:ext uri="{FF2B5EF4-FFF2-40B4-BE49-F238E27FC236}">
                <a16:creationId xmlns:a16="http://schemas.microsoft.com/office/drawing/2014/main" id="{ECC433F7-22E6-40F5-8ED5-970D8BEC35CF}"/>
              </a:ext>
            </a:extLst>
          </p:cNvPr>
          <p:cNvSpPr>
            <a:spLocks xmlns:a="http://schemas.openxmlformats.org/drawingml/2006/main" noGrp="1"/>
          </p:cNvSpPr>
          <p:nvPr/>
        </p:nvSpPr>
        <p:spPr>
          <a:xfrm xmlns:a="http://schemas.openxmlformats.org/drawingml/2006/main">
            <a:off x="4206240" y="4983480"/>
            <a:ext cx="292608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0" i="0">
                <a:solidFill>
                  <a:srgbClr val="52627B"/>
                </a:solidFill>
              </a:defRPr>
            </a:pPr>
            <a:r>
              <a:rPr sz="1013" b="0" i="0">
                <a:solidFill>
                  <a:srgbClr val="52627B"/>
                </a:solidFill>
              </a:rPr>
              <a:t>Value is missed because duration is too short.</a:t>
            </a:r>
          </a:p>
        </p:txBody>
      </p:sp>
      <p:sp>
        <p:nvSpPr>
          <p:cNvPr id="21" name="shape-47">
            <a:extLst xmlns:a="http://schemas.openxmlformats.org/drawingml/2006/main">
              <a:ext uri="{FF2B5EF4-FFF2-40B4-BE49-F238E27FC236}">
                <a16:creationId xmlns:a16="http://schemas.microsoft.com/office/drawing/2014/main" id="{D35DD75C-9485-44F3-948A-B2DDB567CCA2}"/>
              </a:ext>
            </a:extLst>
          </p:cNvPr>
          <p:cNvSpPr>
            <a:spLocks xmlns:a="http://schemas.openxmlformats.org/drawingml/2006/main" noGrp="1"/>
          </p:cNvSpPr>
          <p:nvPr/>
        </p:nvSpPr>
        <p:spPr>
          <a:xfrm xmlns:a="http://schemas.openxmlformats.org/drawingml/2006/main">
            <a:off x="7818120" y="1572768"/>
            <a:ext cx="3703320" cy="3739896"/>
          </a:xfrm>
          <a:prstGeom xmlns:a="http://schemas.openxmlformats.org/drawingml/2006/main" prst="roundRect">
            <a:avLst>
              <a:gd name="adj" fmla="val 2058"/>
            </a:avLst>
          </a:prstGeom>
          <a:solidFill xmlns:a="http://schemas.openxmlformats.org/drawingml/2006/main">
            <a:srgbClr val="0B1736"/>
          </a:solidFill>
          <a:ln xmlns:a="http://schemas.openxmlformats.org/drawingml/2006/main" w="0">
            <a:solidFill>
              <a:srgbClr val="0B1736"/>
            </a:solidFill>
            <a:prstDash val="solid"/>
          </a:ln>
        </p:spPr>
      </p:sp>
      <p:sp>
        <p:nvSpPr>
          <p:cNvPr id="22" name="text-48">
            <a:extLst xmlns:a="http://schemas.openxmlformats.org/drawingml/2006/main">
              <a:ext uri="{FF2B5EF4-FFF2-40B4-BE49-F238E27FC236}">
                <a16:creationId xmlns:a16="http://schemas.microsoft.com/office/drawing/2014/main" id="{9B1B69E6-8B55-4860-8354-61633591AB7C}"/>
              </a:ext>
            </a:extLst>
          </p:cNvPr>
          <p:cNvSpPr>
            <a:spLocks xmlns:a="http://schemas.openxmlformats.org/drawingml/2006/main" noGrp="1"/>
          </p:cNvSpPr>
          <p:nvPr/>
        </p:nvSpPr>
        <p:spPr>
          <a:xfrm xmlns:a="http://schemas.openxmlformats.org/drawingml/2006/main">
            <a:off x="8138160" y="1938528"/>
            <a:ext cx="306324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i="0">
                <a:solidFill>
                  <a:srgbClr val="26C6DA"/>
                </a:solidFill>
              </a:defRPr>
            </a:pPr>
            <a:r>
              <a:rPr sz="825" b="1" i="0">
                <a:solidFill>
                  <a:srgbClr val="26C6DA"/>
                </a:solidFill>
              </a:rPr>
              <a:t>THE MANAGEMENT QUESTION</a:t>
            </a:r>
          </a:p>
        </p:txBody>
      </p:sp>
      <p:sp>
        <p:nvSpPr>
          <p:cNvPr id="23" name="text-49">
            <a:extLst xmlns:a="http://schemas.openxmlformats.org/drawingml/2006/main">
              <a:ext uri="{FF2B5EF4-FFF2-40B4-BE49-F238E27FC236}">
                <a16:creationId xmlns:a16="http://schemas.microsoft.com/office/drawing/2014/main" id="{0EBA3AD2-F993-4784-9631-6143F2AE4ACD}"/>
              </a:ext>
            </a:extLst>
          </p:cNvPr>
          <p:cNvSpPr>
            <a:spLocks xmlns:a="http://schemas.openxmlformats.org/drawingml/2006/main" noGrp="1"/>
          </p:cNvSpPr>
          <p:nvPr/>
        </p:nvSpPr>
        <p:spPr>
          <a:xfrm xmlns:a="http://schemas.openxmlformats.org/drawingml/2006/main">
            <a:off x="8138160" y="2414016"/>
            <a:ext cx="3063240" cy="7863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i="0">
                <a:solidFill>
                  <a:srgbClr val="FFFFFF"/>
                </a:solidFill>
              </a:defRPr>
            </a:pPr>
            <a:r>
              <a:rPr sz="2025" b="1" i="0">
                <a:solidFill>
                  <a:srgbClr val="FFFFFF"/>
                </a:solidFill>
              </a:rPr>
              <a:t>Did the conversation</a:t>
            </a:r>
          </a:p>
          <a:p xmlns:a="http://schemas.openxmlformats.org/drawingml/2006/main">
            <a:pPr algn="ctr">
              <a:defRPr sz="2025" b="1" i="0">
                <a:solidFill>
                  <a:srgbClr val="FFFFFF"/>
                </a:solidFill>
              </a:defRPr>
            </a:pPr>
            <a:r>
              <a:rPr sz="2025" b="1" i="0">
                <a:solidFill>
                  <a:srgbClr val="FFFFFF"/>
                </a:solidFill>
              </a:rPr>
              <a:t>create valid value?</a:t>
            </a:r>
          </a:p>
        </p:txBody>
      </p:sp>
      <p:sp>
        <p:nvSpPr>
          <p:cNvPr id="24" name="shape-50">
            <a:extLst xmlns:a="http://schemas.openxmlformats.org/drawingml/2006/main">
              <a:ext uri="{FF2B5EF4-FFF2-40B4-BE49-F238E27FC236}">
                <a16:creationId xmlns:a16="http://schemas.microsoft.com/office/drawing/2014/main" id="{5D4C2F96-4BC9-4701-8D5B-7BC43097BA4F}"/>
              </a:ext>
            </a:extLst>
          </p:cNvPr>
          <p:cNvSpPr>
            <a:spLocks xmlns:a="http://schemas.openxmlformats.org/drawingml/2006/main" noGrp="1"/>
          </p:cNvSpPr>
          <p:nvPr/>
        </p:nvSpPr>
        <p:spPr>
          <a:xfrm xmlns:a="http://schemas.openxmlformats.org/drawingml/2006/main">
            <a:off x="8485632" y="3547872"/>
            <a:ext cx="2377440" cy="0"/>
          </a:xfrm>
          <a:prstGeom xmlns:a="http://schemas.openxmlformats.org/drawingml/2006/main" prst="line">
            <a:avLst/>
          </a:prstGeom>
          <a:noFill xmlns:a="http://schemas.openxmlformats.org/drawingml/2006/main"/>
          <a:ln xmlns:a="http://schemas.openxmlformats.org/drawingml/2006/main" w="9525">
            <a:solidFill>
              <a:srgbClr val="38588C"/>
            </a:solidFill>
            <a:prstDash val="solid"/>
          </a:ln>
        </p:spPr>
      </p:sp>
      <p:sp>
        <p:nvSpPr>
          <p:cNvPr id="25" name="text-51">
            <a:extLst xmlns:a="http://schemas.openxmlformats.org/drawingml/2006/main">
              <a:ext uri="{FF2B5EF4-FFF2-40B4-BE49-F238E27FC236}">
                <a16:creationId xmlns:a16="http://schemas.microsoft.com/office/drawing/2014/main" id="{41DA6EF4-59F2-4D10-A9D8-9AFD5295093D}"/>
              </a:ext>
            </a:extLst>
          </p:cNvPr>
          <p:cNvSpPr>
            <a:spLocks xmlns:a="http://schemas.openxmlformats.org/drawingml/2006/main" noGrp="1"/>
          </p:cNvSpPr>
          <p:nvPr/>
        </p:nvSpPr>
        <p:spPr>
          <a:xfrm xmlns:a="http://schemas.openxmlformats.org/drawingml/2006/main">
            <a:off x="8229600" y="3913632"/>
            <a:ext cx="2907792" cy="8412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i="0">
                <a:solidFill>
                  <a:srgbClr val="D9E6FF"/>
                </a:solidFill>
              </a:defRPr>
            </a:pPr>
            <a:r>
              <a:rPr sz="1275" b="0" i="0">
                <a:solidFill>
                  <a:srgbClr val="D9E6FF"/>
                </a:solidFill>
              </a:rPr>
              <a:t>The opportunity is to measure conversation value directly - with evidence that people can review and act on.</a:t>
            </a:r>
          </a:p>
        </p:txBody>
      </p:sp>
      <p:sp>
        <p:nvSpPr>
          <p:cNvPr id="26" name="shape-52">
            <a:extLst xmlns:a="http://schemas.openxmlformats.org/drawingml/2006/main">
              <a:ext uri="{FF2B5EF4-FFF2-40B4-BE49-F238E27FC236}">
                <a16:creationId xmlns:a16="http://schemas.microsoft.com/office/drawing/2014/main" id="{26B143A5-9DFF-459A-8016-BD4099DCB869}"/>
              </a:ext>
            </a:extLst>
          </p:cNvPr>
          <p:cNvSpPr>
            <a:spLocks xmlns:a="http://schemas.openxmlformats.org/drawingml/2006/main" noGrp="1"/>
          </p:cNvSpPr>
          <p:nvPr/>
        </p:nvSpPr>
        <p:spPr>
          <a:xfrm xmlns:a="http://schemas.openxmlformats.org/drawingml/2006/main">
            <a:off x="8339328" y="4965192"/>
            <a:ext cx="2633472" cy="265176"/>
          </a:xfrm>
          <a:prstGeom xmlns:a="http://schemas.openxmlformats.org/drawingml/2006/main" prst="roundRect">
            <a:avLst>
              <a:gd name="adj" fmla="val 28736"/>
            </a:avLst>
          </a:prstGeom>
          <a:solidFill xmlns:a="http://schemas.openxmlformats.org/drawingml/2006/main">
            <a:srgbClr val="26C6DA"/>
          </a:solidFill>
          <a:ln xmlns:a="http://schemas.openxmlformats.org/drawingml/2006/main" w="0">
            <a:solidFill>
              <a:srgbClr val="26C6DA"/>
            </a:solidFill>
            <a:prstDash val="solid"/>
          </a:ln>
        </p:spPr>
      </p:sp>
      <p:sp>
        <p:nvSpPr>
          <p:cNvPr id="27" name="text-53">
            <a:extLst xmlns:a="http://schemas.openxmlformats.org/drawingml/2006/main">
              <a:ext uri="{FF2B5EF4-FFF2-40B4-BE49-F238E27FC236}">
                <a16:creationId xmlns:a16="http://schemas.microsoft.com/office/drawing/2014/main" id="{553C1ED2-BD3C-4360-AF62-B4A652C7B4E6}"/>
              </a:ext>
            </a:extLst>
          </p:cNvPr>
          <p:cNvSpPr>
            <a:spLocks xmlns:a="http://schemas.openxmlformats.org/drawingml/2006/main" noGrp="1"/>
          </p:cNvSpPr>
          <p:nvPr/>
        </p:nvSpPr>
        <p:spPr>
          <a:xfrm xmlns:a="http://schemas.openxmlformats.org/drawingml/2006/main">
            <a:off x="8430768" y="4983480"/>
            <a:ext cx="2450592"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03" b="1" i="0">
                <a:solidFill>
                  <a:srgbClr val="0B1736"/>
                </a:solidFill>
              </a:defRPr>
            </a:pPr>
            <a:r>
              <a:rPr sz="803" b="1" i="0">
                <a:solidFill>
                  <a:srgbClr val="0B1736"/>
                </a:solidFill>
              </a:rPr>
              <a:t>MEASURE VALUE, NOT JUST DURATION</a:t>
            </a:r>
          </a:p>
        </p:txBody>
      </p:sp>
    </p:spTree>
    <p:extLst>
      <p:ext uri="{BB962C8B-B14F-4D97-AF65-F5344CB8AC3E}">
        <p14:creationId xmlns:p14="http://schemas.microsoft.com/office/powerpoint/2010/main" val="177680707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3" name="shape-54">
            <a:extLst xmlns:a="http://schemas.openxmlformats.org/drawingml/2006/main">
              <a:ext uri="{FF2B5EF4-FFF2-40B4-BE49-F238E27FC236}">
                <a16:creationId xmlns:a16="http://schemas.microsoft.com/office/drawing/2014/main" id="{BE4A6615-6A2D-4771-A2BA-74684D19E319}"/>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55">
            <a:extLst xmlns:a="http://schemas.openxmlformats.org/drawingml/2006/main">
              <a:ext uri="{FF2B5EF4-FFF2-40B4-BE49-F238E27FC236}">
                <a16:creationId xmlns:a16="http://schemas.microsoft.com/office/drawing/2014/main" id="{794047A5-9605-4351-9D81-E8EE180E486A}"/>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One investment improves cost, control, and customer experience</a:t>
            </a:r>
          </a:p>
        </p:txBody>
      </p:sp>
      <p:sp>
        <p:nvSpPr>
          <p:cNvPr id="3" name="text-56">
            <a:extLst xmlns:a="http://schemas.openxmlformats.org/drawingml/2006/main">
              <a:ext uri="{FF2B5EF4-FFF2-40B4-BE49-F238E27FC236}">
                <a16:creationId xmlns:a16="http://schemas.microsoft.com/office/drawing/2014/main" id="{FDC0C3B8-1B01-481E-AA3D-41FE07F6920B}"/>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The value is broader than automation: it changes how quality is managed.</a:t>
            </a:r>
          </a:p>
        </p:txBody>
      </p:sp>
      <p:sp>
        <p:nvSpPr>
          <p:cNvPr id="4" name="text-57">
            <a:extLst xmlns:a="http://schemas.openxmlformats.org/drawingml/2006/main">
              <a:ext uri="{FF2B5EF4-FFF2-40B4-BE49-F238E27FC236}">
                <a16:creationId xmlns:a16="http://schemas.microsoft.com/office/drawing/2014/main" id="{734D9BD8-7377-4629-9416-6B0653FEAEAD}"/>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58">
            <a:extLst xmlns:a="http://schemas.openxmlformats.org/drawingml/2006/main">
              <a:ext uri="{FF2B5EF4-FFF2-40B4-BE49-F238E27FC236}">
                <a16:creationId xmlns:a16="http://schemas.microsoft.com/office/drawing/2014/main" id="{5BDA8E20-8D0B-4C9C-84B5-E429FE35D710}"/>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03</a:t>
            </a:r>
          </a:p>
        </p:txBody>
      </p:sp>
      <p:sp>
        <p:nvSpPr>
          <p:cNvPr id="6" name="shape-59">
            <a:extLst xmlns:a="http://schemas.openxmlformats.org/drawingml/2006/main">
              <a:ext uri="{FF2B5EF4-FFF2-40B4-BE49-F238E27FC236}">
                <a16:creationId xmlns:a16="http://schemas.microsoft.com/office/drawing/2014/main" id="{9618DDAA-66C7-4311-97CF-B43F8E9F310C}"/>
              </a:ext>
            </a:extLst>
          </p:cNvPr>
          <p:cNvSpPr>
            <a:spLocks xmlns:a="http://schemas.openxmlformats.org/drawingml/2006/main" noGrp="1"/>
          </p:cNvSpPr>
          <p:nvPr/>
        </p:nvSpPr>
        <p:spPr>
          <a:xfrm xmlns:a="http://schemas.openxmlformats.org/drawingml/2006/main">
            <a:off x="621792" y="1591056"/>
            <a:ext cx="3246120" cy="4096512"/>
          </a:xfrm>
          <a:prstGeom xmlns:a="http://schemas.openxmlformats.org/drawingml/2006/main" prst="roundRect">
            <a:avLst>
              <a:gd name="adj" fmla="val 2347"/>
            </a:avLst>
          </a:prstGeom>
          <a:solidFill xmlns:a="http://schemas.openxmlformats.org/drawingml/2006/main">
            <a:srgbClr val="EAF2FF"/>
          </a:solidFill>
          <a:ln xmlns:a="http://schemas.openxmlformats.org/drawingml/2006/main" w="9525">
            <a:solidFill>
              <a:srgbClr val="D9E2F0"/>
            </a:solidFill>
            <a:prstDash val="solid"/>
          </a:ln>
        </p:spPr>
      </p:sp>
      <p:sp>
        <p:nvSpPr>
          <p:cNvPr id="7" name="shape-60">
            <a:extLst xmlns:a="http://schemas.openxmlformats.org/drawingml/2006/main">
              <a:ext uri="{FF2B5EF4-FFF2-40B4-BE49-F238E27FC236}">
                <a16:creationId xmlns:a16="http://schemas.microsoft.com/office/drawing/2014/main" id="{64E85C3C-87D9-4B51-B348-B310D37065B5}"/>
              </a:ext>
            </a:extLst>
          </p:cNvPr>
          <p:cNvSpPr>
            <a:spLocks xmlns:a="http://schemas.openxmlformats.org/drawingml/2006/main" noGrp="1"/>
          </p:cNvSpPr>
          <p:nvPr/>
        </p:nvSpPr>
        <p:spPr>
          <a:xfrm xmlns:a="http://schemas.openxmlformats.org/drawingml/2006/main">
            <a:off x="896112" y="1865376"/>
            <a:ext cx="530352" cy="530352"/>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8" name="text-61">
            <a:extLst xmlns:a="http://schemas.openxmlformats.org/drawingml/2006/main">
              <a:ext uri="{FF2B5EF4-FFF2-40B4-BE49-F238E27FC236}">
                <a16:creationId xmlns:a16="http://schemas.microsoft.com/office/drawing/2014/main" id="{9F6195E0-5ABC-4585-9582-DC44FEAB042F}"/>
              </a:ext>
            </a:extLst>
          </p:cNvPr>
          <p:cNvSpPr>
            <a:spLocks xmlns:a="http://schemas.openxmlformats.org/drawingml/2006/main" noGrp="1"/>
          </p:cNvSpPr>
          <p:nvPr/>
        </p:nvSpPr>
        <p:spPr>
          <a:xfrm xmlns:a="http://schemas.openxmlformats.org/drawingml/2006/main">
            <a:off x="896112" y="1874520"/>
            <a:ext cx="530352" cy="5120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FFFFFF"/>
                </a:solidFill>
              </a:defRPr>
            </a:pPr>
            <a:r>
              <a:rPr sz="1350" b="1" i="0">
                <a:solidFill>
                  <a:srgbClr val="FFFFFF"/>
                </a:solidFill>
              </a:rPr>
              <a:t>$</a:t>
            </a:r>
          </a:p>
        </p:txBody>
      </p:sp>
      <p:sp>
        <p:nvSpPr>
          <p:cNvPr id="9" name="text-62">
            <a:extLst xmlns:a="http://schemas.openxmlformats.org/drawingml/2006/main">
              <a:ext uri="{FF2B5EF4-FFF2-40B4-BE49-F238E27FC236}">
                <a16:creationId xmlns:a16="http://schemas.microsoft.com/office/drawing/2014/main" id="{85AC5931-B71C-442A-9518-2255CC1DEF6C}"/>
              </a:ext>
            </a:extLst>
          </p:cNvPr>
          <p:cNvSpPr>
            <a:spLocks xmlns:a="http://schemas.openxmlformats.org/drawingml/2006/main" noGrp="1"/>
          </p:cNvSpPr>
          <p:nvPr/>
        </p:nvSpPr>
        <p:spPr>
          <a:xfrm xmlns:a="http://schemas.openxmlformats.org/drawingml/2006/main">
            <a:off x="1572768" y="1947672"/>
            <a:ext cx="19659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1" i="0">
                <a:solidFill>
                  <a:srgbClr val="0B1736"/>
                </a:solidFill>
              </a:defRPr>
            </a:pPr>
            <a:r>
              <a:rPr sz="1013" b="1" i="0">
                <a:solidFill>
                  <a:srgbClr val="0B1736"/>
                </a:solidFill>
              </a:rPr>
              <a:t>COMPANY VALUE</a:t>
            </a:r>
          </a:p>
        </p:txBody>
      </p:sp>
      <p:sp>
        <p:nvSpPr>
          <p:cNvPr id="10" name="shape-63">
            <a:extLst xmlns:a="http://schemas.openxmlformats.org/drawingml/2006/main">
              <a:ext uri="{FF2B5EF4-FFF2-40B4-BE49-F238E27FC236}">
                <a16:creationId xmlns:a16="http://schemas.microsoft.com/office/drawing/2014/main" id="{7D70A3A9-D9EB-4931-B56B-C6723D176F36}"/>
              </a:ext>
            </a:extLst>
          </p:cNvPr>
          <p:cNvSpPr>
            <a:spLocks xmlns:a="http://schemas.openxmlformats.org/drawingml/2006/main" noGrp="1"/>
          </p:cNvSpPr>
          <p:nvPr/>
        </p:nvSpPr>
        <p:spPr>
          <a:xfrm xmlns:a="http://schemas.openxmlformats.org/drawingml/2006/main">
            <a:off x="896112" y="2670048"/>
            <a:ext cx="2670048"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11" name="shape-64">
            <a:extLst xmlns:a="http://schemas.openxmlformats.org/drawingml/2006/main">
              <a:ext uri="{FF2B5EF4-FFF2-40B4-BE49-F238E27FC236}">
                <a16:creationId xmlns:a16="http://schemas.microsoft.com/office/drawing/2014/main" id="{79BCBB4A-B140-43FD-A571-A1271B7DEEF9}"/>
              </a:ext>
            </a:extLst>
          </p:cNvPr>
          <p:cNvSpPr>
            <a:spLocks xmlns:a="http://schemas.openxmlformats.org/drawingml/2006/main" noGrp="1"/>
          </p:cNvSpPr>
          <p:nvPr/>
        </p:nvSpPr>
        <p:spPr>
          <a:xfrm xmlns:a="http://schemas.openxmlformats.org/drawingml/2006/main">
            <a:off x="932688" y="3035808"/>
            <a:ext cx="201168" cy="201168"/>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2" name="text-65">
            <a:extLst xmlns:a="http://schemas.openxmlformats.org/drawingml/2006/main">
              <a:ext uri="{FF2B5EF4-FFF2-40B4-BE49-F238E27FC236}">
                <a16:creationId xmlns:a16="http://schemas.microsoft.com/office/drawing/2014/main" id="{D27612F7-90B6-4954-B499-7361F3F84FFB}"/>
              </a:ext>
            </a:extLst>
          </p:cNvPr>
          <p:cNvSpPr>
            <a:spLocks xmlns:a="http://schemas.openxmlformats.org/drawingml/2006/main" noGrp="1"/>
          </p:cNvSpPr>
          <p:nvPr/>
        </p:nvSpPr>
        <p:spPr>
          <a:xfrm xmlns:a="http://schemas.openxmlformats.org/drawingml/2006/main">
            <a:off x="932688" y="3044952"/>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3" name="text-66">
            <a:extLst xmlns:a="http://schemas.openxmlformats.org/drawingml/2006/main">
              <a:ext uri="{FF2B5EF4-FFF2-40B4-BE49-F238E27FC236}">
                <a16:creationId xmlns:a16="http://schemas.microsoft.com/office/drawing/2014/main" id="{328B2844-21BF-4822-BEE7-A0D7B0054B2C}"/>
              </a:ext>
            </a:extLst>
          </p:cNvPr>
          <p:cNvSpPr>
            <a:spLocks xmlns:a="http://schemas.openxmlformats.org/drawingml/2006/main" noGrp="1"/>
          </p:cNvSpPr>
          <p:nvPr/>
        </p:nvSpPr>
        <p:spPr>
          <a:xfrm xmlns:a="http://schemas.openxmlformats.org/drawingml/2006/main">
            <a:off x="1289304" y="2990088"/>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Reduce manual quality checks</a:t>
            </a:r>
          </a:p>
        </p:txBody>
      </p:sp>
      <p:sp>
        <p:nvSpPr>
          <p:cNvPr id="14" name="shape-67">
            <a:extLst xmlns:a="http://schemas.openxmlformats.org/drawingml/2006/main">
              <a:ext uri="{FF2B5EF4-FFF2-40B4-BE49-F238E27FC236}">
                <a16:creationId xmlns:a16="http://schemas.microsoft.com/office/drawing/2014/main" id="{E112AFD5-65AD-4FC4-9181-40E7B36558BF}"/>
              </a:ext>
            </a:extLst>
          </p:cNvPr>
          <p:cNvSpPr>
            <a:spLocks xmlns:a="http://schemas.openxmlformats.org/drawingml/2006/main" noGrp="1"/>
          </p:cNvSpPr>
          <p:nvPr/>
        </p:nvSpPr>
        <p:spPr>
          <a:xfrm xmlns:a="http://schemas.openxmlformats.org/drawingml/2006/main">
            <a:off x="932688" y="3794760"/>
            <a:ext cx="201168" cy="201168"/>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5" name="text-68">
            <a:extLst xmlns:a="http://schemas.openxmlformats.org/drawingml/2006/main">
              <a:ext uri="{FF2B5EF4-FFF2-40B4-BE49-F238E27FC236}">
                <a16:creationId xmlns:a16="http://schemas.microsoft.com/office/drawing/2014/main" id="{49513EAC-8045-4003-A20C-D46971E5C39E}"/>
              </a:ext>
            </a:extLst>
          </p:cNvPr>
          <p:cNvSpPr>
            <a:spLocks xmlns:a="http://schemas.openxmlformats.org/drawingml/2006/main" noGrp="1"/>
          </p:cNvSpPr>
          <p:nvPr/>
        </p:nvSpPr>
        <p:spPr>
          <a:xfrm xmlns:a="http://schemas.openxmlformats.org/drawingml/2006/main">
            <a:off x="932688" y="3803904"/>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6" name="text-69">
            <a:extLst xmlns:a="http://schemas.openxmlformats.org/drawingml/2006/main">
              <a:ext uri="{FF2B5EF4-FFF2-40B4-BE49-F238E27FC236}">
                <a16:creationId xmlns:a16="http://schemas.microsoft.com/office/drawing/2014/main" id="{BFD918ED-C75A-4CBE-980E-1704A6CC64EB}"/>
              </a:ext>
            </a:extLst>
          </p:cNvPr>
          <p:cNvSpPr>
            <a:spLocks xmlns:a="http://schemas.openxmlformats.org/drawingml/2006/main" noGrp="1"/>
          </p:cNvSpPr>
          <p:nvPr/>
        </p:nvSpPr>
        <p:spPr>
          <a:xfrm xmlns:a="http://schemas.openxmlformats.org/drawingml/2006/main">
            <a:off x="1289304" y="3749040"/>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Use people on exceptions and improvement</a:t>
            </a:r>
          </a:p>
        </p:txBody>
      </p:sp>
      <p:sp>
        <p:nvSpPr>
          <p:cNvPr id="17" name="shape-70">
            <a:extLst xmlns:a="http://schemas.openxmlformats.org/drawingml/2006/main">
              <a:ext uri="{FF2B5EF4-FFF2-40B4-BE49-F238E27FC236}">
                <a16:creationId xmlns:a16="http://schemas.microsoft.com/office/drawing/2014/main" id="{C8253586-74B7-4F87-A500-A19AB30AE042}"/>
              </a:ext>
            </a:extLst>
          </p:cNvPr>
          <p:cNvSpPr>
            <a:spLocks xmlns:a="http://schemas.openxmlformats.org/drawingml/2006/main" noGrp="1"/>
          </p:cNvSpPr>
          <p:nvPr/>
        </p:nvSpPr>
        <p:spPr>
          <a:xfrm xmlns:a="http://schemas.openxmlformats.org/drawingml/2006/main">
            <a:off x="932688" y="4553712"/>
            <a:ext cx="201168" cy="201168"/>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8" name="text-71">
            <a:extLst xmlns:a="http://schemas.openxmlformats.org/drawingml/2006/main">
              <a:ext uri="{FF2B5EF4-FFF2-40B4-BE49-F238E27FC236}">
                <a16:creationId xmlns:a16="http://schemas.microsoft.com/office/drawing/2014/main" id="{7D7CB818-5E0E-4C23-9B49-4580B0CA5D1B}"/>
              </a:ext>
            </a:extLst>
          </p:cNvPr>
          <p:cNvSpPr>
            <a:spLocks xmlns:a="http://schemas.openxmlformats.org/drawingml/2006/main" noGrp="1"/>
          </p:cNvSpPr>
          <p:nvPr/>
        </p:nvSpPr>
        <p:spPr>
          <a:xfrm xmlns:a="http://schemas.openxmlformats.org/drawingml/2006/main">
            <a:off x="932688" y="4562856"/>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9" name="text-72">
            <a:extLst xmlns:a="http://schemas.openxmlformats.org/drawingml/2006/main">
              <a:ext uri="{FF2B5EF4-FFF2-40B4-BE49-F238E27FC236}">
                <a16:creationId xmlns:a16="http://schemas.microsoft.com/office/drawing/2014/main" id="{7345061D-A9B3-4D07-B229-0688EE5D5F70}"/>
              </a:ext>
            </a:extLst>
          </p:cNvPr>
          <p:cNvSpPr>
            <a:spLocks xmlns:a="http://schemas.openxmlformats.org/drawingml/2006/main" noGrp="1"/>
          </p:cNvSpPr>
          <p:nvPr/>
        </p:nvSpPr>
        <p:spPr>
          <a:xfrm xmlns:a="http://schemas.openxmlformats.org/drawingml/2006/main">
            <a:off x="1289304" y="4507992"/>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Avoid linear staffing growth as volume rises</a:t>
            </a:r>
          </a:p>
        </p:txBody>
      </p:sp>
      <p:sp>
        <p:nvSpPr>
          <p:cNvPr id="20" name="text-73">
            <a:extLst xmlns:a="http://schemas.openxmlformats.org/drawingml/2006/main">
              <a:ext uri="{FF2B5EF4-FFF2-40B4-BE49-F238E27FC236}">
                <a16:creationId xmlns:a16="http://schemas.microsoft.com/office/drawing/2014/main" id="{4BC2A679-7FF3-496A-BDDE-4B54C5511B4C}"/>
              </a:ext>
            </a:extLst>
          </p:cNvPr>
          <p:cNvSpPr>
            <a:spLocks xmlns:a="http://schemas.openxmlformats.org/drawingml/2006/main" noGrp="1"/>
          </p:cNvSpPr>
          <p:nvPr/>
        </p:nvSpPr>
        <p:spPr>
          <a:xfrm xmlns:a="http://schemas.openxmlformats.org/drawingml/2006/main">
            <a:off x="905256" y="5212080"/>
            <a:ext cx="24688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F80ED"/>
                </a:solidFill>
              </a:defRPr>
            </a:pPr>
            <a:r>
              <a:rPr sz="1125" b="1" i="0">
                <a:solidFill>
                  <a:srgbClr val="2F80ED"/>
                </a:solidFill>
              </a:rPr>
              <a:t>Capacity</a:t>
            </a:r>
          </a:p>
        </p:txBody>
      </p:sp>
      <p:sp>
        <p:nvSpPr>
          <p:cNvPr id="21" name="shape-74">
            <a:extLst xmlns:a="http://schemas.openxmlformats.org/drawingml/2006/main">
              <a:ext uri="{FF2B5EF4-FFF2-40B4-BE49-F238E27FC236}">
                <a16:creationId xmlns:a16="http://schemas.microsoft.com/office/drawing/2014/main" id="{83CC28D2-6A6C-439D-AD59-F8CE46B84F82}"/>
              </a:ext>
            </a:extLst>
          </p:cNvPr>
          <p:cNvSpPr>
            <a:spLocks xmlns:a="http://schemas.openxmlformats.org/drawingml/2006/main" noGrp="1"/>
          </p:cNvSpPr>
          <p:nvPr/>
        </p:nvSpPr>
        <p:spPr>
          <a:xfrm xmlns:a="http://schemas.openxmlformats.org/drawingml/2006/main">
            <a:off x="4142232" y="1591056"/>
            <a:ext cx="3246120" cy="4096512"/>
          </a:xfrm>
          <a:prstGeom xmlns:a="http://schemas.openxmlformats.org/drawingml/2006/main" prst="roundRect">
            <a:avLst>
              <a:gd name="adj" fmla="val 2347"/>
            </a:avLst>
          </a:prstGeom>
          <a:solidFill xmlns:a="http://schemas.openxmlformats.org/drawingml/2006/main">
            <a:srgbClr val="E9FBFD"/>
          </a:solidFill>
          <a:ln xmlns:a="http://schemas.openxmlformats.org/drawingml/2006/main" w="9525">
            <a:solidFill>
              <a:srgbClr val="D9E2F0"/>
            </a:solidFill>
            <a:prstDash val="solid"/>
          </a:ln>
        </p:spPr>
      </p:sp>
      <p:sp>
        <p:nvSpPr>
          <p:cNvPr id="22" name="shape-75">
            <a:extLst xmlns:a="http://schemas.openxmlformats.org/drawingml/2006/main">
              <a:ext uri="{FF2B5EF4-FFF2-40B4-BE49-F238E27FC236}">
                <a16:creationId xmlns:a16="http://schemas.microsoft.com/office/drawing/2014/main" id="{859DD78F-21B8-4A86-B8B2-F43B89217DA2}"/>
              </a:ext>
            </a:extLst>
          </p:cNvPr>
          <p:cNvSpPr>
            <a:spLocks xmlns:a="http://schemas.openxmlformats.org/drawingml/2006/main" noGrp="1"/>
          </p:cNvSpPr>
          <p:nvPr/>
        </p:nvSpPr>
        <p:spPr>
          <a:xfrm xmlns:a="http://schemas.openxmlformats.org/drawingml/2006/main">
            <a:off x="4416552" y="1865376"/>
            <a:ext cx="530352" cy="530352"/>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23" name="text-76">
            <a:extLst xmlns:a="http://schemas.openxmlformats.org/drawingml/2006/main">
              <a:ext uri="{FF2B5EF4-FFF2-40B4-BE49-F238E27FC236}">
                <a16:creationId xmlns:a16="http://schemas.microsoft.com/office/drawing/2014/main" id="{23EEA999-DC4F-4467-BB6F-72C4F5748C3D}"/>
              </a:ext>
            </a:extLst>
          </p:cNvPr>
          <p:cNvSpPr>
            <a:spLocks xmlns:a="http://schemas.openxmlformats.org/drawingml/2006/main" noGrp="1"/>
          </p:cNvSpPr>
          <p:nvPr/>
        </p:nvSpPr>
        <p:spPr>
          <a:xfrm xmlns:a="http://schemas.openxmlformats.org/drawingml/2006/main">
            <a:off x="4416552" y="1874520"/>
            <a:ext cx="530352" cy="5120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FFFFFF"/>
                </a:solidFill>
              </a:defRPr>
            </a:pPr>
            <a:r>
              <a:rPr sz="1350" b="1" i="0">
                <a:solidFill>
                  <a:srgbClr val="FFFFFF"/>
                </a:solidFill>
              </a:rPr>
              <a:t>R</a:t>
            </a:r>
          </a:p>
        </p:txBody>
      </p:sp>
      <p:sp>
        <p:nvSpPr>
          <p:cNvPr id="24" name="text-77">
            <a:extLst xmlns:a="http://schemas.openxmlformats.org/drawingml/2006/main">
              <a:ext uri="{FF2B5EF4-FFF2-40B4-BE49-F238E27FC236}">
                <a16:creationId xmlns:a16="http://schemas.microsoft.com/office/drawing/2014/main" id="{BAF2B7D6-120E-4678-959E-0FAC118B4367}"/>
              </a:ext>
            </a:extLst>
          </p:cNvPr>
          <p:cNvSpPr>
            <a:spLocks xmlns:a="http://schemas.openxmlformats.org/drawingml/2006/main" noGrp="1"/>
          </p:cNvSpPr>
          <p:nvPr/>
        </p:nvSpPr>
        <p:spPr>
          <a:xfrm xmlns:a="http://schemas.openxmlformats.org/drawingml/2006/main">
            <a:off x="5093208" y="1947672"/>
            <a:ext cx="19659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1" i="0">
                <a:solidFill>
                  <a:srgbClr val="0B1736"/>
                </a:solidFill>
              </a:defRPr>
            </a:pPr>
            <a:r>
              <a:rPr sz="1013" b="1" i="0">
                <a:solidFill>
                  <a:srgbClr val="0B1736"/>
                </a:solidFill>
              </a:rPr>
              <a:t>REVIEW VALUE</a:t>
            </a:r>
          </a:p>
        </p:txBody>
      </p:sp>
      <p:sp>
        <p:nvSpPr>
          <p:cNvPr id="25" name="shape-78">
            <a:extLst xmlns:a="http://schemas.openxmlformats.org/drawingml/2006/main">
              <a:ext uri="{FF2B5EF4-FFF2-40B4-BE49-F238E27FC236}">
                <a16:creationId xmlns:a16="http://schemas.microsoft.com/office/drawing/2014/main" id="{12B3849C-7090-4450-8DEE-FA8017B4B521}"/>
              </a:ext>
            </a:extLst>
          </p:cNvPr>
          <p:cNvSpPr>
            <a:spLocks xmlns:a="http://schemas.openxmlformats.org/drawingml/2006/main" noGrp="1"/>
          </p:cNvSpPr>
          <p:nvPr/>
        </p:nvSpPr>
        <p:spPr>
          <a:xfrm xmlns:a="http://schemas.openxmlformats.org/drawingml/2006/main">
            <a:off x="4416552" y="2670048"/>
            <a:ext cx="2670048"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26" name="shape-79">
            <a:extLst xmlns:a="http://schemas.openxmlformats.org/drawingml/2006/main">
              <a:ext uri="{FF2B5EF4-FFF2-40B4-BE49-F238E27FC236}">
                <a16:creationId xmlns:a16="http://schemas.microsoft.com/office/drawing/2014/main" id="{8CDB61CF-CA31-4FD9-8C5E-51F22D60F545}"/>
              </a:ext>
            </a:extLst>
          </p:cNvPr>
          <p:cNvSpPr>
            <a:spLocks xmlns:a="http://schemas.openxmlformats.org/drawingml/2006/main" noGrp="1"/>
          </p:cNvSpPr>
          <p:nvPr/>
        </p:nvSpPr>
        <p:spPr>
          <a:xfrm xmlns:a="http://schemas.openxmlformats.org/drawingml/2006/main">
            <a:off x="4453128" y="3035808"/>
            <a:ext cx="201168" cy="201168"/>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27" name="text-80">
            <a:extLst xmlns:a="http://schemas.openxmlformats.org/drawingml/2006/main">
              <a:ext uri="{FF2B5EF4-FFF2-40B4-BE49-F238E27FC236}">
                <a16:creationId xmlns:a16="http://schemas.microsoft.com/office/drawing/2014/main" id="{59FDF91A-4595-4493-A36C-916396134646}"/>
              </a:ext>
            </a:extLst>
          </p:cNvPr>
          <p:cNvSpPr>
            <a:spLocks xmlns:a="http://schemas.openxmlformats.org/drawingml/2006/main" noGrp="1"/>
          </p:cNvSpPr>
          <p:nvPr/>
        </p:nvSpPr>
        <p:spPr>
          <a:xfrm xmlns:a="http://schemas.openxmlformats.org/drawingml/2006/main">
            <a:off x="4453128" y="3044952"/>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8" name="text-81">
            <a:extLst xmlns:a="http://schemas.openxmlformats.org/drawingml/2006/main">
              <a:ext uri="{FF2B5EF4-FFF2-40B4-BE49-F238E27FC236}">
                <a16:creationId xmlns:a16="http://schemas.microsoft.com/office/drawing/2014/main" id="{60FB986B-5C2E-43F7-BC06-C5FEE42C2D24}"/>
              </a:ext>
            </a:extLst>
          </p:cNvPr>
          <p:cNvSpPr>
            <a:spLocks xmlns:a="http://schemas.openxmlformats.org/drawingml/2006/main" noGrp="1"/>
          </p:cNvSpPr>
          <p:nvPr/>
        </p:nvSpPr>
        <p:spPr>
          <a:xfrm xmlns:a="http://schemas.openxmlformats.org/drawingml/2006/main">
            <a:off x="4809744" y="2990088"/>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Create a reviewable record for every call</a:t>
            </a:r>
          </a:p>
        </p:txBody>
      </p:sp>
      <p:sp>
        <p:nvSpPr>
          <p:cNvPr id="29" name="shape-82">
            <a:extLst xmlns:a="http://schemas.openxmlformats.org/drawingml/2006/main">
              <a:ext uri="{FF2B5EF4-FFF2-40B4-BE49-F238E27FC236}">
                <a16:creationId xmlns:a16="http://schemas.microsoft.com/office/drawing/2014/main" id="{03226FA0-8B74-4E7D-B713-7668089F4E79}"/>
              </a:ext>
            </a:extLst>
          </p:cNvPr>
          <p:cNvSpPr>
            <a:spLocks xmlns:a="http://schemas.openxmlformats.org/drawingml/2006/main" noGrp="1"/>
          </p:cNvSpPr>
          <p:nvPr/>
        </p:nvSpPr>
        <p:spPr>
          <a:xfrm xmlns:a="http://schemas.openxmlformats.org/drawingml/2006/main">
            <a:off x="4453128" y="3794760"/>
            <a:ext cx="201168" cy="201168"/>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30" name="text-83">
            <a:extLst xmlns:a="http://schemas.openxmlformats.org/drawingml/2006/main">
              <a:ext uri="{FF2B5EF4-FFF2-40B4-BE49-F238E27FC236}">
                <a16:creationId xmlns:a16="http://schemas.microsoft.com/office/drawing/2014/main" id="{EF90D147-019A-4967-B0AB-3FB4EA6990D2}"/>
              </a:ext>
            </a:extLst>
          </p:cNvPr>
          <p:cNvSpPr>
            <a:spLocks xmlns:a="http://schemas.openxmlformats.org/drawingml/2006/main" noGrp="1"/>
          </p:cNvSpPr>
          <p:nvPr/>
        </p:nvSpPr>
        <p:spPr>
          <a:xfrm xmlns:a="http://schemas.openxmlformats.org/drawingml/2006/main">
            <a:off x="4453128" y="3803904"/>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1" name="text-84">
            <a:extLst xmlns:a="http://schemas.openxmlformats.org/drawingml/2006/main">
              <a:ext uri="{FF2B5EF4-FFF2-40B4-BE49-F238E27FC236}">
                <a16:creationId xmlns:a16="http://schemas.microsoft.com/office/drawing/2014/main" id="{87CBF253-A8CB-455E-86AD-F5642580D609}"/>
              </a:ext>
            </a:extLst>
          </p:cNvPr>
          <p:cNvSpPr>
            <a:spLocks xmlns:a="http://schemas.openxmlformats.org/drawingml/2006/main" noGrp="1"/>
          </p:cNvSpPr>
          <p:nvPr/>
        </p:nvSpPr>
        <p:spPr>
          <a:xfrm xmlns:a="http://schemas.openxmlformats.org/drawingml/2006/main">
            <a:off x="4809744" y="3749040"/>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Make retrospective checks faster</a:t>
            </a:r>
          </a:p>
        </p:txBody>
      </p:sp>
      <p:sp>
        <p:nvSpPr>
          <p:cNvPr id="32" name="shape-85">
            <a:extLst xmlns:a="http://schemas.openxmlformats.org/drawingml/2006/main">
              <a:ext uri="{FF2B5EF4-FFF2-40B4-BE49-F238E27FC236}">
                <a16:creationId xmlns:a16="http://schemas.microsoft.com/office/drawing/2014/main" id="{827A1BC3-0381-4A77-AD0C-3924BD71A120}"/>
              </a:ext>
            </a:extLst>
          </p:cNvPr>
          <p:cNvSpPr>
            <a:spLocks xmlns:a="http://schemas.openxmlformats.org/drawingml/2006/main" noGrp="1"/>
          </p:cNvSpPr>
          <p:nvPr/>
        </p:nvSpPr>
        <p:spPr>
          <a:xfrm xmlns:a="http://schemas.openxmlformats.org/drawingml/2006/main">
            <a:off x="4453128" y="4553712"/>
            <a:ext cx="201168" cy="201168"/>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33" name="text-86">
            <a:extLst xmlns:a="http://schemas.openxmlformats.org/drawingml/2006/main">
              <a:ext uri="{FF2B5EF4-FFF2-40B4-BE49-F238E27FC236}">
                <a16:creationId xmlns:a16="http://schemas.microsoft.com/office/drawing/2014/main" id="{D96D22CF-1408-422F-87FC-6D46F4AD38EC}"/>
              </a:ext>
            </a:extLst>
          </p:cNvPr>
          <p:cNvSpPr>
            <a:spLocks xmlns:a="http://schemas.openxmlformats.org/drawingml/2006/main" noGrp="1"/>
          </p:cNvSpPr>
          <p:nvPr/>
        </p:nvSpPr>
        <p:spPr>
          <a:xfrm xmlns:a="http://schemas.openxmlformats.org/drawingml/2006/main">
            <a:off x="4453128" y="4562856"/>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4" name="text-87">
            <a:extLst xmlns:a="http://schemas.openxmlformats.org/drawingml/2006/main">
              <a:ext uri="{FF2B5EF4-FFF2-40B4-BE49-F238E27FC236}">
                <a16:creationId xmlns:a16="http://schemas.microsoft.com/office/drawing/2014/main" id="{248602E0-944D-454B-A0BD-321D236B0924}"/>
              </a:ext>
            </a:extLst>
          </p:cNvPr>
          <p:cNvSpPr>
            <a:spLocks xmlns:a="http://schemas.openxmlformats.org/drawingml/2006/main" noGrp="1"/>
          </p:cNvSpPr>
          <p:nvPr/>
        </p:nvSpPr>
        <p:spPr>
          <a:xfrm xmlns:a="http://schemas.openxmlformats.org/drawingml/2006/main">
            <a:off x="4809744" y="4507992"/>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Find unusual patterns earlier</a:t>
            </a:r>
          </a:p>
        </p:txBody>
      </p:sp>
      <p:sp>
        <p:nvSpPr>
          <p:cNvPr id="35" name="text-88">
            <a:extLst xmlns:a="http://schemas.openxmlformats.org/drawingml/2006/main">
              <a:ext uri="{FF2B5EF4-FFF2-40B4-BE49-F238E27FC236}">
                <a16:creationId xmlns:a16="http://schemas.microsoft.com/office/drawing/2014/main" id="{7BE188CD-78F9-43A9-BEEE-B3AD7FB9AD7F}"/>
              </a:ext>
            </a:extLst>
          </p:cNvPr>
          <p:cNvSpPr>
            <a:spLocks xmlns:a="http://schemas.openxmlformats.org/drawingml/2006/main" noGrp="1"/>
          </p:cNvSpPr>
          <p:nvPr/>
        </p:nvSpPr>
        <p:spPr>
          <a:xfrm xmlns:a="http://schemas.openxmlformats.org/drawingml/2006/main">
            <a:off x="4425696" y="5212080"/>
            <a:ext cx="24688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6C6DA"/>
                </a:solidFill>
              </a:defRPr>
            </a:pPr>
            <a:r>
              <a:rPr sz="1125" b="1" i="0">
                <a:solidFill>
                  <a:srgbClr val="26C6DA"/>
                </a:solidFill>
              </a:rPr>
              <a:t>Visibility</a:t>
            </a:r>
          </a:p>
        </p:txBody>
      </p:sp>
      <p:sp>
        <p:nvSpPr>
          <p:cNvPr id="36" name="shape-89">
            <a:extLst xmlns:a="http://schemas.openxmlformats.org/drawingml/2006/main">
              <a:ext uri="{FF2B5EF4-FFF2-40B4-BE49-F238E27FC236}">
                <a16:creationId xmlns:a16="http://schemas.microsoft.com/office/drawing/2014/main" id="{555BB3ED-EE6E-4E11-89C0-3E44E97A88EA}"/>
              </a:ext>
            </a:extLst>
          </p:cNvPr>
          <p:cNvSpPr>
            <a:spLocks xmlns:a="http://schemas.openxmlformats.org/drawingml/2006/main" noGrp="1"/>
          </p:cNvSpPr>
          <p:nvPr/>
        </p:nvSpPr>
        <p:spPr>
          <a:xfrm xmlns:a="http://schemas.openxmlformats.org/drawingml/2006/main">
            <a:off x="7662672" y="1591056"/>
            <a:ext cx="3246120" cy="4096512"/>
          </a:xfrm>
          <a:prstGeom xmlns:a="http://schemas.openxmlformats.org/drawingml/2006/main" prst="roundRect">
            <a:avLst>
              <a:gd name="adj" fmla="val 2347"/>
            </a:avLst>
          </a:prstGeom>
          <a:solidFill xmlns:a="http://schemas.openxmlformats.org/drawingml/2006/main">
            <a:srgbClr val="E9F9F2"/>
          </a:solidFill>
          <a:ln xmlns:a="http://schemas.openxmlformats.org/drawingml/2006/main" w="9525">
            <a:solidFill>
              <a:srgbClr val="D9E2F0"/>
            </a:solidFill>
            <a:prstDash val="solid"/>
          </a:ln>
        </p:spPr>
      </p:sp>
      <p:sp>
        <p:nvSpPr>
          <p:cNvPr id="37" name="shape-90">
            <a:extLst xmlns:a="http://schemas.openxmlformats.org/drawingml/2006/main">
              <a:ext uri="{FF2B5EF4-FFF2-40B4-BE49-F238E27FC236}">
                <a16:creationId xmlns:a16="http://schemas.microsoft.com/office/drawing/2014/main" id="{8BA4D3AE-D75D-49CB-B4A2-A3CE08DEA978}"/>
              </a:ext>
            </a:extLst>
          </p:cNvPr>
          <p:cNvSpPr>
            <a:spLocks xmlns:a="http://schemas.openxmlformats.org/drawingml/2006/main" noGrp="1"/>
          </p:cNvSpPr>
          <p:nvPr/>
        </p:nvSpPr>
        <p:spPr>
          <a:xfrm xmlns:a="http://schemas.openxmlformats.org/drawingml/2006/main">
            <a:off x="7936992" y="1865376"/>
            <a:ext cx="530352" cy="530352"/>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38" name="text-91">
            <a:extLst xmlns:a="http://schemas.openxmlformats.org/drawingml/2006/main">
              <a:ext uri="{FF2B5EF4-FFF2-40B4-BE49-F238E27FC236}">
                <a16:creationId xmlns:a16="http://schemas.microsoft.com/office/drawing/2014/main" id="{BBABE3D6-ADF5-4EDB-8CFF-BD9AEE57BEF9}"/>
              </a:ext>
            </a:extLst>
          </p:cNvPr>
          <p:cNvSpPr>
            <a:spLocks xmlns:a="http://schemas.openxmlformats.org/drawingml/2006/main" noGrp="1"/>
          </p:cNvSpPr>
          <p:nvPr/>
        </p:nvSpPr>
        <p:spPr>
          <a:xfrm xmlns:a="http://schemas.openxmlformats.org/drawingml/2006/main">
            <a:off x="7936992" y="1874520"/>
            <a:ext cx="530352" cy="5120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FFFFFF"/>
                </a:solidFill>
              </a:defRPr>
            </a:pPr>
            <a:r>
              <a:rPr sz="1350" b="1" i="0">
                <a:solidFill>
                  <a:srgbClr val="FFFFFF"/>
                </a:solidFill>
              </a:rPr>
              <a:t>C</a:t>
            </a:r>
          </a:p>
        </p:txBody>
      </p:sp>
      <p:sp>
        <p:nvSpPr>
          <p:cNvPr id="39" name="text-92">
            <a:extLst xmlns:a="http://schemas.openxmlformats.org/drawingml/2006/main">
              <a:ext uri="{FF2B5EF4-FFF2-40B4-BE49-F238E27FC236}">
                <a16:creationId xmlns:a16="http://schemas.microsoft.com/office/drawing/2014/main" id="{13F4BA86-D964-4F53-B80C-3D86627085C1}"/>
              </a:ext>
            </a:extLst>
          </p:cNvPr>
          <p:cNvSpPr>
            <a:spLocks xmlns:a="http://schemas.openxmlformats.org/drawingml/2006/main" noGrp="1"/>
          </p:cNvSpPr>
          <p:nvPr/>
        </p:nvSpPr>
        <p:spPr>
          <a:xfrm xmlns:a="http://schemas.openxmlformats.org/drawingml/2006/main">
            <a:off x="8613648" y="1947672"/>
            <a:ext cx="196596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13" b="1" i="0">
                <a:solidFill>
                  <a:srgbClr val="0B1736"/>
                </a:solidFill>
              </a:defRPr>
            </a:pPr>
            <a:r>
              <a:rPr sz="1013" b="1" i="0">
                <a:solidFill>
                  <a:srgbClr val="0B1736"/>
                </a:solidFill>
              </a:rPr>
              <a:t>CUSTOMER VALUE</a:t>
            </a:r>
          </a:p>
        </p:txBody>
      </p:sp>
      <p:sp>
        <p:nvSpPr>
          <p:cNvPr id="40" name="shape-93">
            <a:extLst xmlns:a="http://schemas.openxmlformats.org/drawingml/2006/main">
              <a:ext uri="{FF2B5EF4-FFF2-40B4-BE49-F238E27FC236}">
                <a16:creationId xmlns:a16="http://schemas.microsoft.com/office/drawing/2014/main" id="{6E409B60-3575-416A-B73E-C841443074FB}"/>
              </a:ext>
            </a:extLst>
          </p:cNvPr>
          <p:cNvSpPr>
            <a:spLocks xmlns:a="http://schemas.openxmlformats.org/drawingml/2006/main" noGrp="1"/>
          </p:cNvSpPr>
          <p:nvPr/>
        </p:nvSpPr>
        <p:spPr>
          <a:xfrm xmlns:a="http://schemas.openxmlformats.org/drawingml/2006/main">
            <a:off x="7936992" y="2670048"/>
            <a:ext cx="2670048"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41" name="shape-94">
            <a:extLst xmlns:a="http://schemas.openxmlformats.org/drawingml/2006/main">
              <a:ext uri="{FF2B5EF4-FFF2-40B4-BE49-F238E27FC236}">
                <a16:creationId xmlns:a16="http://schemas.microsoft.com/office/drawing/2014/main" id="{AE9E0743-2EB2-4C01-880A-451FB6CC6A79}"/>
              </a:ext>
            </a:extLst>
          </p:cNvPr>
          <p:cNvSpPr>
            <a:spLocks xmlns:a="http://schemas.openxmlformats.org/drawingml/2006/main" noGrp="1"/>
          </p:cNvSpPr>
          <p:nvPr/>
        </p:nvSpPr>
        <p:spPr>
          <a:xfrm xmlns:a="http://schemas.openxmlformats.org/drawingml/2006/main">
            <a:off x="7973568" y="3035808"/>
            <a:ext cx="201168" cy="201168"/>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2" name="text-95">
            <a:extLst xmlns:a="http://schemas.openxmlformats.org/drawingml/2006/main">
              <a:ext uri="{FF2B5EF4-FFF2-40B4-BE49-F238E27FC236}">
                <a16:creationId xmlns:a16="http://schemas.microsoft.com/office/drawing/2014/main" id="{86D0855D-3ED6-4339-AFFB-0463CEAA8FE8}"/>
              </a:ext>
            </a:extLst>
          </p:cNvPr>
          <p:cNvSpPr>
            <a:spLocks xmlns:a="http://schemas.openxmlformats.org/drawingml/2006/main" noGrp="1"/>
          </p:cNvSpPr>
          <p:nvPr/>
        </p:nvSpPr>
        <p:spPr>
          <a:xfrm xmlns:a="http://schemas.openxmlformats.org/drawingml/2006/main">
            <a:off x="7973568" y="3044952"/>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3" name="text-96">
            <a:extLst xmlns:a="http://schemas.openxmlformats.org/drawingml/2006/main">
              <a:ext uri="{FF2B5EF4-FFF2-40B4-BE49-F238E27FC236}">
                <a16:creationId xmlns:a16="http://schemas.microsoft.com/office/drawing/2014/main" id="{095C94BD-1297-4489-BCBF-576BCF998016}"/>
              </a:ext>
            </a:extLst>
          </p:cNvPr>
          <p:cNvSpPr>
            <a:spLocks xmlns:a="http://schemas.openxmlformats.org/drawingml/2006/main" noGrp="1"/>
          </p:cNvSpPr>
          <p:nvPr/>
        </p:nvSpPr>
        <p:spPr>
          <a:xfrm xmlns:a="http://schemas.openxmlformats.org/drawingml/2006/main">
            <a:off x="8330184" y="2990088"/>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Reduce filler conversation</a:t>
            </a:r>
          </a:p>
        </p:txBody>
      </p:sp>
      <p:sp>
        <p:nvSpPr>
          <p:cNvPr id="44" name="shape-97">
            <a:extLst xmlns:a="http://schemas.openxmlformats.org/drawingml/2006/main">
              <a:ext uri="{FF2B5EF4-FFF2-40B4-BE49-F238E27FC236}">
                <a16:creationId xmlns:a16="http://schemas.microsoft.com/office/drawing/2014/main" id="{B54E1B5A-046A-430A-B37E-8BD184BEE875}"/>
              </a:ext>
            </a:extLst>
          </p:cNvPr>
          <p:cNvSpPr>
            <a:spLocks xmlns:a="http://schemas.openxmlformats.org/drawingml/2006/main" noGrp="1"/>
          </p:cNvSpPr>
          <p:nvPr/>
        </p:nvSpPr>
        <p:spPr>
          <a:xfrm xmlns:a="http://schemas.openxmlformats.org/drawingml/2006/main">
            <a:off x="7973568" y="3794760"/>
            <a:ext cx="201168" cy="201168"/>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5" name="text-98">
            <a:extLst xmlns:a="http://schemas.openxmlformats.org/drawingml/2006/main">
              <a:ext uri="{FF2B5EF4-FFF2-40B4-BE49-F238E27FC236}">
                <a16:creationId xmlns:a16="http://schemas.microsoft.com/office/drawing/2014/main" id="{7E898EF0-0D05-4C37-BCF9-C468B5E374B5}"/>
              </a:ext>
            </a:extLst>
          </p:cNvPr>
          <p:cNvSpPr>
            <a:spLocks xmlns:a="http://schemas.openxmlformats.org/drawingml/2006/main" noGrp="1"/>
          </p:cNvSpPr>
          <p:nvPr/>
        </p:nvSpPr>
        <p:spPr>
          <a:xfrm xmlns:a="http://schemas.openxmlformats.org/drawingml/2006/main">
            <a:off x="7973568" y="3803904"/>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6" name="text-99">
            <a:extLst xmlns:a="http://schemas.openxmlformats.org/drawingml/2006/main">
              <a:ext uri="{FF2B5EF4-FFF2-40B4-BE49-F238E27FC236}">
                <a16:creationId xmlns:a16="http://schemas.microsoft.com/office/drawing/2014/main" id="{C216CB3F-34B4-4932-98EC-7BADADD4A605}"/>
              </a:ext>
            </a:extLst>
          </p:cNvPr>
          <p:cNvSpPr>
            <a:spLocks xmlns:a="http://schemas.openxmlformats.org/drawingml/2006/main" noGrp="1"/>
          </p:cNvSpPr>
          <p:nvPr/>
        </p:nvSpPr>
        <p:spPr>
          <a:xfrm xmlns:a="http://schemas.openxmlformats.org/drawingml/2006/main">
            <a:off x="8330184" y="3749040"/>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Keep service interactions focused</a:t>
            </a:r>
          </a:p>
        </p:txBody>
      </p:sp>
      <p:sp>
        <p:nvSpPr>
          <p:cNvPr id="47" name="shape-100">
            <a:extLst xmlns:a="http://schemas.openxmlformats.org/drawingml/2006/main">
              <a:ext uri="{FF2B5EF4-FFF2-40B4-BE49-F238E27FC236}">
                <a16:creationId xmlns:a16="http://schemas.microsoft.com/office/drawing/2014/main" id="{BC228031-D48A-4BE1-83B4-C571811151B6}"/>
              </a:ext>
            </a:extLst>
          </p:cNvPr>
          <p:cNvSpPr>
            <a:spLocks xmlns:a="http://schemas.openxmlformats.org/drawingml/2006/main" noGrp="1"/>
          </p:cNvSpPr>
          <p:nvPr/>
        </p:nvSpPr>
        <p:spPr>
          <a:xfrm xmlns:a="http://schemas.openxmlformats.org/drawingml/2006/main">
            <a:off x="7973568" y="4553712"/>
            <a:ext cx="201168" cy="201168"/>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8" name="text-101">
            <a:extLst xmlns:a="http://schemas.openxmlformats.org/drawingml/2006/main">
              <a:ext uri="{FF2B5EF4-FFF2-40B4-BE49-F238E27FC236}">
                <a16:creationId xmlns:a16="http://schemas.microsoft.com/office/drawing/2014/main" id="{7596EA17-36B8-43C9-98CF-51AA1764BE7E}"/>
              </a:ext>
            </a:extLst>
          </p:cNvPr>
          <p:cNvSpPr>
            <a:spLocks xmlns:a="http://schemas.openxmlformats.org/drawingml/2006/main" noGrp="1"/>
          </p:cNvSpPr>
          <p:nvPr/>
        </p:nvSpPr>
        <p:spPr>
          <a:xfrm xmlns:a="http://schemas.openxmlformats.org/drawingml/2006/main">
            <a:off x="7973568" y="4562856"/>
            <a:ext cx="201168" cy="182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9" name="text-102">
            <a:extLst xmlns:a="http://schemas.openxmlformats.org/drawingml/2006/main">
              <a:ext uri="{FF2B5EF4-FFF2-40B4-BE49-F238E27FC236}">
                <a16:creationId xmlns:a16="http://schemas.microsoft.com/office/drawing/2014/main" id="{007461B0-2CA1-4626-B501-0E923AD9DD0D}"/>
              </a:ext>
            </a:extLst>
          </p:cNvPr>
          <p:cNvSpPr>
            <a:spLocks xmlns:a="http://schemas.openxmlformats.org/drawingml/2006/main" noGrp="1"/>
          </p:cNvSpPr>
          <p:nvPr/>
        </p:nvSpPr>
        <p:spPr>
          <a:xfrm xmlns:a="http://schemas.openxmlformats.org/drawingml/2006/main">
            <a:off x="8330184" y="4507992"/>
            <a:ext cx="221284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38" b="0" i="0">
                <a:solidFill>
                  <a:srgbClr val="12203A"/>
                </a:solidFill>
              </a:defRPr>
            </a:pPr>
            <a:r>
              <a:rPr sz="1238" b="0" i="0">
                <a:solidFill>
                  <a:srgbClr val="12203A"/>
                </a:solidFill>
              </a:rPr>
              <a:t>Improve consistency across teams</a:t>
            </a:r>
          </a:p>
        </p:txBody>
      </p:sp>
      <p:sp>
        <p:nvSpPr>
          <p:cNvPr id="50" name="text-103">
            <a:extLst xmlns:a="http://schemas.openxmlformats.org/drawingml/2006/main">
              <a:ext uri="{FF2B5EF4-FFF2-40B4-BE49-F238E27FC236}">
                <a16:creationId xmlns:a16="http://schemas.microsoft.com/office/drawing/2014/main" id="{CFBEB0E7-D800-4E96-AEF1-6DDFC2FEAD90}"/>
              </a:ext>
            </a:extLst>
          </p:cNvPr>
          <p:cNvSpPr>
            <a:spLocks xmlns:a="http://schemas.openxmlformats.org/drawingml/2006/main" noGrp="1"/>
          </p:cNvSpPr>
          <p:nvPr/>
        </p:nvSpPr>
        <p:spPr>
          <a:xfrm xmlns:a="http://schemas.openxmlformats.org/drawingml/2006/main">
            <a:off x="7946136" y="5212080"/>
            <a:ext cx="24688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10B981"/>
                </a:solidFill>
              </a:defRPr>
            </a:pPr>
            <a:r>
              <a:rPr sz="1125" b="1" i="0">
                <a:solidFill>
                  <a:srgbClr val="10B981"/>
                </a:solidFill>
              </a:rPr>
              <a:t>Trust</a:t>
            </a:r>
          </a:p>
        </p:txBody>
      </p:sp>
      <p:sp>
        <p:nvSpPr>
          <p:cNvPr id="51" name="shape-104">
            <a:extLst xmlns:a="http://schemas.openxmlformats.org/drawingml/2006/main">
              <a:ext uri="{FF2B5EF4-FFF2-40B4-BE49-F238E27FC236}">
                <a16:creationId xmlns:a16="http://schemas.microsoft.com/office/drawing/2014/main" id="{25A59BEE-6327-4FFE-9BBA-2BDC2D43F9AD}"/>
              </a:ext>
            </a:extLst>
          </p:cNvPr>
          <p:cNvSpPr>
            <a:spLocks xmlns:a="http://schemas.openxmlformats.org/drawingml/2006/main" noGrp="1"/>
          </p:cNvSpPr>
          <p:nvPr/>
        </p:nvSpPr>
        <p:spPr>
          <a:xfrm xmlns:a="http://schemas.openxmlformats.org/drawingml/2006/main">
            <a:off x="621792" y="5870448"/>
            <a:ext cx="10287000" cy="393192"/>
          </a:xfrm>
          <a:prstGeom xmlns:a="http://schemas.openxmlformats.org/drawingml/2006/main" prst="roundRect">
            <a:avLst>
              <a:gd name="adj" fmla="val 19380"/>
            </a:avLst>
          </a:prstGeom>
          <a:solidFill xmlns:a="http://schemas.openxmlformats.org/drawingml/2006/main">
            <a:srgbClr val="0B1736"/>
          </a:solidFill>
          <a:ln xmlns:a="http://schemas.openxmlformats.org/drawingml/2006/main" w="0">
            <a:solidFill>
              <a:srgbClr val="0B1736"/>
            </a:solidFill>
            <a:prstDash val="solid"/>
          </a:ln>
        </p:spPr>
      </p:sp>
      <p:sp>
        <p:nvSpPr>
          <p:cNvPr id="52" name="text-105">
            <a:extLst xmlns:a="http://schemas.openxmlformats.org/drawingml/2006/main">
              <a:ext uri="{FF2B5EF4-FFF2-40B4-BE49-F238E27FC236}">
                <a16:creationId xmlns:a16="http://schemas.microsoft.com/office/drawing/2014/main" id="{2B7156CD-8100-438D-AA39-1C4B05F50942}"/>
              </a:ext>
            </a:extLst>
          </p:cNvPr>
          <p:cNvSpPr>
            <a:spLocks xmlns:a="http://schemas.openxmlformats.org/drawingml/2006/main" noGrp="1"/>
          </p:cNvSpPr>
          <p:nvPr/>
        </p:nvSpPr>
        <p:spPr>
          <a:xfrm xmlns:a="http://schemas.openxmlformats.org/drawingml/2006/main">
            <a:off x="841248" y="5943600"/>
            <a:ext cx="9857232"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FFFFF"/>
                </a:solidFill>
              </a:defRPr>
            </a:pPr>
            <a:r>
              <a:rPr sz="1050" b="1" i="0">
                <a:solidFill>
                  <a:srgbClr val="FFFFFF"/>
                </a:solidFill>
              </a:rPr>
              <a:t>THE RESULT: BETTER COVERAGE WITH LESS MANUAL EFFORT</a:t>
            </a:r>
          </a:p>
        </p:txBody>
      </p:sp>
    </p:spTree>
    <p:extLst>
      <p:ext uri="{BB962C8B-B14F-4D97-AF65-F5344CB8AC3E}">
        <p14:creationId xmlns:p14="http://schemas.microsoft.com/office/powerpoint/2010/main" val="112353040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1" name="shape-106">
            <a:extLst xmlns:a="http://schemas.openxmlformats.org/drawingml/2006/main">
              <a:ext uri="{FF2B5EF4-FFF2-40B4-BE49-F238E27FC236}">
                <a16:creationId xmlns:a16="http://schemas.microsoft.com/office/drawing/2014/main" id="{A281FA08-879E-42E4-85BB-9A5B6807022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107">
            <a:extLst xmlns:a="http://schemas.openxmlformats.org/drawingml/2006/main">
              <a:ext uri="{FF2B5EF4-FFF2-40B4-BE49-F238E27FC236}">
                <a16:creationId xmlns:a16="http://schemas.microsoft.com/office/drawing/2014/main" id="{1875026D-CDB7-4C33-82FA-FFDD56AFF7FD}"/>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Turn every call into a comparable quality signal</a:t>
            </a:r>
          </a:p>
        </p:txBody>
      </p:sp>
      <p:sp>
        <p:nvSpPr>
          <p:cNvPr id="3" name="text-108">
            <a:extLst xmlns:a="http://schemas.openxmlformats.org/drawingml/2006/main">
              <a:ext uri="{FF2B5EF4-FFF2-40B4-BE49-F238E27FC236}">
                <a16:creationId xmlns:a16="http://schemas.microsoft.com/office/drawing/2014/main" id="{D319DF41-DA6B-4ADD-85AE-A27A404E2F3A}"/>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A simple operating model converts conversations into findings and actions.</a:t>
            </a:r>
          </a:p>
        </p:txBody>
      </p:sp>
      <p:sp>
        <p:nvSpPr>
          <p:cNvPr id="4" name="text-109">
            <a:extLst xmlns:a="http://schemas.openxmlformats.org/drawingml/2006/main">
              <a:ext uri="{FF2B5EF4-FFF2-40B4-BE49-F238E27FC236}">
                <a16:creationId xmlns:a16="http://schemas.microsoft.com/office/drawing/2014/main" id="{E34CB278-3DCF-4C08-BFEA-444800399574}"/>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110">
            <a:extLst xmlns:a="http://schemas.openxmlformats.org/drawingml/2006/main">
              <a:ext uri="{FF2B5EF4-FFF2-40B4-BE49-F238E27FC236}">
                <a16:creationId xmlns:a16="http://schemas.microsoft.com/office/drawing/2014/main" id="{365907FD-9306-45A9-80A6-3E1FEDFA621D}"/>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04</a:t>
            </a:r>
          </a:p>
        </p:txBody>
      </p:sp>
      <p:sp>
        <p:nvSpPr>
          <p:cNvPr id="6" name="shape-111">
            <a:extLst xmlns:a="http://schemas.openxmlformats.org/drawingml/2006/main">
              <a:ext uri="{FF2B5EF4-FFF2-40B4-BE49-F238E27FC236}">
                <a16:creationId xmlns:a16="http://schemas.microsoft.com/office/drawing/2014/main" id="{BF7D6C49-1F49-4AB3-9F28-F6E1C4AEE9AE}"/>
              </a:ext>
            </a:extLst>
          </p:cNvPr>
          <p:cNvSpPr>
            <a:spLocks xmlns:a="http://schemas.openxmlformats.org/drawingml/2006/main" noGrp="1"/>
          </p:cNvSpPr>
          <p:nvPr/>
        </p:nvSpPr>
        <p:spPr>
          <a:xfrm xmlns:a="http://schemas.openxmlformats.org/drawingml/2006/main">
            <a:off x="8823960" y="1014984"/>
            <a:ext cx="2487168" cy="265176"/>
          </a:xfrm>
          <a:prstGeom xmlns:a="http://schemas.openxmlformats.org/drawingml/2006/main" prst="roundRect">
            <a:avLst>
              <a:gd name="adj" fmla="val 28736"/>
            </a:avLst>
          </a:prstGeom>
          <a:solidFill xmlns:a="http://schemas.openxmlformats.org/drawingml/2006/main">
            <a:srgbClr val="FFF6D9"/>
          </a:solidFill>
          <a:ln xmlns:a="http://schemas.openxmlformats.org/drawingml/2006/main" w="0">
            <a:solidFill>
              <a:srgbClr val="FFF6D9"/>
            </a:solidFill>
            <a:prstDash val="solid"/>
          </a:ln>
        </p:spPr>
      </p:sp>
      <p:sp>
        <p:nvSpPr>
          <p:cNvPr id="7" name="text-112">
            <a:extLst xmlns:a="http://schemas.openxmlformats.org/drawingml/2006/main">
              <a:ext uri="{FF2B5EF4-FFF2-40B4-BE49-F238E27FC236}">
                <a16:creationId xmlns:a16="http://schemas.microsoft.com/office/drawing/2014/main" id="{8D7F71D8-3614-44E8-AD45-947FA2C02D91}"/>
              </a:ext>
            </a:extLst>
          </p:cNvPr>
          <p:cNvSpPr>
            <a:spLocks xmlns:a="http://schemas.openxmlformats.org/drawingml/2006/main" noGrp="1"/>
          </p:cNvSpPr>
          <p:nvPr/>
        </p:nvSpPr>
        <p:spPr>
          <a:xfrm xmlns:a="http://schemas.openxmlformats.org/drawingml/2006/main">
            <a:off x="8915400" y="1033272"/>
            <a:ext cx="2304288"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i="0">
                <a:solidFill>
                  <a:srgbClr val="8A5A00"/>
                </a:solidFill>
              </a:defRPr>
            </a:pPr>
            <a:r>
              <a:rPr sz="788" b="1" i="0">
                <a:solidFill>
                  <a:srgbClr val="8A5A00"/>
                </a:solidFill>
              </a:rPr>
              <a:t>DEMO FLOW | 90-SECOND WALKTHROUGH</a:t>
            </a:r>
          </a:p>
        </p:txBody>
      </p:sp>
      <p:sp>
        <p:nvSpPr>
          <p:cNvPr id="8" name="shape-113">
            <a:extLst xmlns:a="http://schemas.openxmlformats.org/drawingml/2006/main">
              <a:ext uri="{FF2B5EF4-FFF2-40B4-BE49-F238E27FC236}">
                <a16:creationId xmlns:a16="http://schemas.microsoft.com/office/drawing/2014/main" id="{BE9DCF77-3572-473F-A973-B205D10F2FF5}"/>
              </a:ext>
            </a:extLst>
          </p:cNvPr>
          <p:cNvSpPr>
            <a:spLocks xmlns:a="http://schemas.openxmlformats.org/drawingml/2006/main" noGrp="1"/>
          </p:cNvSpPr>
          <p:nvPr/>
        </p:nvSpPr>
        <p:spPr>
          <a:xfrm xmlns:a="http://schemas.openxmlformats.org/drawingml/2006/main">
            <a:off x="640080" y="1828800"/>
            <a:ext cx="2331720" cy="3017520"/>
          </a:xfrm>
          <a:prstGeom xmlns:a="http://schemas.openxmlformats.org/drawingml/2006/main" prst="roundRect">
            <a:avLst>
              <a:gd name="adj" fmla="val 3268"/>
            </a:avLst>
          </a:prstGeom>
          <a:solidFill xmlns:a="http://schemas.openxmlformats.org/drawingml/2006/main">
            <a:srgbClr val="FFFFFF"/>
          </a:solidFill>
          <a:ln xmlns:a="http://schemas.openxmlformats.org/drawingml/2006/main" w="9525">
            <a:solidFill>
              <a:srgbClr val="D9E2F0"/>
            </a:solidFill>
            <a:prstDash val="solid"/>
          </a:ln>
        </p:spPr>
      </p:sp>
      <p:sp>
        <p:nvSpPr>
          <p:cNvPr id="9" name="shape-114">
            <a:extLst xmlns:a="http://schemas.openxmlformats.org/drawingml/2006/main">
              <a:ext uri="{FF2B5EF4-FFF2-40B4-BE49-F238E27FC236}">
                <a16:creationId xmlns:a16="http://schemas.microsoft.com/office/drawing/2014/main" id="{080F0F3C-FB22-4934-A674-B7063FB8F643}"/>
              </a:ext>
            </a:extLst>
          </p:cNvPr>
          <p:cNvSpPr>
            <a:spLocks xmlns:a="http://schemas.openxmlformats.org/drawingml/2006/main" noGrp="1"/>
          </p:cNvSpPr>
          <p:nvPr/>
        </p:nvSpPr>
        <p:spPr>
          <a:xfrm xmlns:a="http://schemas.openxmlformats.org/drawingml/2006/main">
            <a:off x="850392" y="2066544"/>
            <a:ext cx="475488" cy="475488"/>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0" name="text-115">
            <a:extLst xmlns:a="http://schemas.openxmlformats.org/drawingml/2006/main">
              <a:ext uri="{FF2B5EF4-FFF2-40B4-BE49-F238E27FC236}">
                <a16:creationId xmlns:a16="http://schemas.microsoft.com/office/drawing/2014/main" id="{E7DC6293-8E08-419B-BACC-45B4440AD392}"/>
              </a:ext>
            </a:extLst>
          </p:cNvPr>
          <p:cNvSpPr>
            <a:spLocks xmlns:a="http://schemas.openxmlformats.org/drawingml/2006/main" noGrp="1"/>
          </p:cNvSpPr>
          <p:nvPr/>
        </p:nvSpPr>
        <p:spPr>
          <a:xfrm xmlns:a="http://schemas.openxmlformats.org/drawingml/2006/main">
            <a:off x="850392" y="2075688"/>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01</a:t>
            </a:r>
          </a:p>
        </p:txBody>
      </p:sp>
      <p:sp>
        <p:nvSpPr>
          <p:cNvPr id="11" name="text-116">
            <a:extLst xmlns:a="http://schemas.openxmlformats.org/drawingml/2006/main">
              <a:ext uri="{FF2B5EF4-FFF2-40B4-BE49-F238E27FC236}">
                <a16:creationId xmlns:a16="http://schemas.microsoft.com/office/drawing/2014/main" id="{6048CF39-A058-4B34-8763-4780C6AC252C}"/>
              </a:ext>
            </a:extLst>
          </p:cNvPr>
          <p:cNvSpPr>
            <a:spLocks xmlns:a="http://schemas.openxmlformats.org/drawingml/2006/main" noGrp="1"/>
          </p:cNvSpPr>
          <p:nvPr/>
        </p:nvSpPr>
        <p:spPr>
          <a:xfrm xmlns:a="http://schemas.openxmlformats.org/drawingml/2006/main">
            <a:off x="1426464" y="2139696"/>
            <a:ext cx="1316736"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CALL</a:t>
            </a:r>
          </a:p>
        </p:txBody>
      </p:sp>
      <p:sp>
        <p:nvSpPr>
          <p:cNvPr id="12" name="text-117">
            <a:extLst xmlns:a="http://schemas.openxmlformats.org/drawingml/2006/main">
              <a:ext uri="{FF2B5EF4-FFF2-40B4-BE49-F238E27FC236}">
                <a16:creationId xmlns:a16="http://schemas.microsoft.com/office/drawing/2014/main" id="{37BD0BCF-2E48-49F7-93C0-7153D7B4215D}"/>
              </a:ext>
            </a:extLst>
          </p:cNvPr>
          <p:cNvSpPr>
            <a:spLocks xmlns:a="http://schemas.openxmlformats.org/drawingml/2006/main" noGrp="1"/>
          </p:cNvSpPr>
          <p:nvPr/>
        </p:nvSpPr>
        <p:spPr>
          <a:xfrm xmlns:a="http://schemas.openxmlformats.org/drawingml/2006/main">
            <a:off x="850392" y="2798064"/>
            <a:ext cx="1901952"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2F80ED"/>
                </a:solidFill>
              </a:defRPr>
            </a:pPr>
            <a:r>
              <a:rPr sz="1200" b="1" i="0">
                <a:solidFill>
                  <a:srgbClr val="2F80ED"/>
                </a:solidFill>
              </a:rPr>
              <a:t>Recorded conversation</a:t>
            </a:r>
          </a:p>
        </p:txBody>
      </p:sp>
      <p:sp>
        <p:nvSpPr>
          <p:cNvPr id="13" name="shape-118">
            <a:extLst xmlns:a="http://schemas.openxmlformats.org/drawingml/2006/main">
              <a:ext uri="{FF2B5EF4-FFF2-40B4-BE49-F238E27FC236}">
                <a16:creationId xmlns:a16="http://schemas.microsoft.com/office/drawing/2014/main" id="{01CB8E04-BC3E-4984-A286-EC1F96EC8954}"/>
              </a:ext>
            </a:extLst>
          </p:cNvPr>
          <p:cNvSpPr>
            <a:spLocks xmlns:a="http://schemas.openxmlformats.org/drawingml/2006/main" noGrp="1"/>
          </p:cNvSpPr>
          <p:nvPr/>
        </p:nvSpPr>
        <p:spPr>
          <a:xfrm xmlns:a="http://schemas.openxmlformats.org/drawingml/2006/main">
            <a:off x="996696" y="3291840"/>
            <a:ext cx="1618488" cy="0"/>
          </a:xfrm>
          <a:prstGeom xmlns:a="http://schemas.openxmlformats.org/drawingml/2006/main" prst="line">
            <a:avLst/>
          </a:prstGeom>
          <a:noFill xmlns:a="http://schemas.openxmlformats.org/drawingml/2006/main"/>
          <a:ln xmlns:a="http://schemas.openxmlformats.org/drawingml/2006/main" w="9525">
            <a:solidFill>
              <a:srgbClr val="D9E2F0"/>
            </a:solidFill>
            <a:prstDash val="solid"/>
          </a:ln>
        </p:spPr>
      </p:sp>
      <p:sp>
        <p:nvSpPr>
          <p:cNvPr id="14" name="text-119">
            <a:extLst xmlns:a="http://schemas.openxmlformats.org/drawingml/2006/main">
              <a:ext uri="{FF2B5EF4-FFF2-40B4-BE49-F238E27FC236}">
                <a16:creationId xmlns:a16="http://schemas.microsoft.com/office/drawing/2014/main" id="{C50E3430-6C7D-4FAE-B318-1485A19DD41D}"/>
              </a:ext>
            </a:extLst>
          </p:cNvPr>
          <p:cNvSpPr>
            <a:spLocks xmlns:a="http://schemas.openxmlformats.org/drawingml/2006/main" noGrp="1"/>
          </p:cNvSpPr>
          <p:nvPr/>
        </p:nvSpPr>
        <p:spPr>
          <a:xfrm xmlns:a="http://schemas.openxmlformats.org/drawingml/2006/main">
            <a:off x="914400" y="3584448"/>
            <a:ext cx="178308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2627B"/>
                </a:solidFill>
              </a:defRPr>
            </a:pPr>
            <a:r>
              <a:rPr sz="1125" b="0" i="0">
                <a:solidFill>
                  <a:srgbClr val="52627B"/>
                </a:solidFill>
              </a:rPr>
              <a:t>Start with the actual interaction between agent and customer.</a:t>
            </a:r>
          </a:p>
        </p:txBody>
      </p:sp>
      <p:sp>
        <p:nvSpPr>
          <p:cNvPr id="15" name="shape-120">
            <a:extLst xmlns:a="http://schemas.openxmlformats.org/drawingml/2006/main">
              <a:ext uri="{FF2B5EF4-FFF2-40B4-BE49-F238E27FC236}">
                <a16:creationId xmlns:a16="http://schemas.microsoft.com/office/drawing/2014/main" id="{E0035887-76F0-4ADD-A546-CD4705D686A8}"/>
              </a:ext>
            </a:extLst>
          </p:cNvPr>
          <p:cNvSpPr>
            <a:spLocks xmlns:a="http://schemas.openxmlformats.org/drawingml/2006/main" noGrp="1"/>
          </p:cNvSpPr>
          <p:nvPr/>
        </p:nvSpPr>
        <p:spPr>
          <a:xfrm xmlns:a="http://schemas.openxmlformats.org/drawingml/2006/main">
            <a:off x="3072384" y="2880360"/>
            <a:ext cx="274320" cy="512064"/>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16" name="shape-121">
            <a:extLst xmlns:a="http://schemas.openxmlformats.org/drawingml/2006/main">
              <a:ext uri="{FF2B5EF4-FFF2-40B4-BE49-F238E27FC236}">
                <a16:creationId xmlns:a16="http://schemas.microsoft.com/office/drawing/2014/main" id="{4DE029F9-3DDF-43A4-B9BE-EB8BC4104F29}"/>
              </a:ext>
            </a:extLst>
          </p:cNvPr>
          <p:cNvSpPr>
            <a:spLocks xmlns:a="http://schemas.openxmlformats.org/drawingml/2006/main" noGrp="1"/>
          </p:cNvSpPr>
          <p:nvPr/>
        </p:nvSpPr>
        <p:spPr>
          <a:xfrm xmlns:a="http://schemas.openxmlformats.org/drawingml/2006/main">
            <a:off x="3493008" y="1828800"/>
            <a:ext cx="2331720" cy="3017520"/>
          </a:xfrm>
          <a:prstGeom xmlns:a="http://schemas.openxmlformats.org/drawingml/2006/main" prst="roundRect">
            <a:avLst>
              <a:gd name="adj" fmla="val 3268"/>
            </a:avLst>
          </a:prstGeom>
          <a:solidFill xmlns:a="http://schemas.openxmlformats.org/drawingml/2006/main">
            <a:srgbClr val="FFFFFF"/>
          </a:solidFill>
          <a:ln xmlns:a="http://schemas.openxmlformats.org/drawingml/2006/main" w="9525">
            <a:solidFill>
              <a:srgbClr val="D9E2F0"/>
            </a:solidFill>
            <a:prstDash val="solid"/>
          </a:ln>
        </p:spPr>
      </p:sp>
      <p:sp>
        <p:nvSpPr>
          <p:cNvPr id="17" name="shape-122">
            <a:extLst xmlns:a="http://schemas.openxmlformats.org/drawingml/2006/main">
              <a:ext uri="{FF2B5EF4-FFF2-40B4-BE49-F238E27FC236}">
                <a16:creationId xmlns:a16="http://schemas.microsoft.com/office/drawing/2014/main" id="{30309952-4C5C-4A29-9A94-BE32D2C169F1}"/>
              </a:ext>
            </a:extLst>
          </p:cNvPr>
          <p:cNvSpPr>
            <a:spLocks xmlns:a="http://schemas.openxmlformats.org/drawingml/2006/main" noGrp="1"/>
          </p:cNvSpPr>
          <p:nvPr/>
        </p:nvSpPr>
        <p:spPr>
          <a:xfrm xmlns:a="http://schemas.openxmlformats.org/drawingml/2006/main">
            <a:off x="3703320" y="2066544"/>
            <a:ext cx="475488" cy="475488"/>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18" name="text-123">
            <a:extLst xmlns:a="http://schemas.openxmlformats.org/drawingml/2006/main">
              <a:ext uri="{FF2B5EF4-FFF2-40B4-BE49-F238E27FC236}">
                <a16:creationId xmlns:a16="http://schemas.microsoft.com/office/drawing/2014/main" id="{91E65531-8C3B-4527-96E3-D674E7155627}"/>
              </a:ext>
            </a:extLst>
          </p:cNvPr>
          <p:cNvSpPr>
            <a:spLocks xmlns:a="http://schemas.openxmlformats.org/drawingml/2006/main" noGrp="1"/>
          </p:cNvSpPr>
          <p:nvPr/>
        </p:nvSpPr>
        <p:spPr>
          <a:xfrm xmlns:a="http://schemas.openxmlformats.org/drawingml/2006/main">
            <a:off x="3703320" y="2075688"/>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02</a:t>
            </a:r>
          </a:p>
        </p:txBody>
      </p:sp>
      <p:sp>
        <p:nvSpPr>
          <p:cNvPr id="19" name="text-124">
            <a:extLst xmlns:a="http://schemas.openxmlformats.org/drawingml/2006/main">
              <a:ext uri="{FF2B5EF4-FFF2-40B4-BE49-F238E27FC236}">
                <a16:creationId xmlns:a16="http://schemas.microsoft.com/office/drawing/2014/main" id="{39D98E27-ABF0-4C03-AC5C-97FB56E4E3F7}"/>
              </a:ext>
            </a:extLst>
          </p:cNvPr>
          <p:cNvSpPr>
            <a:spLocks xmlns:a="http://schemas.openxmlformats.org/drawingml/2006/main" noGrp="1"/>
          </p:cNvSpPr>
          <p:nvPr/>
        </p:nvSpPr>
        <p:spPr>
          <a:xfrm xmlns:a="http://schemas.openxmlformats.org/drawingml/2006/main">
            <a:off x="4279392" y="2139696"/>
            <a:ext cx="1316736"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TRANSCRIPT</a:t>
            </a:r>
          </a:p>
        </p:txBody>
      </p:sp>
      <p:sp>
        <p:nvSpPr>
          <p:cNvPr id="20" name="text-125">
            <a:extLst xmlns:a="http://schemas.openxmlformats.org/drawingml/2006/main">
              <a:ext uri="{FF2B5EF4-FFF2-40B4-BE49-F238E27FC236}">
                <a16:creationId xmlns:a16="http://schemas.microsoft.com/office/drawing/2014/main" id="{9C206B31-0343-4BBD-892C-D480C4CE4A0F}"/>
              </a:ext>
            </a:extLst>
          </p:cNvPr>
          <p:cNvSpPr>
            <a:spLocks xmlns:a="http://schemas.openxmlformats.org/drawingml/2006/main" noGrp="1"/>
          </p:cNvSpPr>
          <p:nvPr/>
        </p:nvSpPr>
        <p:spPr>
          <a:xfrm xmlns:a="http://schemas.openxmlformats.org/drawingml/2006/main">
            <a:off x="3703320" y="2798064"/>
            <a:ext cx="1901952"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26C6DA"/>
                </a:solidFill>
              </a:defRPr>
            </a:pPr>
            <a:r>
              <a:rPr sz="1200" b="1" i="0">
                <a:solidFill>
                  <a:srgbClr val="26C6DA"/>
                </a:solidFill>
              </a:rPr>
              <a:t>Conversation in text</a:t>
            </a:r>
          </a:p>
        </p:txBody>
      </p:sp>
      <p:sp>
        <p:nvSpPr>
          <p:cNvPr id="21" name="shape-126">
            <a:extLst xmlns:a="http://schemas.openxmlformats.org/drawingml/2006/main">
              <a:ext uri="{FF2B5EF4-FFF2-40B4-BE49-F238E27FC236}">
                <a16:creationId xmlns:a16="http://schemas.microsoft.com/office/drawing/2014/main" id="{6C2822BD-28B3-4CE4-9283-986BA6DCC3A7}"/>
              </a:ext>
            </a:extLst>
          </p:cNvPr>
          <p:cNvSpPr>
            <a:spLocks xmlns:a="http://schemas.openxmlformats.org/drawingml/2006/main" noGrp="1"/>
          </p:cNvSpPr>
          <p:nvPr/>
        </p:nvSpPr>
        <p:spPr>
          <a:xfrm xmlns:a="http://schemas.openxmlformats.org/drawingml/2006/main">
            <a:off x="3849624" y="3291840"/>
            <a:ext cx="1618488" cy="0"/>
          </a:xfrm>
          <a:prstGeom xmlns:a="http://schemas.openxmlformats.org/drawingml/2006/main" prst="line">
            <a:avLst/>
          </a:prstGeom>
          <a:noFill xmlns:a="http://schemas.openxmlformats.org/drawingml/2006/main"/>
          <a:ln xmlns:a="http://schemas.openxmlformats.org/drawingml/2006/main" w="9525">
            <a:solidFill>
              <a:srgbClr val="D9E2F0"/>
            </a:solidFill>
            <a:prstDash val="solid"/>
          </a:ln>
        </p:spPr>
      </p:sp>
      <p:sp>
        <p:nvSpPr>
          <p:cNvPr id="22" name="text-127">
            <a:extLst xmlns:a="http://schemas.openxmlformats.org/drawingml/2006/main">
              <a:ext uri="{FF2B5EF4-FFF2-40B4-BE49-F238E27FC236}">
                <a16:creationId xmlns:a16="http://schemas.microsoft.com/office/drawing/2014/main" id="{6F35ABA2-D47F-4559-A2D8-0ADE4ED5AD3E}"/>
              </a:ext>
            </a:extLst>
          </p:cNvPr>
          <p:cNvSpPr>
            <a:spLocks xmlns:a="http://schemas.openxmlformats.org/drawingml/2006/main" noGrp="1"/>
          </p:cNvSpPr>
          <p:nvPr/>
        </p:nvSpPr>
        <p:spPr>
          <a:xfrm xmlns:a="http://schemas.openxmlformats.org/drawingml/2006/main">
            <a:off x="3767328" y="3584448"/>
            <a:ext cx="178308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2627B"/>
                </a:solidFill>
              </a:defRPr>
            </a:pPr>
            <a:r>
              <a:rPr sz="1125" b="0" i="0">
                <a:solidFill>
                  <a:srgbClr val="52627B"/>
                </a:solidFill>
              </a:rPr>
              <a:t>Make the content searchable and ready for consistent review.</a:t>
            </a:r>
          </a:p>
        </p:txBody>
      </p:sp>
      <p:sp>
        <p:nvSpPr>
          <p:cNvPr id="23" name="shape-128">
            <a:extLst xmlns:a="http://schemas.openxmlformats.org/drawingml/2006/main">
              <a:ext uri="{FF2B5EF4-FFF2-40B4-BE49-F238E27FC236}">
                <a16:creationId xmlns:a16="http://schemas.microsoft.com/office/drawing/2014/main" id="{5EF47BAC-0DE9-4E0F-80EF-25C7ABEAA83B}"/>
              </a:ext>
            </a:extLst>
          </p:cNvPr>
          <p:cNvSpPr>
            <a:spLocks xmlns:a="http://schemas.openxmlformats.org/drawingml/2006/main" noGrp="1"/>
          </p:cNvSpPr>
          <p:nvPr/>
        </p:nvSpPr>
        <p:spPr>
          <a:xfrm xmlns:a="http://schemas.openxmlformats.org/drawingml/2006/main">
            <a:off x="5925312" y="2880360"/>
            <a:ext cx="274320" cy="512064"/>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24" name="shape-129">
            <a:extLst xmlns:a="http://schemas.openxmlformats.org/drawingml/2006/main">
              <a:ext uri="{FF2B5EF4-FFF2-40B4-BE49-F238E27FC236}">
                <a16:creationId xmlns:a16="http://schemas.microsoft.com/office/drawing/2014/main" id="{6F7945EA-9006-4C6C-8BDF-2F0F083AD1FC}"/>
              </a:ext>
            </a:extLst>
          </p:cNvPr>
          <p:cNvSpPr>
            <a:spLocks xmlns:a="http://schemas.openxmlformats.org/drawingml/2006/main" noGrp="1"/>
          </p:cNvSpPr>
          <p:nvPr/>
        </p:nvSpPr>
        <p:spPr>
          <a:xfrm xmlns:a="http://schemas.openxmlformats.org/drawingml/2006/main">
            <a:off x="6345936" y="1828800"/>
            <a:ext cx="2331720" cy="3017520"/>
          </a:xfrm>
          <a:prstGeom xmlns:a="http://schemas.openxmlformats.org/drawingml/2006/main" prst="roundRect">
            <a:avLst>
              <a:gd name="adj" fmla="val 3268"/>
            </a:avLst>
          </a:prstGeom>
          <a:solidFill xmlns:a="http://schemas.openxmlformats.org/drawingml/2006/main">
            <a:srgbClr val="FFFFFF"/>
          </a:solidFill>
          <a:ln xmlns:a="http://schemas.openxmlformats.org/drawingml/2006/main" w="9525">
            <a:solidFill>
              <a:srgbClr val="D9E2F0"/>
            </a:solidFill>
            <a:prstDash val="solid"/>
          </a:ln>
        </p:spPr>
      </p:sp>
      <p:sp>
        <p:nvSpPr>
          <p:cNvPr id="25" name="shape-130">
            <a:extLst xmlns:a="http://schemas.openxmlformats.org/drawingml/2006/main">
              <a:ext uri="{FF2B5EF4-FFF2-40B4-BE49-F238E27FC236}">
                <a16:creationId xmlns:a16="http://schemas.microsoft.com/office/drawing/2014/main" id="{4A75F7FF-C060-4E97-8216-52E6E2DF6E8E}"/>
              </a:ext>
            </a:extLst>
          </p:cNvPr>
          <p:cNvSpPr>
            <a:spLocks xmlns:a="http://schemas.openxmlformats.org/drawingml/2006/main" noGrp="1"/>
          </p:cNvSpPr>
          <p:nvPr/>
        </p:nvSpPr>
        <p:spPr>
          <a:xfrm xmlns:a="http://schemas.openxmlformats.org/drawingml/2006/main">
            <a:off x="6556248" y="2066544"/>
            <a:ext cx="475488" cy="475488"/>
          </a:xfrm>
          <a:prstGeom xmlns:a="http://schemas.openxmlformats.org/drawingml/2006/main" prst="ellipse">
            <a:avLst/>
          </a:prstGeom>
          <a:solidFill xmlns:a="http://schemas.openxmlformats.org/drawingml/2006/main">
            <a:srgbClr val="F4B740"/>
          </a:solidFill>
          <a:ln xmlns:a="http://schemas.openxmlformats.org/drawingml/2006/main" w="0">
            <a:solidFill>
              <a:srgbClr val="F4B740"/>
            </a:solidFill>
            <a:prstDash val="solid"/>
          </a:ln>
        </p:spPr>
      </p:sp>
      <p:sp>
        <p:nvSpPr>
          <p:cNvPr id="26" name="text-131">
            <a:extLst xmlns:a="http://schemas.openxmlformats.org/drawingml/2006/main">
              <a:ext uri="{FF2B5EF4-FFF2-40B4-BE49-F238E27FC236}">
                <a16:creationId xmlns:a16="http://schemas.microsoft.com/office/drawing/2014/main" id="{1195D57E-D256-41CE-9164-669556CE1DA3}"/>
              </a:ext>
            </a:extLst>
          </p:cNvPr>
          <p:cNvSpPr>
            <a:spLocks xmlns:a="http://schemas.openxmlformats.org/drawingml/2006/main" noGrp="1"/>
          </p:cNvSpPr>
          <p:nvPr/>
        </p:nvSpPr>
        <p:spPr>
          <a:xfrm xmlns:a="http://schemas.openxmlformats.org/drawingml/2006/main">
            <a:off x="6556248" y="2075688"/>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0B1736"/>
                </a:solidFill>
              </a:defRPr>
            </a:pPr>
            <a:r>
              <a:rPr sz="975" b="1" i="0">
                <a:solidFill>
                  <a:srgbClr val="0B1736"/>
                </a:solidFill>
              </a:rPr>
              <a:t>03</a:t>
            </a:r>
          </a:p>
        </p:txBody>
      </p:sp>
      <p:sp>
        <p:nvSpPr>
          <p:cNvPr id="27" name="text-132">
            <a:extLst xmlns:a="http://schemas.openxmlformats.org/drawingml/2006/main">
              <a:ext uri="{FF2B5EF4-FFF2-40B4-BE49-F238E27FC236}">
                <a16:creationId xmlns:a16="http://schemas.microsoft.com/office/drawing/2014/main" id="{D7E3FB25-86F8-46EA-A506-10C5937F3B96}"/>
              </a:ext>
            </a:extLst>
          </p:cNvPr>
          <p:cNvSpPr>
            <a:spLocks xmlns:a="http://schemas.openxmlformats.org/drawingml/2006/main" noGrp="1"/>
          </p:cNvSpPr>
          <p:nvPr/>
        </p:nvSpPr>
        <p:spPr>
          <a:xfrm xmlns:a="http://schemas.openxmlformats.org/drawingml/2006/main">
            <a:off x="7132320" y="2139696"/>
            <a:ext cx="1316736"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QUALITY REPORT</a:t>
            </a:r>
          </a:p>
        </p:txBody>
      </p:sp>
      <p:sp>
        <p:nvSpPr>
          <p:cNvPr id="28" name="text-133">
            <a:extLst xmlns:a="http://schemas.openxmlformats.org/drawingml/2006/main">
              <a:ext uri="{FF2B5EF4-FFF2-40B4-BE49-F238E27FC236}">
                <a16:creationId xmlns:a16="http://schemas.microsoft.com/office/drawing/2014/main" id="{3E7D5C0C-67DA-45FE-A3B0-A6187DAE55F6}"/>
              </a:ext>
            </a:extLst>
          </p:cNvPr>
          <p:cNvSpPr>
            <a:spLocks xmlns:a="http://schemas.openxmlformats.org/drawingml/2006/main" noGrp="1"/>
          </p:cNvSpPr>
          <p:nvPr/>
        </p:nvSpPr>
        <p:spPr>
          <a:xfrm xmlns:a="http://schemas.openxmlformats.org/drawingml/2006/main">
            <a:off x="6556248" y="2798064"/>
            <a:ext cx="1901952"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F4B740"/>
                </a:solidFill>
              </a:defRPr>
            </a:pPr>
            <a:r>
              <a:rPr sz="1200" b="1" i="0">
                <a:solidFill>
                  <a:srgbClr val="F4B740"/>
                </a:solidFill>
              </a:rPr>
              <a:t>Evidence and findings</a:t>
            </a:r>
          </a:p>
        </p:txBody>
      </p:sp>
      <p:sp>
        <p:nvSpPr>
          <p:cNvPr id="29" name="shape-134">
            <a:extLst xmlns:a="http://schemas.openxmlformats.org/drawingml/2006/main">
              <a:ext uri="{FF2B5EF4-FFF2-40B4-BE49-F238E27FC236}">
                <a16:creationId xmlns:a16="http://schemas.microsoft.com/office/drawing/2014/main" id="{268F4318-3834-4B6C-B4C1-23B419E39CB8}"/>
              </a:ext>
            </a:extLst>
          </p:cNvPr>
          <p:cNvSpPr>
            <a:spLocks xmlns:a="http://schemas.openxmlformats.org/drawingml/2006/main" noGrp="1"/>
          </p:cNvSpPr>
          <p:nvPr/>
        </p:nvSpPr>
        <p:spPr>
          <a:xfrm xmlns:a="http://schemas.openxmlformats.org/drawingml/2006/main">
            <a:off x="6702552" y="3291840"/>
            <a:ext cx="1618488" cy="0"/>
          </a:xfrm>
          <a:prstGeom xmlns:a="http://schemas.openxmlformats.org/drawingml/2006/main" prst="line">
            <a:avLst/>
          </a:prstGeom>
          <a:noFill xmlns:a="http://schemas.openxmlformats.org/drawingml/2006/main"/>
          <a:ln xmlns:a="http://schemas.openxmlformats.org/drawingml/2006/main" w="9525">
            <a:solidFill>
              <a:srgbClr val="D9E2F0"/>
            </a:solidFill>
            <a:prstDash val="solid"/>
          </a:ln>
        </p:spPr>
      </p:sp>
      <p:sp>
        <p:nvSpPr>
          <p:cNvPr id="30" name="text-135">
            <a:extLst xmlns:a="http://schemas.openxmlformats.org/drawingml/2006/main">
              <a:ext uri="{FF2B5EF4-FFF2-40B4-BE49-F238E27FC236}">
                <a16:creationId xmlns:a16="http://schemas.microsoft.com/office/drawing/2014/main" id="{BD3375BE-CA4E-4F29-BCC5-B55628A0CA8C}"/>
              </a:ext>
            </a:extLst>
          </p:cNvPr>
          <p:cNvSpPr>
            <a:spLocks xmlns:a="http://schemas.openxmlformats.org/drawingml/2006/main" noGrp="1"/>
          </p:cNvSpPr>
          <p:nvPr/>
        </p:nvSpPr>
        <p:spPr>
          <a:xfrm xmlns:a="http://schemas.openxmlformats.org/drawingml/2006/main">
            <a:off x="6620256" y="3584448"/>
            <a:ext cx="178308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2627B"/>
                </a:solidFill>
              </a:defRPr>
            </a:pPr>
            <a:r>
              <a:rPr sz="1125" b="0" i="0">
                <a:solidFill>
                  <a:srgbClr val="52627B"/>
                </a:solidFill>
              </a:rPr>
              <a:t>Highlight value, gaps, and exceptions with supporting evidence.</a:t>
            </a:r>
          </a:p>
        </p:txBody>
      </p:sp>
      <p:sp>
        <p:nvSpPr>
          <p:cNvPr id="31" name="shape-136">
            <a:extLst xmlns:a="http://schemas.openxmlformats.org/drawingml/2006/main">
              <a:ext uri="{FF2B5EF4-FFF2-40B4-BE49-F238E27FC236}">
                <a16:creationId xmlns:a16="http://schemas.microsoft.com/office/drawing/2014/main" id="{79579FA3-AA4A-49C6-8338-33C9FD0E6443}"/>
              </a:ext>
            </a:extLst>
          </p:cNvPr>
          <p:cNvSpPr>
            <a:spLocks xmlns:a="http://schemas.openxmlformats.org/drawingml/2006/main" noGrp="1"/>
          </p:cNvSpPr>
          <p:nvPr/>
        </p:nvSpPr>
        <p:spPr>
          <a:xfrm xmlns:a="http://schemas.openxmlformats.org/drawingml/2006/main">
            <a:off x="8778240" y="2880360"/>
            <a:ext cx="274320" cy="512064"/>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32" name="shape-137">
            <a:extLst xmlns:a="http://schemas.openxmlformats.org/drawingml/2006/main">
              <a:ext uri="{FF2B5EF4-FFF2-40B4-BE49-F238E27FC236}">
                <a16:creationId xmlns:a16="http://schemas.microsoft.com/office/drawing/2014/main" id="{711493EC-462A-4111-84AB-47548B1F8A77}"/>
              </a:ext>
            </a:extLst>
          </p:cNvPr>
          <p:cNvSpPr>
            <a:spLocks xmlns:a="http://schemas.openxmlformats.org/drawingml/2006/main" noGrp="1"/>
          </p:cNvSpPr>
          <p:nvPr/>
        </p:nvSpPr>
        <p:spPr>
          <a:xfrm xmlns:a="http://schemas.openxmlformats.org/drawingml/2006/main">
            <a:off x="9198864" y="1828800"/>
            <a:ext cx="2331720" cy="3017520"/>
          </a:xfrm>
          <a:prstGeom xmlns:a="http://schemas.openxmlformats.org/drawingml/2006/main" prst="roundRect">
            <a:avLst>
              <a:gd name="adj" fmla="val 3268"/>
            </a:avLst>
          </a:prstGeom>
          <a:solidFill xmlns:a="http://schemas.openxmlformats.org/drawingml/2006/main">
            <a:srgbClr val="FFFFFF"/>
          </a:solidFill>
          <a:ln xmlns:a="http://schemas.openxmlformats.org/drawingml/2006/main" w="9525">
            <a:solidFill>
              <a:srgbClr val="D9E2F0"/>
            </a:solidFill>
            <a:prstDash val="solid"/>
          </a:ln>
        </p:spPr>
      </p:sp>
      <p:sp>
        <p:nvSpPr>
          <p:cNvPr id="33" name="shape-138">
            <a:extLst xmlns:a="http://schemas.openxmlformats.org/drawingml/2006/main">
              <a:ext uri="{FF2B5EF4-FFF2-40B4-BE49-F238E27FC236}">
                <a16:creationId xmlns:a16="http://schemas.microsoft.com/office/drawing/2014/main" id="{1EB707FF-6C9B-426D-97C5-932C2E467CAC}"/>
              </a:ext>
            </a:extLst>
          </p:cNvPr>
          <p:cNvSpPr>
            <a:spLocks xmlns:a="http://schemas.openxmlformats.org/drawingml/2006/main" noGrp="1"/>
          </p:cNvSpPr>
          <p:nvPr/>
        </p:nvSpPr>
        <p:spPr>
          <a:xfrm xmlns:a="http://schemas.openxmlformats.org/drawingml/2006/main">
            <a:off x="9409176" y="2066544"/>
            <a:ext cx="475488" cy="475488"/>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34" name="text-139">
            <a:extLst xmlns:a="http://schemas.openxmlformats.org/drawingml/2006/main">
              <a:ext uri="{FF2B5EF4-FFF2-40B4-BE49-F238E27FC236}">
                <a16:creationId xmlns:a16="http://schemas.microsoft.com/office/drawing/2014/main" id="{C50A4F6B-EA65-4966-B1F8-26D9B9B69104}"/>
              </a:ext>
            </a:extLst>
          </p:cNvPr>
          <p:cNvSpPr>
            <a:spLocks xmlns:a="http://schemas.openxmlformats.org/drawingml/2006/main" noGrp="1"/>
          </p:cNvSpPr>
          <p:nvPr/>
        </p:nvSpPr>
        <p:spPr>
          <a:xfrm xmlns:a="http://schemas.openxmlformats.org/drawingml/2006/main">
            <a:off x="9409176" y="2075688"/>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04</a:t>
            </a:r>
          </a:p>
        </p:txBody>
      </p:sp>
      <p:sp>
        <p:nvSpPr>
          <p:cNvPr id="35" name="text-140">
            <a:extLst xmlns:a="http://schemas.openxmlformats.org/drawingml/2006/main">
              <a:ext uri="{FF2B5EF4-FFF2-40B4-BE49-F238E27FC236}">
                <a16:creationId xmlns:a16="http://schemas.microsoft.com/office/drawing/2014/main" id="{2B334F8A-D84E-41E0-A2B1-124880C98569}"/>
              </a:ext>
            </a:extLst>
          </p:cNvPr>
          <p:cNvSpPr>
            <a:spLocks xmlns:a="http://schemas.openxmlformats.org/drawingml/2006/main" noGrp="1"/>
          </p:cNvSpPr>
          <p:nvPr/>
        </p:nvSpPr>
        <p:spPr>
          <a:xfrm xmlns:a="http://schemas.openxmlformats.org/drawingml/2006/main">
            <a:off x="9985248" y="2139696"/>
            <a:ext cx="1316736"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ACTION</a:t>
            </a:r>
          </a:p>
        </p:txBody>
      </p:sp>
      <p:sp>
        <p:nvSpPr>
          <p:cNvPr id="36" name="text-141">
            <a:extLst xmlns:a="http://schemas.openxmlformats.org/drawingml/2006/main">
              <a:ext uri="{FF2B5EF4-FFF2-40B4-BE49-F238E27FC236}">
                <a16:creationId xmlns:a16="http://schemas.microsoft.com/office/drawing/2014/main" id="{65A8559C-42EB-4CA6-92C4-21F96F8F636A}"/>
              </a:ext>
            </a:extLst>
          </p:cNvPr>
          <p:cNvSpPr>
            <a:spLocks xmlns:a="http://schemas.openxmlformats.org/drawingml/2006/main" noGrp="1"/>
          </p:cNvSpPr>
          <p:nvPr/>
        </p:nvSpPr>
        <p:spPr>
          <a:xfrm xmlns:a="http://schemas.openxmlformats.org/drawingml/2006/main">
            <a:off x="9409176" y="2798064"/>
            <a:ext cx="1901952" cy="256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0B981"/>
                </a:solidFill>
              </a:defRPr>
            </a:pPr>
            <a:r>
              <a:rPr sz="1200" b="1" i="0">
                <a:solidFill>
                  <a:srgbClr val="10B981"/>
                </a:solidFill>
              </a:rPr>
              <a:t>Review, coach, improve</a:t>
            </a:r>
          </a:p>
        </p:txBody>
      </p:sp>
      <p:sp>
        <p:nvSpPr>
          <p:cNvPr id="37" name="shape-142">
            <a:extLst xmlns:a="http://schemas.openxmlformats.org/drawingml/2006/main">
              <a:ext uri="{FF2B5EF4-FFF2-40B4-BE49-F238E27FC236}">
                <a16:creationId xmlns:a16="http://schemas.microsoft.com/office/drawing/2014/main" id="{9B9C0BC6-4B39-459C-A59C-F1E3102B090B}"/>
              </a:ext>
            </a:extLst>
          </p:cNvPr>
          <p:cNvSpPr>
            <a:spLocks xmlns:a="http://schemas.openxmlformats.org/drawingml/2006/main" noGrp="1"/>
          </p:cNvSpPr>
          <p:nvPr/>
        </p:nvSpPr>
        <p:spPr>
          <a:xfrm xmlns:a="http://schemas.openxmlformats.org/drawingml/2006/main">
            <a:off x="9555480" y="3291840"/>
            <a:ext cx="1618488" cy="0"/>
          </a:xfrm>
          <a:prstGeom xmlns:a="http://schemas.openxmlformats.org/drawingml/2006/main" prst="line">
            <a:avLst/>
          </a:prstGeom>
          <a:noFill xmlns:a="http://schemas.openxmlformats.org/drawingml/2006/main"/>
          <a:ln xmlns:a="http://schemas.openxmlformats.org/drawingml/2006/main" w="9525">
            <a:solidFill>
              <a:srgbClr val="D9E2F0"/>
            </a:solidFill>
            <a:prstDash val="solid"/>
          </a:ln>
        </p:spPr>
      </p:sp>
      <p:sp>
        <p:nvSpPr>
          <p:cNvPr id="38" name="text-143">
            <a:extLst xmlns:a="http://schemas.openxmlformats.org/drawingml/2006/main">
              <a:ext uri="{FF2B5EF4-FFF2-40B4-BE49-F238E27FC236}">
                <a16:creationId xmlns:a16="http://schemas.microsoft.com/office/drawing/2014/main" id="{6481D1DE-DB9F-418F-96D5-27A58B047CD2}"/>
              </a:ext>
            </a:extLst>
          </p:cNvPr>
          <p:cNvSpPr>
            <a:spLocks xmlns:a="http://schemas.openxmlformats.org/drawingml/2006/main" noGrp="1"/>
          </p:cNvSpPr>
          <p:nvPr/>
        </p:nvSpPr>
        <p:spPr>
          <a:xfrm xmlns:a="http://schemas.openxmlformats.org/drawingml/2006/main">
            <a:off x="9473184" y="3584448"/>
            <a:ext cx="178308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2627B"/>
                </a:solidFill>
              </a:defRPr>
            </a:pPr>
            <a:r>
              <a:rPr sz="1125" b="0" i="0">
                <a:solidFill>
                  <a:srgbClr val="52627B"/>
                </a:solidFill>
              </a:rPr>
              <a:t>Focus people where judgment and improvement matter most.</a:t>
            </a:r>
          </a:p>
        </p:txBody>
      </p:sp>
      <p:sp>
        <p:nvSpPr>
          <p:cNvPr id="39" name="shape-144">
            <a:extLst xmlns:a="http://schemas.openxmlformats.org/drawingml/2006/main">
              <a:ext uri="{FF2B5EF4-FFF2-40B4-BE49-F238E27FC236}">
                <a16:creationId xmlns:a16="http://schemas.microsoft.com/office/drawing/2014/main" id="{E77ED13B-4CB7-4FE1-88D7-200347979663}"/>
              </a:ext>
            </a:extLst>
          </p:cNvPr>
          <p:cNvSpPr>
            <a:spLocks xmlns:a="http://schemas.openxmlformats.org/drawingml/2006/main" noGrp="1"/>
          </p:cNvSpPr>
          <p:nvPr/>
        </p:nvSpPr>
        <p:spPr>
          <a:xfrm xmlns:a="http://schemas.openxmlformats.org/drawingml/2006/main">
            <a:off x="640080" y="5230368"/>
            <a:ext cx="10890504" cy="585216"/>
          </a:xfrm>
          <a:prstGeom xmlns:a="http://schemas.openxmlformats.org/drawingml/2006/main" prst="roundRect">
            <a:avLst>
              <a:gd name="adj" fmla="val 13021"/>
            </a:avLst>
          </a:prstGeom>
          <a:solidFill xmlns:a="http://schemas.openxmlformats.org/drawingml/2006/main">
            <a:srgbClr val="0B1736"/>
          </a:solidFill>
          <a:ln xmlns:a="http://schemas.openxmlformats.org/drawingml/2006/main" w="0">
            <a:solidFill>
              <a:srgbClr val="0B1736"/>
            </a:solidFill>
            <a:prstDash val="solid"/>
          </a:ln>
        </p:spPr>
      </p:sp>
      <p:sp>
        <p:nvSpPr>
          <p:cNvPr id="40" name="text-145">
            <a:extLst xmlns:a="http://schemas.openxmlformats.org/drawingml/2006/main">
              <a:ext uri="{FF2B5EF4-FFF2-40B4-BE49-F238E27FC236}">
                <a16:creationId xmlns:a16="http://schemas.microsoft.com/office/drawing/2014/main" id="{8BAAAD35-1DBD-4E1A-BA78-B11777B68461}"/>
              </a:ext>
            </a:extLst>
          </p:cNvPr>
          <p:cNvSpPr>
            <a:spLocks xmlns:a="http://schemas.openxmlformats.org/drawingml/2006/main" noGrp="1"/>
          </p:cNvSpPr>
          <p:nvPr/>
        </p:nvSpPr>
        <p:spPr>
          <a:xfrm xmlns:a="http://schemas.openxmlformats.org/drawingml/2006/main">
            <a:off x="932688" y="5349240"/>
            <a:ext cx="10314432" cy="274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FFFFFF"/>
                </a:solidFill>
              </a:defRPr>
            </a:pPr>
            <a:r>
              <a:rPr sz="1350" b="1" i="0">
                <a:solidFill>
                  <a:srgbClr val="FFFFFF"/>
                </a:solidFill>
              </a:rPr>
              <a:t>The output is not just a score. It is an explanation people can act on.</a:t>
            </a:r>
          </a:p>
        </p:txBody>
      </p:sp>
    </p:spTree>
    <p:extLst>
      <p:ext uri="{BB962C8B-B14F-4D97-AF65-F5344CB8AC3E}">
        <p14:creationId xmlns:p14="http://schemas.microsoft.com/office/powerpoint/2010/main" val="17443539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shape-146">
            <a:extLst xmlns:a="http://schemas.openxmlformats.org/drawingml/2006/main">
              <a:ext uri="{FF2B5EF4-FFF2-40B4-BE49-F238E27FC236}">
                <a16:creationId xmlns:a16="http://schemas.microsoft.com/office/drawing/2014/main" id="{5B836A9A-6FE5-4D78-8919-CB679AB2120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147">
            <a:extLst xmlns:a="http://schemas.openxmlformats.org/drawingml/2006/main">
              <a:ext uri="{FF2B5EF4-FFF2-40B4-BE49-F238E27FC236}">
                <a16:creationId xmlns:a16="http://schemas.microsoft.com/office/drawing/2014/main" id="{A12D485B-27DA-457C-9FA2-9EC2A64B16FA}"/>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AI creates scalable capacity as call volume grows</a:t>
            </a:r>
          </a:p>
        </p:txBody>
      </p:sp>
      <p:sp>
        <p:nvSpPr>
          <p:cNvPr id="3" name="text-148">
            <a:extLst xmlns:a="http://schemas.openxmlformats.org/drawingml/2006/main">
              <a:ext uri="{FF2B5EF4-FFF2-40B4-BE49-F238E27FC236}">
                <a16:creationId xmlns:a16="http://schemas.microsoft.com/office/drawing/2014/main" id="{01FFB614-1675-4B60-83C8-18382062E210}"/>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Illustrative scenario for a 1,000-call cohort - validate the value in the next stage.</a:t>
            </a:r>
          </a:p>
        </p:txBody>
      </p:sp>
      <p:sp>
        <p:nvSpPr>
          <p:cNvPr id="4" name="text-149">
            <a:extLst xmlns:a="http://schemas.openxmlformats.org/drawingml/2006/main">
              <a:ext uri="{FF2B5EF4-FFF2-40B4-BE49-F238E27FC236}">
                <a16:creationId xmlns:a16="http://schemas.microsoft.com/office/drawing/2014/main" id="{C9C0CBC5-F16D-495F-A749-0DDEB7965AF4}"/>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150">
            <a:extLst xmlns:a="http://schemas.openxmlformats.org/drawingml/2006/main">
              <a:ext uri="{FF2B5EF4-FFF2-40B4-BE49-F238E27FC236}">
                <a16:creationId xmlns:a16="http://schemas.microsoft.com/office/drawing/2014/main" id="{99109A27-41FF-49A5-9050-BC43C3E55268}"/>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05</a:t>
            </a:r>
          </a:p>
        </p:txBody>
      </p:sp>
      <p:sp>
        <p:nvSpPr>
          <p:cNvPr id="6" name="shape-151">
            <a:extLst xmlns:a="http://schemas.openxmlformats.org/drawingml/2006/main">
              <a:ext uri="{FF2B5EF4-FFF2-40B4-BE49-F238E27FC236}">
                <a16:creationId xmlns:a16="http://schemas.microsoft.com/office/drawing/2014/main" id="{3D7AEB3F-CA6D-4200-A879-FD80BFA211A2}"/>
              </a:ext>
            </a:extLst>
          </p:cNvPr>
          <p:cNvSpPr>
            <a:spLocks xmlns:a="http://schemas.openxmlformats.org/drawingml/2006/main" noGrp="1"/>
          </p:cNvSpPr>
          <p:nvPr/>
        </p:nvSpPr>
        <p:spPr>
          <a:xfrm xmlns:a="http://schemas.openxmlformats.org/drawingml/2006/main">
            <a:off x="640080" y="1572768"/>
            <a:ext cx="2834640" cy="4206240"/>
          </a:xfrm>
          <a:prstGeom xmlns:a="http://schemas.openxmlformats.org/drawingml/2006/main" prst="roundRect">
            <a:avLst>
              <a:gd name="adj" fmla="val 2688"/>
            </a:avLst>
          </a:prstGeom>
          <a:solidFill xmlns:a="http://schemas.openxmlformats.org/drawingml/2006/main">
            <a:srgbClr val="0B1736"/>
          </a:solidFill>
          <a:ln xmlns:a="http://schemas.openxmlformats.org/drawingml/2006/main" w="0">
            <a:solidFill>
              <a:srgbClr val="0B1736"/>
            </a:solidFill>
            <a:prstDash val="solid"/>
          </a:ln>
        </p:spPr>
      </p:sp>
      <p:sp>
        <p:nvSpPr>
          <p:cNvPr id="7" name="text-152">
            <a:extLst xmlns:a="http://schemas.openxmlformats.org/drawingml/2006/main">
              <a:ext uri="{FF2B5EF4-FFF2-40B4-BE49-F238E27FC236}">
                <a16:creationId xmlns:a16="http://schemas.microsoft.com/office/drawing/2014/main" id="{68BD8FDD-2F6D-4062-AFB7-5DE59C1296A6}"/>
              </a:ext>
            </a:extLst>
          </p:cNvPr>
          <p:cNvSpPr>
            <a:spLocks xmlns:a="http://schemas.openxmlformats.org/drawingml/2006/main" noGrp="1"/>
          </p:cNvSpPr>
          <p:nvPr/>
        </p:nvSpPr>
        <p:spPr>
          <a:xfrm xmlns:a="http://schemas.openxmlformats.org/drawingml/2006/main">
            <a:off x="941832" y="1947672"/>
            <a:ext cx="2240280" cy="6583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050" b="1" i="0">
                <a:solidFill>
                  <a:srgbClr val="FFFFFF"/>
                </a:solidFill>
              </a:defRPr>
            </a:pPr>
            <a:r>
              <a:rPr sz="4050" b="1" i="0">
                <a:solidFill>
                  <a:srgbClr val="FFFFFF"/>
                </a:solidFill>
              </a:rPr>
              <a:t>1,000</a:t>
            </a:r>
          </a:p>
        </p:txBody>
      </p:sp>
      <p:sp>
        <p:nvSpPr>
          <p:cNvPr id="8" name="text-153">
            <a:extLst xmlns:a="http://schemas.openxmlformats.org/drawingml/2006/main">
              <a:ext uri="{FF2B5EF4-FFF2-40B4-BE49-F238E27FC236}">
                <a16:creationId xmlns:a16="http://schemas.microsoft.com/office/drawing/2014/main" id="{BA9F4504-B185-43E5-BBD2-AD8771382425}"/>
              </a:ext>
            </a:extLst>
          </p:cNvPr>
          <p:cNvSpPr>
            <a:spLocks xmlns:a="http://schemas.openxmlformats.org/drawingml/2006/main" noGrp="1"/>
          </p:cNvSpPr>
          <p:nvPr/>
        </p:nvSpPr>
        <p:spPr>
          <a:xfrm xmlns:a="http://schemas.openxmlformats.org/drawingml/2006/main">
            <a:off x="950976" y="2688336"/>
            <a:ext cx="2212848"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26C6DA"/>
                </a:solidFill>
              </a:defRPr>
            </a:pPr>
            <a:r>
              <a:rPr sz="975" b="1" i="0">
                <a:solidFill>
                  <a:srgbClr val="26C6DA"/>
                </a:solidFill>
              </a:rPr>
              <a:t>CALLS IN ONE COHORT</a:t>
            </a:r>
          </a:p>
        </p:txBody>
      </p:sp>
      <p:sp>
        <p:nvSpPr>
          <p:cNvPr id="9" name="shape-154">
            <a:extLst xmlns:a="http://schemas.openxmlformats.org/drawingml/2006/main">
              <a:ext uri="{FF2B5EF4-FFF2-40B4-BE49-F238E27FC236}">
                <a16:creationId xmlns:a16="http://schemas.microsoft.com/office/drawing/2014/main" id="{728F6F7E-AD5A-4CB6-9E3C-130734AB44B9}"/>
              </a:ext>
            </a:extLst>
          </p:cNvPr>
          <p:cNvSpPr>
            <a:spLocks xmlns:a="http://schemas.openxmlformats.org/drawingml/2006/main" noGrp="1"/>
          </p:cNvSpPr>
          <p:nvPr/>
        </p:nvSpPr>
        <p:spPr>
          <a:xfrm xmlns:a="http://schemas.openxmlformats.org/drawingml/2006/main">
            <a:off x="1024128" y="3246120"/>
            <a:ext cx="2057400" cy="0"/>
          </a:xfrm>
          <a:prstGeom xmlns:a="http://schemas.openxmlformats.org/drawingml/2006/main" prst="line">
            <a:avLst/>
          </a:prstGeom>
          <a:noFill xmlns:a="http://schemas.openxmlformats.org/drawingml/2006/main"/>
          <a:ln xmlns:a="http://schemas.openxmlformats.org/drawingml/2006/main" w="9525">
            <a:solidFill>
              <a:srgbClr val="38588C"/>
            </a:solidFill>
            <a:prstDash val="solid"/>
          </a:ln>
        </p:spPr>
      </p:sp>
      <p:sp>
        <p:nvSpPr>
          <p:cNvPr id="10" name="text-155">
            <a:extLst xmlns:a="http://schemas.openxmlformats.org/drawingml/2006/main">
              <a:ext uri="{FF2B5EF4-FFF2-40B4-BE49-F238E27FC236}">
                <a16:creationId xmlns:a16="http://schemas.microsoft.com/office/drawing/2014/main" id="{175585B6-4439-47D5-A904-7488586C03F8}"/>
              </a:ext>
            </a:extLst>
          </p:cNvPr>
          <p:cNvSpPr>
            <a:spLocks xmlns:a="http://schemas.openxmlformats.org/drawingml/2006/main" noGrp="1"/>
          </p:cNvSpPr>
          <p:nvPr/>
        </p:nvSpPr>
        <p:spPr>
          <a:xfrm xmlns:a="http://schemas.openxmlformats.org/drawingml/2006/main">
            <a:off x="960120" y="3584448"/>
            <a:ext cx="2231136" cy="6035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i="0">
                <a:solidFill>
                  <a:srgbClr val="D9E6FF"/>
                </a:solidFill>
              </a:defRPr>
            </a:pPr>
            <a:r>
              <a:rPr sz="1350" b="0" i="0">
                <a:solidFill>
                  <a:srgbClr val="D9E6FF"/>
                </a:solidFill>
              </a:rPr>
              <a:t>Traditional quality work scales</a:t>
            </a:r>
          </a:p>
          <a:p xmlns:a="http://schemas.openxmlformats.org/drawingml/2006/main">
            <a:pPr algn="ctr">
              <a:defRPr sz="1350" b="0" i="0">
                <a:solidFill>
                  <a:srgbClr val="D9E6FF"/>
                </a:solidFill>
              </a:defRPr>
            </a:pPr>
            <a:r>
              <a:rPr sz="1350" b="0" i="0">
                <a:solidFill>
                  <a:srgbClr val="D9E6FF"/>
                </a:solidFill>
              </a:rPr>
              <a:t>with every additional call.</a:t>
            </a:r>
          </a:p>
        </p:txBody>
      </p:sp>
      <p:sp>
        <p:nvSpPr>
          <p:cNvPr id="11" name="shape-156">
            <a:extLst xmlns:a="http://schemas.openxmlformats.org/drawingml/2006/main">
              <a:ext uri="{FF2B5EF4-FFF2-40B4-BE49-F238E27FC236}">
                <a16:creationId xmlns:a16="http://schemas.microsoft.com/office/drawing/2014/main" id="{BB6B1A30-6B09-4F0E-A46F-A882F02B25CE}"/>
              </a:ext>
            </a:extLst>
          </p:cNvPr>
          <p:cNvSpPr>
            <a:spLocks xmlns:a="http://schemas.openxmlformats.org/drawingml/2006/main" noGrp="1"/>
          </p:cNvSpPr>
          <p:nvPr/>
        </p:nvSpPr>
        <p:spPr>
          <a:xfrm xmlns:a="http://schemas.openxmlformats.org/drawingml/2006/main">
            <a:off x="932688" y="4800600"/>
            <a:ext cx="2267712" cy="265176"/>
          </a:xfrm>
          <a:prstGeom xmlns:a="http://schemas.openxmlformats.org/drawingml/2006/main" prst="roundRect">
            <a:avLst>
              <a:gd name="adj" fmla="val 28736"/>
            </a:avLst>
          </a:prstGeom>
          <a:solidFill xmlns:a="http://schemas.openxmlformats.org/drawingml/2006/main">
            <a:srgbClr val="F4B740"/>
          </a:solidFill>
          <a:ln xmlns:a="http://schemas.openxmlformats.org/drawingml/2006/main" w="0">
            <a:solidFill>
              <a:srgbClr val="F4B740"/>
            </a:solidFill>
            <a:prstDash val="solid"/>
          </a:ln>
        </p:spPr>
      </p:sp>
      <p:sp>
        <p:nvSpPr>
          <p:cNvPr id="12" name="text-157">
            <a:extLst xmlns:a="http://schemas.openxmlformats.org/drawingml/2006/main">
              <a:ext uri="{FF2B5EF4-FFF2-40B4-BE49-F238E27FC236}">
                <a16:creationId xmlns:a16="http://schemas.microsoft.com/office/drawing/2014/main" id="{B6EBF04A-159A-4B8F-BFE2-CC68CA1BC6BE}"/>
              </a:ext>
            </a:extLst>
          </p:cNvPr>
          <p:cNvSpPr>
            <a:spLocks xmlns:a="http://schemas.openxmlformats.org/drawingml/2006/main" noGrp="1"/>
          </p:cNvSpPr>
          <p:nvPr/>
        </p:nvSpPr>
        <p:spPr>
          <a:xfrm xmlns:a="http://schemas.openxmlformats.org/drawingml/2006/main">
            <a:off x="1024128" y="4818888"/>
            <a:ext cx="2084832"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b="1" i="0">
                <a:solidFill>
                  <a:srgbClr val="0B1736"/>
                </a:solidFill>
              </a:defRPr>
            </a:pPr>
            <a:r>
              <a:rPr sz="788" b="1" i="0">
                <a:solidFill>
                  <a:srgbClr val="0B1736"/>
                </a:solidFill>
              </a:rPr>
              <a:t>ILLUSTRATIVE TARGET CASE</a:t>
            </a:r>
          </a:p>
        </p:txBody>
      </p:sp>
      <p:sp>
        <p:nvSpPr>
          <p:cNvPr id="13" name="text-158">
            <a:extLst xmlns:a="http://schemas.openxmlformats.org/drawingml/2006/main">
              <a:ext uri="{FF2B5EF4-FFF2-40B4-BE49-F238E27FC236}">
                <a16:creationId xmlns:a16="http://schemas.microsoft.com/office/drawing/2014/main" id="{B73BAA65-7137-41CA-B203-AA24249A12E0}"/>
              </a:ext>
            </a:extLst>
          </p:cNvPr>
          <p:cNvSpPr>
            <a:spLocks xmlns:a="http://schemas.openxmlformats.org/drawingml/2006/main" noGrp="1"/>
          </p:cNvSpPr>
          <p:nvPr/>
        </p:nvSpPr>
        <p:spPr>
          <a:xfrm xmlns:a="http://schemas.openxmlformats.org/drawingml/2006/main">
            <a:off x="3968496" y="1737360"/>
            <a:ext cx="210312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52627B"/>
                </a:solidFill>
              </a:defRPr>
            </a:pPr>
            <a:r>
              <a:rPr sz="900" b="1" i="0">
                <a:solidFill>
                  <a:srgbClr val="52627B"/>
                </a:solidFill>
              </a:rPr>
              <a:t>TRADITIONAL MODEL</a:t>
            </a:r>
          </a:p>
        </p:txBody>
      </p:sp>
      <p:sp>
        <p:nvSpPr>
          <p:cNvPr id="14" name="shape-159">
            <a:extLst xmlns:a="http://schemas.openxmlformats.org/drawingml/2006/main">
              <a:ext uri="{FF2B5EF4-FFF2-40B4-BE49-F238E27FC236}">
                <a16:creationId xmlns:a16="http://schemas.microsoft.com/office/drawing/2014/main" id="{AC02DD74-9BCF-44AB-A335-06EF43382929}"/>
              </a:ext>
            </a:extLst>
          </p:cNvPr>
          <p:cNvSpPr>
            <a:spLocks xmlns:a="http://schemas.openxmlformats.org/drawingml/2006/main" noGrp="1"/>
          </p:cNvSpPr>
          <p:nvPr/>
        </p:nvSpPr>
        <p:spPr>
          <a:xfrm xmlns:a="http://schemas.openxmlformats.org/drawingml/2006/main">
            <a:off x="3968496" y="2084832"/>
            <a:ext cx="6217920" cy="530352"/>
          </a:xfrm>
          <a:prstGeom xmlns:a="http://schemas.openxmlformats.org/drawingml/2006/main" prst="roundRect">
            <a:avLst>
              <a:gd name="adj" fmla="val 14368"/>
            </a:avLst>
          </a:prstGeom>
          <a:solidFill xmlns:a="http://schemas.openxmlformats.org/drawingml/2006/main">
            <a:srgbClr val="DDE5F2"/>
          </a:solidFill>
          <a:ln xmlns:a="http://schemas.openxmlformats.org/drawingml/2006/main" w="0">
            <a:solidFill>
              <a:srgbClr val="DDE5F2"/>
            </a:solidFill>
            <a:prstDash val="solid"/>
          </a:ln>
        </p:spPr>
      </p:sp>
      <p:sp>
        <p:nvSpPr>
          <p:cNvPr id="15" name="shape-160">
            <a:extLst xmlns:a="http://schemas.openxmlformats.org/drawingml/2006/main">
              <a:ext uri="{FF2B5EF4-FFF2-40B4-BE49-F238E27FC236}">
                <a16:creationId xmlns:a16="http://schemas.microsoft.com/office/drawing/2014/main" id="{776BD0B3-2818-4D3D-964D-84B6E1A68D1E}"/>
              </a:ext>
            </a:extLst>
          </p:cNvPr>
          <p:cNvSpPr>
            <a:spLocks xmlns:a="http://schemas.openxmlformats.org/drawingml/2006/main" noGrp="1"/>
          </p:cNvSpPr>
          <p:nvPr/>
        </p:nvSpPr>
        <p:spPr>
          <a:xfrm xmlns:a="http://schemas.openxmlformats.org/drawingml/2006/main">
            <a:off x="3968496" y="2084832"/>
            <a:ext cx="6217920" cy="530352"/>
          </a:xfrm>
          <a:prstGeom xmlns:a="http://schemas.openxmlformats.org/drawingml/2006/main" prst="roundRect">
            <a:avLst>
              <a:gd name="adj" fmla="val 14368"/>
            </a:avLst>
          </a:prstGeom>
          <a:solidFill xmlns:a="http://schemas.openxmlformats.org/drawingml/2006/main">
            <a:srgbClr val="52627B"/>
          </a:solidFill>
          <a:ln xmlns:a="http://schemas.openxmlformats.org/drawingml/2006/main" w="0">
            <a:solidFill>
              <a:srgbClr val="52627B"/>
            </a:solidFill>
            <a:prstDash val="solid"/>
          </a:ln>
        </p:spPr>
      </p:sp>
      <p:sp>
        <p:nvSpPr>
          <p:cNvPr id="16" name="text-161">
            <a:extLst xmlns:a="http://schemas.openxmlformats.org/drawingml/2006/main">
              <a:ext uri="{FF2B5EF4-FFF2-40B4-BE49-F238E27FC236}">
                <a16:creationId xmlns:a16="http://schemas.microsoft.com/office/drawing/2014/main" id="{05E14A9E-B0DC-4177-AFC6-F1F32D6FB1EB}"/>
              </a:ext>
            </a:extLst>
          </p:cNvPr>
          <p:cNvSpPr>
            <a:spLocks xmlns:a="http://schemas.openxmlformats.org/drawingml/2006/main" noGrp="1"/>
          </p:cNvSpPr>
          <p:nvPr/>
        </p:nvSpPr>
        <p:spPr>
          <a:xfrm xmlns:a="http://schemas.openxmlformats.org/drawingml/2006/main">
            <a:off x="4242816" y="2212848"/>
            <a:ext cx="2697480"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FFFF"/>
                </a:solidFill>
              </a:defRPr>
            </a:pPr>
            <a:r>
              <a:rPr sz="1200" b="1" i="0">
                <a:solidFill>
                  <a:srgbClr val="FFFFFF"/>
                </a:solidFill>
              </a:rPr>
              <a:t>1,000 manually handled</a:t>
            </a:r>
          </a:p>
        </p:txBody>
      </p:sp>
      <p:sp>
        <p:nvSpPr>
          <p:cNvPr id="17" name="text-162">
            <a:extLst xmlns:a="http://schemas.openxmlformats.org/drawingml/2006/main">
              <a:ext uri="{FF2B5EF4-FFF2-40B4-BE49-F238E27FC236}">
                <a16:creationId xmlns:a16="http://schemas.microsoft.com/office/drawing/2014/main" id="{EA0A53BF-F9D6-4DDA-B4BA-4F18A8B032AB}"/>
              </a:ext>
            </a:extLst>
          </p:cNvPr>
          <p:cNvSpPr>
            <a:spLocks xmlns:a="http://schemas.openxmlformats.org/drawingml/2006/main" noGrp="1"/>
          </p:cNvSpPr>
          <p:nvPr/>
        </p:nvSpPr>
        <p:spPr>
          <a:xfrm xmlns:a="http://schemas.openxmlformats.org/drawingml/2006/main">
            <a:off x="9619488" y="2212848"/>
            <a:ext cx="402336"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i="0">
                <a:solidFill>
                  <a:srgbClr val="FFFFFF"/>
                </a:solidFill>
              </a:defRPr>
            </a:pPr>
            <a:r>
              <a:rPr sz="1125" b="1" i="0">
                <a:solidFill>
                  <a:srgbClr val="FFFFFF"/>
                </a:solidFill>
              </a:rPr>
              <a:t>100%</a:t>
            </a:r>
          </a:p>
        </p:txBody>
      </p:sp>
      <p:sp>
        <p:nvSpPr>
          <p:cNvPr id="18" name="text-163">
            <a:extLst xmlns:a="http://schemas.openxmlformats.org/drawingml/2006/main">
              <a:ext uri="{FF2B5EF4-FFF2-40B4-BE49-F238E27FC236}">
                <a16:creationId xmlns:a16="http://schemas.microsoft.com/office/drawing/2014/main" id="{7D880596-54AE-4AFA-BE51-6A70C30C56D0}"/>
              </a:ext>
            </a:extLst>
          </p:cNvPr>
          <p:cNvSpPr>
            <a:spLocks xmlns:a="http://schemas.openxmlformats.org/drawingml/2006/main" noGrp="1"/>
          </p:cNvSpPr>
          <p:nvPr/>
        </p:nvSpPr>
        <p:spPr>
          <a:xfrm xmlns:a="http://schemas.openxmlformats.org/drawingml/2006/main">
            <a:off x="3968496" y="3054096"/>
            <a:ext cx="210312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52627B"/>
                </a:solidFill>
              </a:defRPr>
            </a:pPr>
            <a:r>
              <a:rPr sz="900" b="1" i="0">
                <a:solidFill>
                  <a:srgbClr val="52627B"/>
                </a:solidFill>
              </a:rPr>
              <a:t>AI-ASSISTED TARGET</a:t>
            </a:r>
          </a:p>
        </p:txBody>
      </p:sp>
      <p:sp>
        <p:nvSpPr>
          <p:cNvPr id="19" name="shape-164">
            <a:extLst xmlns:a="http://schemas.openxmlformats.org/drawingml/2006/main">
              <a:ext uri="{FF2B5EF4-FFF2-40B4-BE49-F238E27FC236}">
                <a16:creationId xmlns:a16="http://schemas.microsoft.com/office/drawing/2014/main" id="{D91B6C83-C66B-447A-B259-0778D80E786B}"/>
              </a:ext>
            </a:extLst>
          </p:cNvPr>
          <p:cNvSpPr>
            <a:spLocks xmlns:a="http://schemas.openxmlformats.org/drawingml/2006/main" noGrp="1"/>
          </p:cNvSpPr>
          <p:nvPr/>
        </p:nvSpPr>
        <p:spPr>
          <a:xfrm xmlns:a="http://schemas.openxmlformats.org/drawingml/2006/main">
            <a:off x="3968496" y="3401568"/>
            <a:ext cx="6217920" cy="530352"/>
          </a:xfrm>
          <a:prstGeom xmlns:a="http://schemas.openxmlformats.org/drawingml/2006/main" prst="roundRect">
            <a:avLst>
              <a:gd name="adj" fmla="val 14368"/>
            </a:avLst>
          </a:prstGeom>
          <a:solidFill xmlns:a="http://schemas.openxmlformats.org/drawingml/2006/main">
            <a:srgbClr val="DDE5F2"/>
          </a:solidFill>
          <a:ln xmlns:a="http://schemas.openxmlformats.org/drawingml/2006/main" w="0">
            <a:solidFill>
              <a:srgbClr val="DDE5F2"/>
            </a:solidFill>
            <a:prstDash val="solid"/>
          </a:ln>
        </p:spPr>
      </p:sp>
      <p:sp>
        <p:nvSpPr>
          <p:cNvPr id="20" name="shape-165">
            <a:extLst xmlns:a="http://schemas.openxmlformats.org/drawingml/2006/main">
              <a:ext uri="{FF2B5EF4-FFF2-40B4-BE49-F238E27FC236}">
                <a16:creationId xmlns:a16="http://schemas.microsoft.com/office/drawing/2014/main" id="{F7BC5AB4-25C1-4D7D-BAE8-541689354E47}"/>
              </a:ext>
            </a:extLst>
          </p:cNvPr>
          <p:cNvSpPr>
            <a:spLocks xmlns:a="http://schemas.openxmlformats.org/drawingml/2006/main" noGrp="1"/>
          </p:cNvSpPr>
          <p:nvPr/>
        </p:nvSpPr>
        <p:spPr>
          <a:xfrm xmlns:a="http://schemas.openxmlformats.org/drawingml/2006/main">
            <a:off x="3968496" y="3401568"/>
            <a:ext cx="4974336" cy="530352"/>
          </a:xfrm>
          <a:prstGeom xmlns:a="http://schemas.openxmlformats.org/drawingml/2006/main" prst="roundRect">
            <a:avLst>
              <a:gd name="adj" fmla="val 14368"/>
            </a:avLst>
          </a:prstGeom>
          <a:solidFill xmlns:a="http://schemas.openxmlformats.org/drawingml/2006/main">
            <a:srgbClr val="2F80ED"/>
          </a:solidFill>
          <a:ln xmlns:a="http://schemas.openxmlformats.org/drawingml/2006/main" w="0">
            <a:solidFill>
              <a:srgbClr val="2F80ED"/>
            </a:solidFill>
            <a:prstDash val="solid"/>
          </a:ln>
        </p:spPr>
      </p:sp>
      <p:sp>
        <p:nvSpPr>
          <p:cNvPr id="21" name="shape-166">
            <a:extLst xmlns:a="http://schemas.openxmlformats.org/drawingml/2006/main">
              <a:ext uri="{FF2B5EF4-FFF2-40B4-BE49-F238E27FC236}">
                <a16:creationId xmlns:a16="http://schemas.microsoft.com/office/drawing/2014/main" id="{94CCCBD3-5B51-4564-B59C-ED5969D1D9AC}"/>
              </a:ext>
            </a:extLst>
          </p:cNvPr>
          <p:cNvSpPr>
            <a:spLocks xmlns:a="http://schemas.openxmlformats.org/drawingml/2006/main" noGrp="1"/>
          </p:cNvSpPr>
          <p:nvPr/>
        </p:nvSpPr>
        <p:spPr>
          <a:xfrm xmlns:a="http://schemas.openxmlformats.org/drawingml/2006/main">
            <a:off x="8942832" y="3401568"/>
            <a:ext cx="1243584" cy="530352"/>
          </a:xfrm>
          <a:prstGeom xmlns:a="http://schemas.openxmlformats.org/drawingml/2006/main" prst="roundRect">
            <a:avLst>
              <a:gd name="adj" fmla="val 14368"/>
            </a:avLst>
          </a:prstGeom>
          <a:solidFill xmlns:a="http://schemas.openxmlformats.org/drawingml/2006/main">
            <a:srgbClr val="26C6DA"/>
          </a:solidFill>
          <a:ln xmlns:a="http://schemas.openxmlformats.org/drawingml/2006/main" w="0">
            <a:solidFill>
              <a:srgbClr val="26C6DA"/>
            </a:solidFill>
            <a:prstDash val="solid"/>
          </a:ln>
        </p:spPr>
      </p:sp>
      <p:sp>
        <p:nvSpPr>
          <p:cNvPr id="22" name="text-167">
            <a:extLst xmlns:a="http://schemas.openxmlformats.org/drawingml/2006/main">
              <a:ext uri="{FF2B5EF4-FFF2-40B4-BE49-F238E27FC236}">
                <a16:creationId xmlns:a16="http://schemas.microsoft.com/office/drawing/2014/main" id="{10E0BBD1-C03A-4346-9FB7-23E8F05A3281}"/>
              </a:ext>
            </a:extLst>
          </p:cNvPr>
          <p:cNvSpPr>
            <a:spLocks xmlns:a="http://schemas.openxmlformats.org/drawingml/2006/main" noGrp="1"/>
          </p:cNvSpPr>
          <p:nvPr/>
        </p:nvSpPr>
        <p:spPr>
          <a:xfrm xmlns:a="http://schemas.openxmlformats.org/drawingml/2006/main">
            <a:off x="4242816" y="3529584"/>
            <a:ext cx="1847088"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1" i="0">
                <a:solidFill>
                  <a:srgbClr val="FFFFFF"/>
                </a:solidFill>
              </a:defRPr>
            </a:pPr>
            <a:r>
              <a:rPr sz="1163" b="1" i="0">
                <a:solidFill>
                  <a:srgbClr val="FFFFFF"/>
                </a:solidFill>
              </a:rPr>
              <a:t>800 AI-routed</a:t>
            </a:r>
          </a:p>
        </p:txBody>
      </p:sp>
      <p:sp>
        <p:nvSpPr>
          <p:cNvPr id="23" name="text-168">
            <a:extLst xmlns:a="http://schemas.openxmlformats.org/drawingml/2006/main">
              <a:ext uri="{FF2B5EF4-FFF2-40B4-BE49-F238E27FC236}">
                <a16:creationId xmlns:a16="http://schemas.microsoft.com/office/drawing/2014/main" id="{AF0A8F48-699D-4E76-B440-A280FAEF65A2}"/>
              </a:ext>
            </a:extLst>
          </p:cNvPr>
          <p:cNvSpPr>
            <a:spLocks xmlns:a="http://schemas.openxmlformats.org/drawingml/2006/main" noGrp="1"/>
          </p:cNvSpPr>
          <p:nvPr/>
        </p:nvSpPr>
        <p:spPr>
          <a:xfrm xmlns:a="http://schemas.openxmlformats.org/drawingml/2006/main">
            <a:off x="9025128" y="3529584"/>
            <a:ext cx="1060704"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63" b="1" i="0">
                <a:solidFill>
                  <a:srgbClr val="0B1736"/>
                </a:solidFill>
              </a:defRPr>
            </a:pPr>
            <a:r>
              <a:rPr sz="863" b="1" i="0">
                <a:solidFill>
                  <a:srgbClr val="0B1736"/>
                </a:solidFill>
              </a:rPr>
              <a:t>200 human focus</a:t>
            </a:r>
          </a:p>
        </p:txBody>
      </p:sp>
      <p:sp>
        <p:nvSpPr>
          <p:cNvPr id="24" name="text-169">
            <a:extLst xmlns:a="http://schemas.openxmlformats.org/drawingml/2006/main">
              <a:ext uri="{FF2B5EF4-FFF2-40B4-BE49-F238E27FC236}">
                <a16:creationId xmlns:a16="http://schemas.microsoft.com/office/drawing/2014/main" id="{C1674208-48DA-4298-B79F-72C2DCD11B11}"/>
              </a:ext>
            </a:extLst>
          </p:cNvPr>
          <p:cNvSpPr>
            <a:spLocks xmlns:a="http://schemas.openxmlformats.org/drawingml/2006/main" noGrp="1"/>
          </p:cNvSpPr>
          <p:nvPr/>
        </p:nvSpPr>
        <p:spPr>
          <a:xfrm xmlns:a="http://schemas.openxmlformats.org/drawingml/2006/main">
            <a:off x="9646920" y="4087368"/>
            <a:ext cx="384048"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i="0">
                <a:solidFill>
                  <a:srgbClr val="2F80ED"/>
                </a:solidFill>
              </a:defRPr>
            </a:pPr>
            <a:r>
              <a:rPr sz="1125" b="1" i="0">
                <a:solidFill>
                  <a:srgbClr val="2F80ED"/>
                </a:solidFill>
              </a:rPr>
              <a:t>80%</a:t>
            </a:r>
          </a:p>
        </p:txBody>
      </p:sp>
      <p:sp>
        <p:nvSpPr>
          <p:cNvPr id="25" name="text-170">
            <a:extLst xmlns:a="http://schemas.openxmlformats.org/drawingml/2006/main">
              <a:ext uri="{FF2B5EF4-FFF2-40B4-BE49-F238E27FC236}">
                <a16:creationId xmlns:a16="http://schemas.microsoft.com/office/drawing/2014/main" id="{151B2475-3449-4307-8BCC-14210FAC4857}"/>
              </a:ext>
            </a:extLst>
          </p:cNvPr>
          <p:cNvSpPr>
            <a:spLocks xmlns:a="http://schemas.openxmlformats.org/drawingml/2006/main" noGrp="1"/>
          </p:cNvSpPr>
          <p:nvPr/>
        </p:nvSpPr>
        <p:spPr>
          <a:xfrm xmlns:a="http://schemas.openxmlformats.org/drawingml/2006/main">
            <a:off x="3968496" y="4690872"/>
            <a:ext cx="48006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0B1736"/>
                </a:solidFill>
              </a:defRPr>
            </a:pPr>
            <a:r>
              <a:rPr sz="1725" b="1" i="0">
                <a:solidFill>
                  <a:srgbClr val="0B1736"/>
                </a:solidFill>
              </a:rPr>
              <a:t>Illustrative cost reduction: up to 80%</a:t>
            </a:r>
          </a:p>
        </p:txBody>
      </p:sp>
      <p:sp>
        <p:nvSpPr>
          <p:cNvPr id="26" name="text-171">
            <a:extLst xmlns:a="http://schemas.openxmlformats.org/drawingml/2006/main">
              <a:ext uri="{FF2B5EF4-FFF2-40B4-BE49-F238E27FC236}">
                <a16:creationId xmlns:a16="http://schemas.microsoft.com/office/drawing/2014/main" id="{F68E19B9-C77B-442D-A1B6-8930F75ECC07}"/>
              </a:ext>
            </a:extLst>
          </p:cNvPr>
          <p:cNvSpPr>
            <a:spLocks xmlns:a="http://schemas.openxmlformats.org/drawingml/2006/main" noGrp="1"/>
          </p:cNvSpPr>
          <p:nvPr/>
        </p:nvSpPr>
        <p:spPr>
          <a:xfrm xmlns:a="http://schemas.openxmlformats.org/drawingml/2006/main">
            <a:off x="3986784" y="5138928"/>
            <a:ext cx="297180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i="1">
                <a:solidFill>
                  <a:srgbClr val="52627B"/>
                </a:solidFill>
              </a:defRPr>
            </a:pPr>
            <a:r>
              <a:rPr sz="975" b="0" i="1">
                <a:solidFill>
                  <a:srgbClr val="52627B"/>
                </a:solidFill>
              </a:rPr>
              <a:t>Target case, not a measured result</a:t>
            </a:r>
          </a:p>
        </p:txBody>
      </p:sp>
      <p:sp>
        <p:nvSpPr>
          <p:cNvPr id="27" name="shape-172">
            <a:extLst xmlns:a="http://schemas.openxmlformats.org/drawingml/2006/main">
              <a:ext uri="{FF2B5EF4-FFF2-40B4-BE49-F238E27FC236}">
                <a16:creationId xmlns:a16="http://schemas.microsoft.com/office/drawing/2014/main" id="{C33E5B00-AE73-4262-B8BC-D2F49936FAC7}"/>
              </a:ext>
            </a:extLst>
          </p:cNvPr>
          <p:cNvSpPr>
            <a:spLocks xmlns:a="http://schemas.openxmlformats.org/drawingml/2006/main" noGrp="1"/>
          </p:cNvSpPr>
          <p:nvPr/>
        </p:nvSpPr>
        <p:spPr>
          <a:xfrm xmlns:a="http://schemas.openxmlformats.org/drawingml/2006/main">
            <a:off x="7498080" y="4736592"/>
            <a:ext cx="2862072" cy="658368"/>
          </a:xfrm>
          <a:prstGeom xmlns:a="http://schemas.openxmlformats.org/drawingml/2006/main" prst="roundRect">
            <a:avLst>
              <a:gd name="adj" fmla="val 11574"/>
            </a:avLst>
          </a:prstGeom>
          <a:solidFill xmlns:a="http://schemas.openxmlformats.org/drawingml/2006/main">
            <a:srgbClr val="E9F9F2"/>
          </a:solidFill>
          <a:ln xmlns:a="http://schemas.openxmlformats.org/drawingml/2006/main" w="9525">
            <a:solidFill>
              <a:srgbClr val="B8E5D0"/>
            </a:solidFill>
            <a:prstDash val="solid"/>
          </a:ln>
        </p:spPr>
      </p:sp>
      <p:sp>
        <p:nvSpPr>
          <p:cNvPr id="28" name="text-173">
            <a:extLst xmlns:a="http://schemas.openxmlformats.org/drawingml/2006/main">
              <a:ext uri="{FF2B5EF4-FFF2-40B4-BE49-F238E27FC236}">
                <a16:creationId xmlns:a16="http://schemas.microsoft.com/office/drawing/2014/main" id="{4D845ED7-3402-408E-8298-76D9C80266DA}"/>
              </a:ext>
            </a:extLst>
          </p:cNvPr>
          <p:cNvSpPr>
            <a:spLocks xmlns:a="http://schemas.openxmlformats.org/drawingml/2006/main" noGrp="1"/>
          </p:cNvSpPr>
          <p:nvPr/>
        </p:nvSpPr>
        <p:spPr>
          <a:xfrm xmlns:a="http://schemas.openxmlformats.org/drawingml/2006/main">
            <a:off x="7717536" y="4855464"/>
            <a:ext cx="877824"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0B981"/>
                </a:solidFill>
              </a:defRPr>
            </a:pPr>
            <a:r>
              <a:rPr sz="900" b="1" i="0">
                <a:solidFill>
                  <a:srgbClr val="10B981"/>
                </a:solidFill>
              </a:rPr>
              <a:t>VALIDATE</a:t>
            </a:r>
          </a:p>
        </p:txBody>
      </p:sp>
      <p:sp>
        <p:nvSpPr>
          <p:cNvPr id="29" name="text-174">
            <a:extLst xmlns:a="http://schemas.openxmlformats.org/drawingml/2006/main">
              <a:ext uri="{FF2B5EF4-FFF2-40B4-BE49-F238E27FC236}">
                <a16:creationId xmlns:a16="http://schemas.microsoft.com/office/drawing/2014/main" id="{A2E06979-DFBA-44BD-945D-072948EDE235}"/>
              </a:ext>
            </a:extLst>
          </p:cNvPr>
          <p:cNvSpPr>
            <a:spLocks xmlns:a="http://schemas.openxmlformats.org/drawingml/2006/main" noGrp="1"/>
          </p:cNvSpPr>
          <p:nvPr/>
        </p:nvSpPr>
        <p:spPr>
          <a:xfrm xmlns:a="http://schemas.openxmlformats.org/drawingml/2006/main">
            <a:off x="7717536" y="5102352"/>
            <a:ext cx="2304288"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38" b="0" i="0">
                <a:solidFill>
                  <a:srgbClr val="12203A"/>
                </a:solidFill>
              </a:defRPr>
            </a:pPr>
            <a:r>
              <a:rPr sz="938" b="0" i="0">
                <a:solidFill>
                  <a:srgbClr val="12203A"/>
                </a:solidFill>
              </a:rPr>
              <a:t>cost | time | coverage | findings</a:t>
            </a:r>
          </a:p>
        </p:txBody>
      </p:sp>
      <p:sp>
        <p:nvSpPr>
          <p:cNvPr id="30" name="text-175">
            <a:extLst xmlns:a="http://schemas.openxmlformats.org/drawingml/2006/main">
              <a:ext uri="{FF2B5EF4-FFF2-40B4-BE49-F238E27FC236}">
                <a16:creationId xmlns:a16="http://schemas.microsoft.com/office/drawing/2014/main" id="{B166F379-8363-4C6F-A110-762647A32D21}"/>
              </a:ext>
            </a:extLst>
          </p:cNvPr>
          <p:cNvSpPr>
            <a:spLocks xmlns:a="http://schemas.openxmlformats.org/drawingml/2006/main" noGrp="1"/>
          </p:cNvSpPr>
          <p:nvPr/>
        </p:nvSpPr>
        <p:spPr>
          <a:xfrm xmlns:a="http://schemas.openxmlformats.org/drawingml/2006/main">
            <a:off x="3968496" y="5852160"/>
            <a:ext cx="667512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0B1736"/>
                </a:solidFill>
              </a:defRPr>
            </a:pPr>
            <a:r>
              <a:rPr sz="1200" b="1" i="0">
                <a:solidFill>
                  <a:srgbClr val="0B1736"/>
                </a:solidFill>
              </a:rPr>
              <a:t>The strategic shift: from linear staffing to scalable capacity.</a:t>
            </a:r>
          </a:p>
        </p:txBody>
      </p:sp>
    </p:spTree>
    <p:extLst>
      <p:ext uri="{BB962C8B-B14F-4D97-AF65-F5344CB8AC3E}">
        <p14:creationId xmlns:p14="http://schemas.microsoft.com/office/powerpoint/2010/main" val="92400947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shape-176">
            <a:extLst xmlns:a="http://schemas.openxmlformats.org/drawingml/2006/main">
              <a:ext uri="{FF2B5EF4-FFF2-40B4-BE49-F238E27FC236}">
                <a16:creationId xmlns:a16="http://schemas.microsoft.com/office/drawing/2014/main" id="{86741770-88ED-4EA7-936B-EA6CEBCDD7F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177">
            <a:extLst xmlns:a="http://schemas.openxmlformats.org/drawingml/2006/main">
              <a:ext uri="{FF2B5EF4-FFF2-40B4-BE49-F238E27FC236}">
                <a16:creationId xmlns:a16="http://schemas.microsoft.com/office/drawing/2014/main" id="{0776BC70-0300-45DF-A90E-E81A5CB1318F}"/>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Start with callbacks, then scale across voice quality</a:t>
            </a:r>
          </a:p>
        </p:txBody>
      </p:sp>
      <p:sp>
        <p:nvSpPr>
          <p:cNvPr id="3" name="text-178">
            <a:extLst xmlns:a="http://schemas.openxmlformats.org/drawingml/2006/main">
              <a:ext uri="{FF2B5EF4-FFF2-40B4-BE49-F238E27FC236}">
                <a16:creationId xmlns:a16="http://schemas.microsoft.com/office/drawing/2014/main" id="{24500025-EA80-4726-A4EC-D329336E30E7}"/>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The first use case can become a repeatable capability for service operations.</a:t>
            </a:r>
          </a:p>
        </p:txBody>
      </p:sp>
      <p:sp>
        <p:nvSpPr>
          <p:cNvPr id="4" name="text-179">
            <a:extLst xmlns:a="http://schemas.openxmlformats.org/drawingml/2006/main">
              <a:ext uri="{FF2B5EF4-FFF2-40B4-BE49-F238E27FC236}">
                <a16:creationId xmlns:a16="http://schemas.microsoft.com/office/drawing/2014/main" id="{A24745C8-DEE8-4662-9944-49181687EBF3}"/>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180">
            <a:extLst xmlns:a="http://schemas.openxmlformats.org/drawingml/2006/main">
              <a:ext uri="{FF2B5EF4-FFF2-40B4-BE49-F238E27FC236}">
                <a16:creationId xmlns:a16="http://schemas.microsoft.com/office/drawing/2014/main" id="{7D3CFCE9-61AD-426E-B2B6-16A495E535FC}"/>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06</a:t>
            </a:r>
          </a:p>
        </p:txBody>
      </p:sp>
      <p:sp>
        <p:nvSpPr>
          <p:cNvPr id="6" name="shape-181">
            <a:extLst xmlns:a="http://schemas.openxmlformats.org/drawingml/2006/main">
              <a:ext uri="{FF2B5EF4-FFF2-40B4-BE49-F238E27FC236}">
                <a16:creationId xmlns:a16="http://schemas.microsoft.com/office/drawing/2014/main" id="{462B635C-90F7-42E6-BD67-977E9969199C}"/>
              </a:ext>
            </a:extLst>
          </p:cNvPr>
          <p:cNvSpPr>
            <a:spLocks xmlns:a="http://schemas.openxmlformats.org/drawingml/2006/main" noGrp="1"/>
          </p:cNvSpPr>
          <p:nvPr/>
        </p:nvSpPr>
        <p:spPr>
          <a:xfrm xmlns:a="http://schemas.openxmlformats.org/drawingml/2006/main">
            <a:off x="658368" y="1700784"/>
            <a:ext cx="2340864" cy="1572768"/>
          </a:xfrm>
          <a:prstGeom xmlns:a="http://schemas.openxmlformats.org/drawingml/2006/main" prst="roundRect">
            <a:avLst>
              <a:gd name="adj" fmla="val 4845"/>
            </a:avLst>
          </a:prstGeom>
          <a:solidFill xmlns:a="http://schemas.openxmlformats.org/drawingml/2006/main">
            <a:srgbClr val="EAF2FF"/>
          </a:solidFill>
          <a:ln xmlns:a="http://schemas.openxmlformats.org/drawingml/2006/main" w="9525">
            <a:solidFill>
              <a:srgbClr val="D9E2F0"/>
            </a:solidFill>
            <a:prstDash val="solid"/>
          </a:ln>
        </p:spPr>
      </p:sp>
      <p:sp>
        <p:nvSpPr>
          <p:cNvPr id="7" name="text-182">
            <a:extLst xmlns:a="http://schemas.openxmlformats.org/drawingml/2006/main">
              <a:ext uri="{FF2B5EF4-FFF2-40B4-BE49-F238E27FC236}">
                <a16:creationId xmlns:a16="http://schemas.microsoft.com/office/drawing/2014/main" id="{423AF28E-09F8-4A8A-84B5-2B5B8983374B}"/>
              </a:ext>
            </a:extLst>
          </p:cNvPr>
          <p:cNvSpPr>
            <a:spLocks xmlns:a="http://schemas.openxmlformats.org/drawingml/2006/main" noGrp="1"/>
          </p:cNvSpPr>
          <p:nvPr/>
        </p:nvSpPr>
        <p:spPr>
          <a:xfrm xmlns:a="http://schemas.openxmlformats.org/drawingml/2006/main">
            <a:off x="841248" y="1984248"/>
            <a:ext cx="1975104"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0B1736"/>
                </a:solidFill>
              </a:defRPr>
            </a:pPr>
            <a:r>
              <a:rPr sz="1275" b="1" i="0">
                <a:solidFill>
                  <a:srgbClr val="0B1736"/>
                </a:solidFill>
              </a:rPr>
              <a:t>INSURANCE</a:t>
            </a:r>
          </a:p>
          <a:p xmlns:a="http://schemas.openxmlformats.org/drawingml/2006/main">
            <a:pPr algn="ctr">
              <a:defRPr sz="1275" b="1" i="0">
                <a:solidFill>
                  <a:srgbClr val="0B1736"/>
                </a:solidFill>
              </a:defRPr>
            </a:pPr>
            <a:r>
              <a:rPr sz="1275" b="1" i="0">
                <a:solidFill>
                  <a:srgbClr val="0B1736"/>
                </a:solidFill>
              </a:rPr>
              <a:t>CALLBACKS</a:t>
            </a:r>
          </a:p>
        </p:txBody>
      </p:sp>
      <p:sp>
        <p:nvSpPr>
          <p:cNvPr id="8" name="text-183">
            <a:extLst xmlns:a="http://schemas.openxmlformats.org/drawingml/2006/main">
              <a:ext uri="{FF2B5EF4-FFF2-40B4-BE49-F238E27FC236}">
                <a16:creationId xmlns:a16="http://schemas.microsoft.com/office/drawing/2014/main" id="{51F34538-1CEE-4454-BA4A-7025E0C3984E}"/>
              </a:ext>
            </a:extLst>
          </p:cNvPr>
          <p:cNvSpPr>
            <a:spLocks xmlns:a="http://schemas.openxmlformats.org/drawingml/2006/main" noGrp="1"/>
          </p:cNvSpPr>
          <p:nvPr/>
        </p:nvSpPr>
        <p:spPr>
          <a:xfrm xmlns:a="http://schemas.openxmlformats.org/drawingml/2006/main">
            <a:off x="841248" y="2788920"/>
            <a:ext cx="197510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i="0">
                <a:solidFill>
                  <a:srgbClr val="52627B"/>
                </a:solidFill>
              </a:defRPr>
            </a:pPr>
            <a:r>
              <a:rPr sz="975" b="0" i="0">
                <a:solidFill>
                  <a:srgbClr val="52627B"/>
                </a:solidFill>
              </a:rPr>
              <a:t>Start where the need is clear</a:t>
            </a:r>
          </a:p>
        </p:txBody>
      </p:sp>
      <p:sp>
        <p:nvSpPr>
          <p:cNvPr id="9" name="shape-184">
            <a:extLst xmlns:a="http://schemas.openxmlformats.org/drawingml/2006/main">
              <a:ext uri="{FF2B5EF4-FFF2-40B4-BE49-F238E27FC236}">
                <a16:creationId xmlns:a16="http://schemas.microsoft.com/office/drawing/2014/main" id="{428A23F4-56B6-457C-BCC9-6BF9FEDE8FF8}"/>
              </a:ext>
            </a:extLst>
          </p:cNvPr>
          <p:cNvSpPr>
            <a:spLocks xmlns:a="http://schemas.openxmlformats.org/drawingml/2006/main" noGrp="1"/>
          </p:cNvSpPr>
          <p:nvPr/>
        </p:nvSpPr>
        <p:spPr>
          <a:xfrm xmlns:a="http://schemas.openxmlformats.org/drawingml/2006/main">
            <a:off x="3108960" y="2231136"/>
            <a:ext cx="256032" cy="457200"/>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10" name="shape-185">
            <a:extLst xmlns:a="http://schemas.openxmlformats.org/drawingml/2006/main">
              <a:ext uri="{FF2B5EF4-FFF2-40B4-BE49-F238E27FC236}">
                <a16:creationId xmlns:a16="http://schemas.microsoft.com/office/drawing/2014/main" id="{755297F1-BB42-4321-92C3-7D0C55E72705}"/>
              </a:ext>
            </a:extLst>
          </p:cNvPr>
          <p:cNvSpPr>
            <a:spLocks xmlns:a="http://schemas.openxmlformats.org/drawingml/2006/main" noGrp="1"/>
          </p:cNvSpPr>
          <p:nvPr/>
        </p:nvSpPr>
        <p:spPr>
          <a:xfrm xmlns:a="http://schemas.openxmlformats.org/drawingml/2006/main">
            <a:off x="3163824" y="1700784"/>
            <a:ext cx="2340864" cy="1572768"/>
          </a:xfrm>
          <a:prstGeom xmlns:a="http://schemas.openxmlformats.org/drawingml/2006/main" prst="roundRect">
            <a:avLst>
              <a:gd name="adj" fmla="val 4845"/>
            </a:avLst>
          </a:prstGeom>
          <a:solidFill xmlns:a="http://schemas.openxmlformats.org/drawingml/2006/main">
            <a:srgbClr val="E9FBFD"/>
          </a:solidFill>
          <a:ln xmlns:a="http://schemas.openxmlformats.org/drawingml/2006/main" w="9525">
            <a:solidFill>
              <a:srgbClr val="D9E2F0"/>
            </a:solidFill>
            <a:prstDash val="solid"/>
          </a:ln>
        </p:spPr>
      </p:sp>
      <p:sp>
        <p:nvSpPr>
          <p:cNvPr id="11" name="text-186">
            <a:extLst xmlns:a="http://schemas.openxmlformats.org/drawingml/2006/main">
              <a:ext uri="{FF2B5EF4-FFF2-40B4-BE49-F238E27FC236}">
                <a16:creationId xmlns:a16="http://schemas.microsoft.com/office/drawing/2014/main" id="{925DE159-550B-4190-A8A5-9A09FDE2F9C7}"/>
              </a:ext>
            </a:extLst>
          </p:cNvPr>
          <p:cNvSpPr>
            <a:spLocks xmlns:a="http://schemas.openxmlformats.org/drawingml/2006/main" noGrp="1"/>
          </p:cNvSpPr>
          <p:nvPr/>
        </p:nvSpPr>
        <p:spPr>
          <a:xfrm xmlns:a="http://schemas.openxmlformats.org/drawingml/2006/main">
            <a:off x="3346704" y="1984248"/>
            <a:ext cx="1975104"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0B1736"/>
                </a:solidFill>
              </a:defRPr>
            </a:pPr>
            <a:r>
              <a:rPr sz="1275" b="1" i="0">
                <a:solidFill>
                  <a:srgbClr val="0B1736"/>
                </a:solidFill>
              </a:rPr>
              <a:t>MORE CUSTOMER</a:t>
            </a:r>
          </a:p>
          <a:p xmlns:a="http://schemas.openxmlformats.org/drawingml/2006/main">
            <a:pPr algn="ctr">
              <a:defRPr sz="1275" b="1" i="0">
                <a:solidFill>
                  <a:srgbClr val="0B1736"/>
                </a:solidFill>
              </a:defRPr>
            </a:pPr>
            <a:r>
              <a:rPr sz="1275" b="1" i="0">
                <a:solidFill>
                  <a:srgbClr val="0B1736"/>
                </a:solidFill>
              </a:rPr>
              <a:t>SERVICE TEAMS</a:t>
            </a:r>
          </a:p>
        </p:txBody>
      </p:sp>
      <p:sp>
        <p:nvSpPr>
          <p:cNvPr id="12" name="text-187">
            <a:extLst xmlns:a="http://schemas.openxmlformats.org/drawingml/2006/main">
              <a:ext uri="{FF2B5EF4-FFF2-40B4-BE49-F238E27FC236}">
                <a16:creationId xmlns:a16="http://schemas.microsoft.com/office/drawing/2014/main" id="{651D9E43-EA43-4AB3-AD3D-3584EA131408}"/>
              </a:ext>
            </a:extLst>
          </p:cNvPr>
          <p:cNvSpPr>
            <a:spLocks xmlns:a="http://schemas.openxmlformats.org/drawingml/2006/main" noGrp="1"/>
          </p:cNvSpPr>
          <p:nvPr/>
        </p:nvSpPr>
        <p:spPr>
          <a:xfrm xmlns:a="http://schemas.openxmlformats.org/drawingml/2006/main">
            <a:off x="3346704" y="2788920"/>
            <a:ext cx="197510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i="0">
                <a:solidFill>
                  <a:srgbClr val="52627B"/>
                </a:solidFill>
              </a:defRPr>
            </a:pPr>
            <a:r>
              <a:rPr sz="975" b="0" i="0">
                <a:solidFill>
                  <a:srgbClr val="52627B"/>
                </a:solidFill>
              </a:rPr>
              <a:t>Reuse the operating model</a:t>
            </a:r>
          </a:p>
        </p:txBody>
      </p:sp>
      <p:sp>
        <p:nvSpPr>
          <p:cNvPr id="13" name="shape-188">
            <a:extLst xmlns:a="http://schemas.openxmlformats.org/drawingml/2006/main">
              <a:ext uri="{FF2B5EF4-FFF2-40B4-BE49-F238E27FC236}">
                <a16:creationId xmlns:a16="http://schemas.microsoft.com/office/drawing/2014/main" id="{F8755FA9-06A3-40FC-A09A-8B48EBA6677E}"/>
              </a:ext>
            </a:extLst>
          </p:cNvPr>
          <p:cNvSpPr>
            <a:spLocks xmlns:a="http://schemas.openxmlformats.org/drawingml/2006/main" noGrp="1"/>
          </p:cNvSpPr>
          <p:nvPr/>
        </p:nvSpPr>
        <p:spPr>
          <a:xfrm xmlns:a="http://schemas.openxmlformats.org/drawingml/2006/main">
            <a:off x="5614416" y="2231136"/>
            <a:ext cx="256032" cy="457200"/>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14" name="shape-189">
            <a:extLst xmlns:a="http://schemas.openxmlformats.org/drawingml/2006/main">
              <a:ext uri="{FF2B5EF4-FFF2-40B4-BE49-F238E27FC236}">
                <a16:creationId xmlns:a16="http://schemas.microsoft.com/office/drawing/2014/main" id="{1C92118F-01E8-46D2-9C2F-C035A0E1519B}"/>
              </a:ext>
            </a:extLst>
          </p:cNvPr>
          <p:cNvSpPr>
            <a:spLocks xmlns:a="http://schemas.openxmlformats.org/drawingml/2006/main" noGrp="1"/>
          </p:cNvSpPr>
          <p:nvPr/>
        </p:nvSpPr>
        <p:spPr>
          <a:xfrm xmlns:a="http://schemas.openxmlformats.org/drawingml/2006/main">
            <a:off x="5669280" y="1700784"/>
            <a:ext cx="2340864" cy="1572768"/>
          </a:xfrm>
          <a:prstGeom xmlns:a="http://schemas.openxmlformats.org/drawingml/2006/main" prst="roundRect">
            <a:avLst>
              <a:gd name="adj" fmla="val 4845"/>
            </a:avLst>
          </a:prstGeom>
          <a:solidFill xmlns:a="http://schemas.openxmlformats.org/drawingml/2006/main">
            <a:srgbClr val="FFF6D9"/>
          </a:solidFill>
          <a:ln xmlns:a="http://schemas.openxmlformats.org/drawingml/2006/main" w="9525">
            <a:solidFill>
              <a:srgbClr val="D9E2F0"/>
            </a:solidFill>
            <a:prstDash val="solid"/>
          </a:ln>
        </p:spPr>
      </p:sp>
      <p:sp>
        <p:nvSpPr>
          <p:cNvPr id="15" name="text-190">
            <a:extLst xmlns:a="http://schemas.openxmlformats.org/drawingml/2006/main">
              <a:ext uri="{FF2B5EF4-FFF2-40B4-BE49-F238E27FC236}">
                <a16:creationId xmlns:a16="http://schemas.microsoft.com/office/drawing/2014/main" id="{D5CF5E91-9B0E-4D97-AEE8-5C28B9F00D70}"/>
              </a:ext>
            </a:extLst>
          </p:cNvPr>
          <p:cNvSpPr>
            <a:spLocks xmlns:a="http://schemas.openxmlformats.org/drawingml/2006/main" noGrp="1"/>
          </p:cNvSpPr>
          <p:nvPr/>
        </p:nvSpPr>
        <p:spPr>
          <a:xfrm xmlns:a="http://schemas.openxmlformats.org/drawingml/2006/main">
            <a:off x="5852160" y="1984248"/>
            <a:ext cx="1975104"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0B1736"/>
                </a:solidFill>
              </a:defRPr>
            </a:pPr>
            <a:r>
              <a:rPr sz="1275" b="1" i="0">
                <a:solidFill>
                  <a:srgbClr val="0B1736"/>
                </a:solidFill>
              </a:rPr>
              <a:t>MULTI-PRODUCT</a:t>
            </a:r>
          </a:p>
          <a:p xmlns:a="http://schemas.openxmlformats.org/drawingml/2006/main">
            <a:pPr algn="ctr">
              <a:defRPr sz="1275" b="1" i="0">
                <a:solidFill>
                  <a:srgbClr val="0B1736"/>
                </a:solidFill>
              </a:defRPr>
            </a:pPr>
            <a:r>
              <a:rPr sz="1275" b="1" i="0">
                <a:solidFill>
                  <a:srgbClr val="0B1736"/>
                </a:solidFill>
              </a:rPr>
              <a:t>VOICE QA</a:t>
            </a:r>
          </a:p>
        </p:txBody>
      </p:sp>
      <p:sp>
        <p:nvSpPr>
          <p:cNvPr id="16" name="text-191">
            <a:extLst xmlns:a="http://schemas.openxmlformats.org/drawingml/2006/main">
              <a:ext uri="{FF2B5EF4-FFF2-40B4-BE49-F238E27FC236}">
                <a16:creationId xmlns:a16="http://schemas.microsoft.com/office/drawing/2014/main" id="{F4CDAAC1-12AD-4E51-BB36-AF92DE2420E5}"/>
              </a:ext>
            </a:extLst>
          </p:cNvPr>
          <p:cNvSpPr>
            <a:spLocks xmlns:a="http://schemas.openxmlformats.org/drawingml/2006/main" noGrp="1"/>
          </p:cNvSpPr>
          <p:nvPr/>
        </p:nvSpPr>
        <p:spPr>
          <a:xfrm xmlns:a="http://schemas.openxmlformats.org/drawingml/2006/main">
            <a:off x="5852160" y="2788920"/>
            <a:ext cx="1975104"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i="0">
                <a:solidFill>
                  <a:srgbClr val="52627B"/>
                </a:solidFill>
              </a:defRPr>
            </a:pPr>
            <a:r>
              <a:rPr sz="975" b="0" i="0">
                <a:solidFill>
                  <a:srgbClr val="52627B"/>
                </a:solidFill>
              </a:rPr>
              <a:t>Extend quality coverage</a:t>
            </a:r>
          </a:p>
        </p:txBody>
      </p:sp>
      <p:sp>
        <p:nvSpPr>
          <p:cNvPr id="17" name="shape-192">
            <a:extLst xmlns:a="http://schemas.openxmlformats.org/drawingml/2006/main">
              <a:ext uri="{FF2B5EF4-FFF2-40B4-BE49-F238E27FC236}">
                <a16:creationId xmlns:a16="http://schemas.microsoft.com/office/drawing/2014/main" id="{33C48C10-352A-44B6-A683-B137BE379632}"/>
              </a:ext>
            </a:extLst>
          </p:cNvPr>
          <p:cNvSpPr>
            <a:spLocks xmlns:a="http://schemas.openxmlformats.org/drawingml/2006/main" noGrp="1"/>
          </p:cNvSpPr>
          <p:nvPr/>
        </p:nvSpPr>
        <p:spPr>
          <a:xfrm xmlns:a="http://schemas.openxmlformats.org/drawingml/2006/main">
            <a:off x="8119872" y="2231136"/>
            <a:ext cx="256032" cy="457200"/>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18" name="shape-193">
            <a:extLst xmlns:a="http://schemas.openxmlformats.org/drawingml/2006/main">
              <a:ext uri="{FF2B5EF4-FFF2-40B4-BE49-F238E27FC236}">
                <a16:creationId xmlns:a16="http://schemas.microsoft.com/office/drawing/2014/main" id="{4D56658B-6CC6-4385-97C9-ECDCAEF7ED1C}"/>
              </a:ext>
            </a:extLst>
          </p:cNvPr>
          <p:cNvSpPr>
            <a:spLocks xmlns:a="http://schemas.openxmlformats.org/drawingml/2006/main" noGrp="1"/>
          </p:cNvSpPr>
          <p:nvPr/>
        </p:nvSpPr>
        <p:spPr>
          <a:xfrm xmlns:a="http://schemas.openxmlformats.org/drawingml/2006/main">
            <a:off x="8174736" y="1700784"/>
            <a:ext cx="2743200" cy="1572768"/>
          </a:xfrm>
          <a:prstGeom xmlns:a="http://schemas.openxmlformats.org/drawingml/2006/main" prst="roundRect">
            <a:avLst>
              <a:gd name="adj" fmla="val 4845"/>
            </a:avLst>
          </a:prstGeom>
          <a:solidFill xmlns:a="http://schemas.openxmlformats.org/drawingml/2006/main">
            <a:srgbClr val="E9F9F2"/>
          </a:solidFill>
          <a:ln xmlns:a="http://schemas.openxmlformats.org/drawingml/2006/main" w="9525">
            <a:solidFill>
              <a:srgbClr val="D9E2F0"/>
            </a:solidFill>
            <a:prstDash val="solid"/>
          </a:ln>
        </p:spPr>
      </p:sp>
      <p:sp>
        <p:nvSpPr>
          <p:cNvPr id="19" name="text-194">
            <a:extLst xmlns:a="http://schemas.openxmlformats.org/drawingml/2006/main">
              <a:ext uri="{FF2B5EF4-FFF2-40B4-BE49-F238E27FC236}">
                <a16:creationId xmlns:a16="http://schemas.microsoft.com/office/drawing/2014/main" id="{9CE353C3-E927-438B-BADD-5E7AC5F67421}"/>
              </a:ext>
            </a:extLst>
          </p:cNvPr>
          <p:cNvSpPr>
            <a:spLocks xmlns:a="http://schemas.openxmlformats.org/drawingml/2006/main" noGrp="1"/>
          </p:cNvSpPr>
          <p:nvPr/>
        </p:nvSpPr>
        <p:spPr>
          <a:xfrm xmlns:a="http://schemas.openxmlformats.org/drawingml/2006/main">
            <a:off x="8357616" y="1984248"/>
            <a:ext cx="237744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0B1736"/>
                </a:solidFill>
              </a:defRPr>
            </a:pPr>
            <a:r>
              <a:rPr sz="1275" b="1" i="0">
                <a:solidFill>
                  <a:srgbClr val="0B1736"/>
                </a:solidFill>
              </a:rPr>
              <a:t>SERVICE</a:t>
            </a:r>
          </a:p>
          <a:p xmlns:a="http://schemas.openxmlformats.org/drawingml/2006/main">
            <a:pPr algn="ctr">
              <a:defRPr sz="1275" b="1" i="0">
                <a:solidFill>
                  <a:srgbClr val="0B1736"/>
                </a:solidFill>
              </a:defRPr>
            </a:pPr>
            <a:r>
              <a:rPr sz="1275" b="1" i="0">
                <a:solidFill>
                  <a:srgbClr val="0B1736"/>
                </a:solidFill>
              </a:rPr>
              <a:t>INTELLIGENCE</a:t>
            </a:r>
          </a:p>
        </p:txBody>
      </p:sp>
      <p:sp>
        <p:nvSpPr>
          <p:cNvPr id="20" name="text-195">
            <a:extLst xmlns:a="http://schemas.openxmlformats.org/drawingml/2006/main">
              <a:ext uri="{FF2B5EF4-FFF2-40B4-BE49-F238E27FC236}">
                <a16:creationId xmlns:a16="http://schemas.microsoft.com/office/drawing/2014/main" id="{5216FC90-E85F-4DC5-95F8-F7E86D7631C7}"/>
              </a:ext>
            </a:extLst>
          </p:cNvPr>
          <p:cNvSpPr>
            <a:spLocks xmlns:a="http://schemas.openxmlformats.org/drawingml/2006/main" noGrp="1"/>
          </p:cNvSpPr>
          <p:nvPr/>
        </p:nvSpPr>
        <p:spPr>
          <a:xfrm xmlns:a="http://schemas.openxmlformats.org/drawingml/2006/main">
            <a:off x="8357616" y="2788920"/>
            <a:ext cx="237744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i="0">
                <a:solidFill>
                  <a:srgbClr val="52627B"/>
                </a:solidFill>
              </a:defRPr>
            </a:pPr>
            <a:r>
              <a:rPr sz="975" b="0" i="0">
                <a:solidFill>
                  <a:srgbClr val="52627B"/>
                </a:solidFill>
              </a:rPr>
              <a:t>Turn patterns into decisions</a:t>
            </a:r>
          </a:p>
        </p:txBody>
      </p:sp>
      <p:sp>
        <p:nvSpPr>
          <p:cNvPr id="21" name="text-196">
            <a:extLst xmlns:a="http://schemas.openxmlformats.org/drawingml/2006/main">
              <a:ext uri="{FF2B5EF4-FFF2-40B4-BE49-F238E27FC236}">
                <a16:creationId xmlns:a16="http://schemas.microsoft.com/office/drawing/2014/main" id="{4D558DEE-9CD5-45A4-9DAF-13B42989BBDE}"/>
              </a:ext>
            </a:extLst>
          </p:cNvPr>
          <p:cNvSpPr>
            <a:spLocks xmlns:a="http://schemas.openxmlformats.org/drawingml/2006/main" noGrp="1"/>
          </p:cNvSpPr>
          <p:nvPr/>
        </p:nvSpPr>
        <p:spPr>
          <a:xfrm xmlns:a="http://schemas.openxmlformats.org/drawingml/2006/main">
            <a:off x="685800" y="3794760"/>
            <a:ext cx="3017520"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2F80ED"/>
                </a:solidFill>
              </a:defRPr>
            </a:pPr>
            <a:r>
              <a:rPr sz="900" b="1" i="0">
                <a:solidFill>
                  <a:srgbClr val="2F80ED"/>
                </a:solidFill>
              </a:rPr>
              <a:t>VALUE COMPOUNDS WITH USAGE</a:t>
            </a:r>
          </a:p>
        </p:txBody>
      </p:sp>
      <p:sp>
        <p:nvSpPr>
          <p:cNvPr id="22" name="shape-197">
            <a:extLst xmlns:a="http://schemas.openxmlformats.org/drawingml/2006/main">
              <a:ext uri="{FF2B5EF4-FFF2-40B4-BE49-F238E27FC236}">
                <a16:creationId xmlns:a16="http://schemas.microsoft.com/office/drawing/2014/main" id="{C87C76E1-0ED5-42E7-9A18-8C68A984EADB}"/>
              </a:ext>
            </a:extLst>
          </p:cNvPr>
          <p:cNvSpPr>
            <a:spLocks xmlns:a="http://schemas.openxmlformats.org/drawingml/2006/main" noGrp="1"/>
          </p:cNvSpPr>
          <p:nvPr/>
        </p:nvSpPr>
        <p:spPr>
          <a:xfrm xmlns:a="http://schemas.openxmlformats.org/drawingml/2006/main">
            <a:off x="658368" y="4169664"/>
            <a:ext cx="10277856" cy="1207008"/>
          </a:xfrm>
          <a:prstGeom xmlns:a="http://schemas.openxmlformats.org/drawingml/2006/main" prst="roundRect">
            <a:avLst>
              <a:gd name="adj" fmla="val 6313"/>
            </a:avLst>
          </a:prstGeom>
          <a:solidFill xmlns:a="http://schemas.openxmlformats.org/drawingml/2006/main">
            <a:srgbClr val="0B1736"/>
          </a:solidFill>
          <a:ln xmlns:a="http://schemas.openxmlformats.org/drawingml/2006/main" w="0">
            <a:solidFill>
              <a:srgbClr val="0B1736"/>
            </a:solidFill>
            <a:prstDash val="solid"/>
          </a:ln>
        </p:spPr>
      </p:sp>
      <p:sp>
        <p:nvSpPr>
          <p:cNvPr id="23" name="text-198">
            <a:extLst xmlns:a="http://schemas.openxmlformats.org/drawingml/2006/main">
              <a:ext uri="{FF2B5EF4-FFF2-40B4-BE49-F238E27FC236}">
                <a16:creationId xmlns:a16="http://schemas.microsoft.com/office/drawing/2014/main" id="{D38CED09-7B8E-450E-A737-8CF375DC11CE}"/>
              </a:ext>
            </a:extLst>
          </p:cNvPr>
          <p:cNvSpPr>
            <a:spLocks xmlns:a="http://schemas.openxmlformats.org/drawingml/2006/main" noGrp="1"/>
          </p:cNvSpPr>
          <p:nvPr/>
        </p:nvSpPr>
        <p:spPr>
          <a:xfrm xmlns:a="http://schemas.openxmlformats.org/drawingml/2006/main">
            <a:off x="932688" y="4443984"/>
            <a:ext cx="20574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CALL RECORDS</a:t>
            </a:r>
          </a:p>
        </p:txBody>
      </p:sp>
      <p:sp>
        <p:nvSpPr>
          <p:cNvPr id="24" name="text-199">
            <a:extLst xmlns:a="http://schemas.openxmlformats.org/drawingml/2006/main">
              <a:ext uri="{FF2B5EF4-FFF2-40B4-BE49-F238E27FC236}">
                <a16:creationId xmlns:a16="http://schemas.microsoft.com/office/drawing/2014/main" id="{74CA02BC-AE69-4CCF-9619-EFBE06B62127}"/>
              </a:ext>
            </a:extLst>
          </p:cNvPr>
          <p:cNvSpPr>
            <a:spLocks xmlns:a="http://schemas.openxmlformats.org/drawingml/2006/main" noGrp="1"/>
          </p:cNvSpPr>
          <p:nvPr/>
        </p:nvSpPr>
        <p:spPr>
          <a:xfrm xmlns:a="http://schemas.openxmlformats.org/drawingml/2006/main">
            <a:off x="932688" y="4773168"/>
            <a:ext cx="205740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0" i="0">
                <a:solidFill>
                  <a:srgbClr val="C9D7F0"/>
                </a:solidFill>
              </a:defRPr>
            </a:pPr>
            <a:r>
              <a:rPr sz="938" b="0" i="0">
                <a:solidFill>
                  <a:srgbClr val="C9D7F0"/>
                </a:solidFill>
              </a:rPr>
              <a:t>The source</a:t>
            </a:r>
          </a:p>
        </p:txBody>
      </p:sp>
      <p:sp>
        <p:nvSpPr>
          <p:cNvPr id="25" name="shape-200">
            <a:extLst xmlns:a="http://schemas.openxmlformats.org/drawingml/2006/main">
              <a:ext uri="{FF2B5EF4-FFF2-40B4-BE49-F238E27FC236}">
                <a16:creationId xmlns:a16="http://schemas.microsoft.com/office/drawing/2014/main" id="{E461ACE3-284B-44DD-8DE1-8FAC543EC0A3}"/>
              </a:ext>
            </a:extLst>
          </p:cNvPr>
          <p:cNvSpPr>
            <a:spLocks xmlns:a="http://schemas.openxmlformats.org/drawingml/2006/main" noGrp="1"/>
          </p:cNvSpPr>
          <p:nvPr/>
        </p:nvSpPr>
        <p:spPr>
          <a:xfrm xmlns:a="http://schemas.openxmlformats.org/drawingml/2006/main">
            <a:off x="3035808" y="4663440"/>
            <a:ext cx="347472" cy="0"/>
          </a:xfrm>
          <a:prstGeom xmlns:a="http://schemas.openxmlformats.org/drawingml/2006/main" prst="line">
            <a:avLst/>
          </a:prstGeom>
          <a:noFill xmlns:a="http://schemas.openxmlformats.org/drawingml/2006/main"/>
          <a:ln xmlns:a="http://schemas.openxmlformats.org/drawingml/2006/main" w="16193">
            <a:solidFill>
              <a:srgbClr val="26C6DA"/>
            </a:solidFill>
            <a:prstDash val="solid"/>
          </a:ln>
        </p:spPr>
      </p:sp>
      <p:sp>
        <p:nvSpPr>
          <p:cNvPr id="26" name="text-201">
            <a:extLst xmlns:a="http://schemas.openxmlformats.org/drawingml/2006/main">
              <a:ext uri="{FF2B5EF4-FFF2-40B4-BE49-F238E27FC236}">
                <a16:creationId xmlns:a16="http://schemas.microsoft.com/office/drawing/2014/main" id="{6DC72F22-C0A5-4717-9527-6ADDC4BC1F5A}"/>
              </a:ext>
            </a:extLst>
          </p:cNvPr>
          <p:cNvSpPr>
            <a:spLocks xmlns:a="http://schemas.openxmlformats.org/drawingml/2006/main" noGrp="1"/>
          </p:cNvSpPr>
          <p:nvPr/>
        </p:nvSpPr>
        <p:spPr>
          <a:xfrm xmlns:a="http://schemas.openxmlformats.org/drawingml/2006/main">
            <a:off x="3584448" y="4443984"/>
            <a:ext cx="20574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TRANSCRIPTS</a:t>
            </a:r>
          </a:p>
        </p:txBody>
      </p:sp>
      <p:sp>
        <p:nvSpPr>
          <p:cNvPr id="27" name="text-202">
            <a:extLst xmlns:a="http://schemas.openxmlformats.org/drawingml/2006/main">
              <a:ext uri="{FF2B5EF4-FFF2-40B4-BE49-F238E27FC236}">
                <a16:creationId xmlns:a16="http://schemas.microsoft.com/office/drawing/2014/main" id="{FF46DD60-3ECF-4850-B488-FC0976F2CC52}"/>
              </a:ext>
            </a:extLst>
          </p:cNvPr>
          <p:cNvSpPr>
            <a:spLocks xmlns:a="http://schemas.openxmlformats.org/drawingml/2006/main" noGrp="1"/>
          </p:cNvSpPr>
          <p:nvPr/>
        </p:nvSpPr>
        <p:spPr>
          <a:xfrm xmlns:a="http://schemas.openxmlformats.org/drawingml/2006/main">
            <a:off x="3584448" y="4773168"/>
            <a:ext cx="205740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0" i="0">
                <a:solidFill>
                  <a:srgbClr val="C9D7F0"/>
                </a:solidFill>
              </a:defRPr>
            </a:pPr>
            <a:r>
              <a:rPr sz="938" b="0" i="0">
                <a:solidFill>
                  <a:srgbClr val="C9D7F0"/>
                </a:solidFill>
              </a:rPr>
              <a:t>The searchable memory</a:t>
            </a:r>
          </a:p>
        </p:txBody>
      </p:sp>
      <p:sp>
        <p:nvSpPr>
          <p:cNvPr id="28" name="shape-203">
            <a:extLst xmlns:a="http://schemas.openxmlformats.org/drawingml/2006/main">
              <a:ext uri="{FF2B5EF4-FFF2-40B4-BE49-F238E27FC236}">
                <a16:creationId xmlns:a16="http://schemas.microsoft.com/office/drawing/2014/main" id="{777AF1DC-6B9C-4497-A041-79416DEF9DE1}"/>
              </a:ext>
            </a:extLst>
          </p:cNvPr>
          <p:cNvSpPr>
            <a:spLocks xmlns:a="http://schemas.openxmlformats.org/drawingml/2006/main" noGrp="1"/>
          </p:cNvSpPr>
          <p:nvPr/>
        </p:nvSpPr>
        <p:spPr>
          <a:xfrm xmlns:a="http://schemas.openxmlformats.org/drawingml/2006/main">
            <a:off x="5687568" y="4663440"/>
            <a:ext cx="347472" cy="0"/>
          </a:xfrm>
          <a:prstGeom xmlns:a="http://schemas.openxmlformats.org/drawingml/2006/main" prst="line">
            <a:avLst/>
          </a:prstGeom>
          <a:noFill xmlns:a="http://schemas.openxmlformats.org/drawingml/2006/main"/>
          <a:ln xmlns:a="http://schemas.openxmlformats.org/drawingml/2006/main" w="16193">
            <a:solidFill>
              <a:srgbClr val="26C6DA"/>
            </a:solidFill>
            <a:prstDash val="solid"/>
          </a:ln>
        </p:spPr>
      </p:sp>
      <p:sp>
        <p:nvSpPr>
          <p:cNvPr id="29" name="text-204">
            <a:extLst xmlns:a="http://schemas.openxmlformats.org/drawingml/2006/main">
              <a:ext uri="{FF2B5EF4-FFF2-40B4-BE49-F238E27FC236}">
                <a16:creationId xmlns:a16="http://schemas.microsoft.com/office/drawing/2014/main" id="{F2B71CFC-123C-43A8-BF16-1ADDD59F0443}"/>
              </a:ext>
            </a:extLst>
          </p:cNvPr>
          <p:cNvSpPr>
            <a:spLocks xmlns:a="http://schemas.openxmlformats.org/drawingml/2006/main" noGrp="1"/>
          </p:cNvSpPr>
          <p:nvPr/>
        </p:nvSpPr>
        <p:spPr>
          <a:xfrm xmlns:a="http://schemas.openxmlformats.org/drawingml/2006/main">
            <a:off x="6236208" y="4443984"/>
            <a:ext cx="20574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PREFERENCES + FRICTION</a:t>
            </a:r>
          </a:p>
        </p:txBody>
      </p:sp>
      <p:sp>
        <p:nvSpPr>
          <p:cNvPr id="30" name="text-205">
            <a:extLst xmlns:a="http://schemas.openxmlformats.org/drawingml/2006/main">
              <a:ext uri="{FF2B5EF4-FFF2-40B4-BE49-F238E27FC236}">
                <a16:creationId xmlns:a16="http://schemas.microsoft.com/office/drawing/2014/main" id="{7005A805-D9CA-429D-B870-6108F289E9EF}"/>
              </a:ext>
            </a:extLst>
          </p:cNvPr>
          <p:cNvSpPr>
            <a:spLocks xmlns:a="http://schemas.openxmlformats.org/drawingml/2006/main" noGrp="1"/>
          </p:cNvSpPr>
          <p:nvPr/>
        </p:nvSpPr>
        <p:spPr>
          <a:xfrm xmlns:a="http://schemas.openxmlformats.org/drawingml/2006/main">
            <a:off x="6236208" y="4773168"/>
            <a:ext cx="205740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0" i="0">
                <a:solidFill>
                  <a:srgbClr val="C9D7F0"/>
                </a:solidFill>
              </a:defRPr>
            </a:pPr>
            <a:r>
              <a:rPr sz="938" b="0" i="0">
                <a:solidFill>
                  <a:srgbClr val="C9D7F0"/>
                </a:solidFill>
              </a:rPr>
              <a:t>The customer signal</a:t>
            </a:r>
          </a:p>
        </p:txBody>
      </p:sp>
      <p:sp>
        <p:nvSpPr>
          <p:cNvPr id="31" name="shape-206">
            <a:extLst xmlns:a="http://schemas.openxmlformats.org/drawingml/2006/main">
              <a:ext uri="{FF2B5EF4-FFF2-40B4-BE49-F238E27FC236}">
                <a16:creationId xmlns:a16="http://schemas.microsoft.com/office/drawing/2014/main" id="{1E5C40C4-9442-4659-8CFD-4A87EE1D96B2}"/>
              </a:ext>
            </a:extLst>
          </p:cNvPr>
          <p:cNvSpPr>
            <a:spLocks xmlns:a="http://schemas.openxmlformats.org/drawingml/2006/main" noGrp="1"/>
          </p:cNvSpPr>
          <p:nvPr/>
        </p:nvSpPr>
        <p:spPr>
          <a:xfrm xmlns:a="http://schemas.openxmlformats.org/drawingml/2006/main">
            <a:off x="8339328" y="4663440"/>
            <a:ext cx="347472" cy="0"/>
          </a:xfrm>
          <a:prstGeom xmlns:a="http://schemas.openxmlformats.org/drawingml/2006/main" prst="line">
            <a:avLst/>
          </a:prstGeom>
          <a:noFill xmlns:a="http://schemas.openxmlformats.org/drawingml/2006/main"/>
          <a:ln xmlns:a="http://schemas.openxmlformats.org/drawingml/2006/main" w="16193">
            <a:solidFill>
              <a:srgbClr val="26C6DA"/>
            </a:solidFill>
            <a:prstDash val="solid"/>
          </a:ln>
        </p:spPr>
      </p:sp>
      <p:sp>
        <p:nvSpPr>
          <p:cNvPr id="32" name="text-207">
            <a:extLst xmlns:a="http://schemas.openxmlformats.org/drawingml/2006/main">
              <a:ext uri="{FF2B5EF4-FFF2-40B4-BE49-F238E27FC236}">
                <a16:creationId xmlns:a16="http://schemas.microsoft.com/office/drawing/2014/main" id="{EEAFA524-CF6C-4D26-BE2C-40728A30CF1F}"/>
              </a:ext>
            </a:extLst>
          </p:cNvPr>
          <p:cNvSpPr>
            <a:spLocks xmlns:a="http://schemas.openxmlformats.org/drawingml/2006/main" noGrp="1"/>
          </p:cNvSpPr>
          <p:nvPr/>
        </p:nvSpPr>
        <p:spPr>
          <a:xfrm xmlns:a="http://schemas.openxmlformats.org/drawingml/2006/main">
            <a:off x="8887968" y="4443984"/>
            <a:ext cx="205740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BUSINESS DECISIONS</a:t>
            </a:r>
          </a:p>
        </p:txBody>
      </p:sp>
      <p:sp>
        <p:nvSpPr>
          <p:cNvPr id="33" name="text-208">
            <a:extLst xmlns:a="http://schemas.openxmlformats.org/drawingml/2006/main">
              <a:ext uri="{FF2B5EF4-FFF2-40B4-BE49-F238E27FC236}">
                <a16:creationId xmlns:a16="http://schemas.microsoft.com/office/drawing/2014/main" id="{BB49D616-FE66-4BB0-81B1-1F15B6D2839A}"/>
              </a:ext>
            </a:extLst>
          </p:cNvPr>
          <p:cNvSpPr>
            <a:spLocks xmlns:a="http://schemas.openxmlformats.org/drawingml/2006/main" noGrp="1"/>
          </p:cNvSpPr>
          <p:nvPr/>
        </p:nvSpPr>
        <p:spPr>
          <a:xfrm xmlns:a="http://schemas.openxmlformats.org/drawingml/2006/main">
            <a:off x="8887968" y="4773168"/>
            <a:ext cx="205740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38" b="0" i="0">
                <a:solidFill>
                  <a:srgbClr val="C9D7F0"/>
                </a:solidFill>
              </a:defRPr>
            </a:pPr>
            <a:r>
              <a:rPr sz="938" b="0" i="0">
                <a:solidFill>
                  <a:srgbClr val="C9D7F0"/>
                </a:solidFill>
              </a:rPr>
              <a:t>The growth lever</a:t>
            </a:r>
          </a:p>
        </p:txBody>
      </p:sp>
      <p:sp>
        <p:nvSpPr>
          <p:cNvPr id="34" name="text-209">
            <a:extLst xmlns:a="http://schemas.openxmlformats.org/drawingml/2006/main">
              <a:ext uri="{FF2B5EF4-FFF2-40B4-BE49-F238E27FC236}">
                <a16:creationId xmlns:a16="http://schemas.microsoft.com/office/drawing/2014/main" id="{8B05935F-91AD-4B2C-BB73-6888EFA0C5EE}"/>
              </a:ext>
            </a:extLst>
          </p:cNvPr>
          <p:cNvSpPr>
            <a:spLocks xmlns:a="http://schemas.openxmlformats.org/drawingml/2006/main" noGrp="1"/>
          </p:cNvSpPr>
          <p:nvPr/>
        </p:nvSpPr>
        <p:spPr>
          <a:xfrm xmlns:a="http://schemas.openxmlformats.org/drawingml/2006/main">
            <a:off x="694944" y="5760720"/>
            <a:ext cx="10241280" cy="265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0B1736"/>
                </a:solidFill>
              </a:defRPr>
            </a:pPr>
            <a:r>
              <a:rPr sz="1350" b="1" i="0">
                <a:solidFill>
                  <a:srgbClr val="0B1736"/>
                </a:solidFill>
              </a:rPr>
              <a:t>Build the quality signal once. Reuse it wherever customer conversations matter.</a:t>
            </a:r>
          </a:p>
        </p:txBody>
      </p:sp>
    </p:spTree>
    <p:extLst>
      <p:ext uri="{BB962C8B-B14F-4D97-AF65-F5344CB8AC3E}">
        <p14:creationId xmlns:p14="http://schemas.microsoft.com/office/powerpoint/2010/main" val="72546846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6" name="shape-210">
            <a:extLst xmlns:a="http://schemas.openxmlformats.org/drawingml/2006/main">
              <a:ext uri="{FF2B5EF4-FFF2-40B4-BE49-F238E27FC236}">
                <a16:creationId xmlns:a16="http://schemas.microsoft.com/office/drawing/2014/main" id="{ED68A144-8EE4-41DC-8ABE-F49364051F0C}"/>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F80ED"/>
          </a:solidFill>
          <a:ln xmlns:a="http://schemas.openxmlformats.org/drawingml/2006/main" w="0">
            <a:solidFill>
              <a:srgbClr val="2F80ED"/>
            </a:solidFill>
            <a:prstDash val="solid"/>
          </a:ln>
        </p:spPr>
      </p:sp>
      <p:sp>
        <p:nvSpPr>
          <p:cNvPr id="2" name="text-211">
            <a:extLst xmlns:a="http://schemas.openxmlformats.org/drawingml/2006/main">
              <a:ext uri="{FF2B5EF4-FFF2-40B4-BE49-F238E27FC236}">
                <a16:creationId xmlns:a16="http://schemas.microsoft.com/office/drawing/2014/main" id="{19FBD9FA-1CB7-44D2-A22B-1072A7ED419D}"/>
              </a:ext>
            </a:extLst>
          </p:cNvPr>
          <p:cNvSpPr>
            <a:spLocks xmlns:a="http://schemas.openxmlformats.org/drawingml/2006/main" noGrp="1"/>
          </p:cNvSpPr>
          <p:nvPr/>
        </p:nvSpPr>
        <p:spPr>
          <a:xfrm xmlns:a="http://schemas.openxmlformats.org/drawingml/2006/main">
            <a:off x="594360" y="384048"/>
            <a:ext cx="10972800" cy="5669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0B1736"/>
                </a:solidFill>
              </a:defRPr>
            </a:pPr>
            <a:r>
              <a:rPr sz="2325" b="1" i="0">
                <a:solidFill>
                  <a:srgbClr val="0B1736"/>
                </a:solidFill>
              </a:rPr>
              <a:t>A staged investment can prove value before scale</a:t>
            </a:r>
          </a:p>
        </p:txBody>
      </p:sp>
      <p:sp>
        <p:nvSpPr>
          <p:cNvPr id="3" name="text-212">
            <a:extLst xmlns:a="http://schemas.openxmlformats.org/drawingml/2006/main">
              <a:ext uri="{FF2B5EF4-FFF2-40B4-BE49-F238E27FC236}">
                <a16:creationId xmlns:a16="http://schemas.microsoft.com/office/drawing/2014/main" id="{033D5B3E-BA6D-4AAB-8D5B-749198321E2F}"/>
              </a:ext>
            </a:extLst>
          </p:cNvPr>
          <p:cNvSpPr>
            <a:spLocks xmlns:a="http://schemas.openxmlformats.org/drawingml/2006/main" noGrp="1"/>
          </p:cNvSpPr>
          <p:nvPr/>
        </p:nvSpPr>
        <p:spPr>
          <a:xfrm xmlns:a="http://schemas.openxmlformats.org/drawingml/2006/main">
            <a:off x="612648" y="1005840"/>
            <a:ext cx="1088136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2627B"/>
                </a:solidFill>
              </a:defRPr>
            </a:pPr>
            <a:r>
              <a:rPr sz="1200" b="0" i="0">
                <a:solidFill>
                  <a:srgbClr val="52627B"/>
                </a:solidFill>
              </a:rPr>
              <a:t>Use measurable outcomes to move from one use case to a repeatable capability.</a:t>
            </a:r>
          </a:p>
        </p:txBody>
      </p:sp>
      <p:sp>
        <p:nvSpPr>
          <p:cNvPr id="4" name="text-213">
            <a:extLst xmlns:a="http://schemas.openxmlformats.org/drawingml/2006/main">
              <a:ext uri="{FF2B5EF4-FFF2-40B4-BE49-F238E27FC236}">
                <a16:creationId xmlns:a16="http://schemas.microsoft.com/office/drawing/2014/main" id="{C86D909D-E63C-4CEB-8BB9-E206EE0339FD}"/>
              </a:ext>
            </a:extLst>
          </p:cNvPr>
          <p:cNvSpPr>
            <a:spLocks xmlns:a="http://schemas.openxmlformats.org/drawingml/2006/main" noGrp="1"/>
          </p:cNvSpPr>
          <p:nvPr/>
        </p:nvSpPr>
        <p:spPr>
          <a:xfrm xmlns:a="http://schemas.openxmlformats.org/drawingml/2006/main">
            <a:off x="621792" y="6510528"/>
            <a:ext cx="6035040" cy="146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52627B"/>
                </a:solidFill>
              </a:defRPr>
            </a:pPr>
            <a:r>
              <a:rPr sz="713" b="1" i="0">
                <a:solidFill>
                  <a:srgbClr val="52627B"/>
                </a:solidFill>
              </a:rPr>
              <a:t>INSURANCE CUSTOMER SERVICE | QUALITY MANAGEMENT</a:t>
            </a:r>
          </a:p>
        </p:txBody>
      </p:sp>
      <p:sp>
        <p:nvSpPr>
          <p:cNvPr id="5" name="text-214">
            <a:extLst xmlns:a="http://schemas.openxmlformats.org/drawingml/2006/main">
              <a:ext uri="{FF2B5EF4-FFF2-40B4-BE49-F238E27FC236}">
                <a16:creationId xmlns:a16="http://schemas.microsoft.com/office/drawing/2014/main" id="{03940C94-19DC-4CD8-A9D4-83FF6D9B3399}"/>
              </a:ext>
            </a:extLst>
          </p:cNvPr>
          <p:cNvSpPr>
            <a:spLocks xmlns:a="http://schemas.openxmlformats.org/drawingml/2006/main" noGrp="1"/>
          </p:cNvSpPr>
          <p:nvPr/>
        </p:nvSpPr>
        <p:spPr>
          <a:xfrm xmlns:a="http://schemas.openxmlformats.org/drawingml/2006/main">
            <a:off x="11109960" y="6492240"/>
            <a:ext cx="45720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52627B"/>
                </a:solidFill>
              </a:defRPr>
            </a:pPr>
            <a:r>
              <a:rPr sz="750" b="1" i="0">
                <a:solidFill>
                  <a:srgbClr val="52627B"/>
                </a:solidFill>
              </a:rPr>
              <a:t>07</a:t>
            </a:r>
          </a:p>
        </p:txBody>
      </p:sp>
      <p:sp>
        <p:nvSpPr>
          <p:cNvPr id="6" name="shape-215">
            <a:extLst xmlns:a="http://schemas.openxmlformats.org/drawingml/2006/main">
              <a:ext uri="{FF2B5EF4-FFF2-40B4-BE49-F238E27FC236}">
                <a16:creationId xmlns:a16="http://schemas.microsoft.com/office/drawing/2014/main" id="{4D4F24BC-B0FF-468B-B5B4-A10FCAC3D8AF}"/>
              </a:ext>
            </a:extLst>
          </p:cNvPr>
          <p:cNvSpPr>
            <a:spLocks xmlns:a="http://schemas.openxmlformats.org/drawingml/2006/main" noGrp="1"/>
          </p:cNvSpPr>
          <p:nvPr/>
        </p:nvSpPr>
        <p:spPr>
          <a:xfrm xmlns:a="http://schemas.openxmlformats.org/drawingml/2006/main">
            <a:off x="658368" y="1609344"/>
            <a:ext cx="2852928" cy="2496312"/>
          </a:xfrm>
          <a:prstGeom xmlns:a="http://schemas.openxmlformats.org/drawingml/2006/main" prst="roundRect">
            <a:avLst>
              <a:gd name="adj" fmla="val 3053"/>
            </a:avLst>
          </a:prstGeom>
          <a:solidFill xmlns:a="http://schemas.openxmlformats.org/drawingml/2006/main">
            <a:srgbClr val="EAF2FF"/>
          </a:solidFill>
          <a:ln xmlns:a="http://schemas.openxmlformats.org/drawingml/2006/main" w="9525">
            <a:solidFill>
              <a:srgbClr val="D9E2F0"/>
            </a:solidFill>
            <a:prstDash val="solid"/>
          </a:ln>
        </p:spPr>
      </p:sp>
      <p:sp>
        <p:nvSpPr>
          <p:cNvPr id="7" name="shape-216">
            <a:extLst xmlns:a="http://schemas.openxmlformats.org/drawingml/2006/main">
              <a:ext uri="{FF2B5EF4-FFF2-40B4-BE49-F238E27FC236}">
                <a16:creationId xmlns:a16="http://schemas.microsoft.com/office/drawing/2014/main" id="{E7E8FFEE-AECC-4614-93DA-B5A8CD5DBC5B}"/>
              </a:ext>
            </a:extLst>
          </p:cNvPr>
          <p:cNvSpPr>
            <a:spLocks xmlns:a="http://schemas.openxmlformats.org/drawingml/2006/main" noGrp="1"/>
          </p:cNvSpPr>
          <p:nvPr/>
        </p:nvSpPr>
        <p:spPr>
          <a:xfrm xmlns:a="http://schemas.openxmlformats.org/drawingml/2006/main">
            <a:off x="877824" y="1865376"/>
            <a:ext cx="475488" cy="475488"/>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8" name="text-217">
            <a:extLst xmlns:a="http://schemas.openxmlformats.org/drawingml/2006/main">
              <a:ext uri="{FF2B5EF4-FFF2-40B4-BE49-F238E27FC236}">
                <a16:creationId xmlns:a16="http://schemas.microsoft.com/office/drawing/2014/main" id="{138E25E2-E229-41A7-B8B2-AB42229145DE}"/>
              </a:ext>
            </a:extLst>
          </p:cNvPr>
          <p:cNvSpPr>
            <a:spLocks xmlns:a="http://schemas.openxmlformats.org/drawingml/2006/main" noGrp="1"/>
          </p:cNvSpPr>
          <p:nvPr/>
        </p:nvSpPr>
        <p:spPr>
          <a:xfrm xmlns:a="http://schemas.openxmlformats.org/drawingml/2006/main">
            <a:off x="877824" y="1874520"/>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01</a:t>
            </a:r>
          </a:p>
        </p:txBody>
      </p:sp>
      <p:sp>
        <p:nvSpPr>
          <p:cNvPr id="9" name="text-218">
            <a:extLst xmlns:a="http://schemas.openxmlformats.org/drawingml/2006/main">
              <a:ext uri="{FF2B5EF4-FFF2-40B4-BE49-F238E27FC236}">
                <a16:creationId xmlns:a16="http://schemas.microsoft.com/office/drawing/2014/main" id="{4E00BD7D-ADAF-417D-9F1E-CB382818E8B2}"/>
              </a:ext>
            </a:extLst>
          </p:cNvPr>
          <p:cNvSpPr>
            <a:spLocks xmlns:a="http://schemas.openxmlformats.org/drawingml/2006/main" noGrp="1"/>
          </p:cNvSpPr>
          <p:nvPr/>
        </p:nvSpPr>
        <p:spPr>
          <a:xfrm xmlns:a="http://schemas.openxmlformats.org/drawingml/2006/main">
            <a:off x="1481328" y="1975104"/>
            <a:ext cx="178308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PROVE VALUE</a:t>
            </a:r>
          </a:p>
        </p:txBody>
      </p:sp>
      <p:sp>
        <p:nvSpPr>
          <p:cNvPr id="10" name="shape-219">
            <a:extLst xmlns:a="http://schemas.openxmlformats.org/drawingml/2006/main">
              <a:ext uri="{FF2B5EF4-FFF2-40B4-BE49-F238E27FC236}">
                <a16:creationId xmlns:a16="http://schemas.microsoft.com/office/drawing/2014/main" id="{3F7301CB-2230-4138-B17F-847323C705CC}"/>
              </a:ext>
            </a:extLst>
          </p:cNvPr>
          <p:cNvSpPr>
            <a:spLocks xmlns:a="http://schemas.openxmlformats.org/drawingml/2006/main" noGrp="1"/>
          </p:cNvSpPr>
          <p:nvPr/>
        </p:nvSpPr>
        <p:spPr>
          <a:xfrm xmlns:a="http://schemas.openxmlformats.org/drawingml/2006/main">
            <a:off x="914400" y="2615184"/>
            <a:ext cx="2322576"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11" name="shape-220">
            <a:extLst xmlns:a="http://schemas.openxmlformats.org/drawingml/2006/main">
              <a:ext uri="{FF2B5EF4-FFF2-40B4-BE49-F238E27FC236}">
                <a16:creationId xmlns:a16="http://schemas.microsoft.com/office/drawing/2014/main" id="{BFF28EA0-B6B2-462A-AE28-B97E8CFFF26F}"/>
              </a:ext>
            </a:extLst>
          </p:cNvPr>
          <p:cNvSpPr>
            <a:spLocks xmlns:a="http://schemas.openxmlformats.org/drawingml/2006/main" noGrp="1"/>
          </p:cNvSpPr>
          <p:nvPr/>
        </p:nvSpPr>
        <p:spPr>
          <a:xfrm xmlns:a="http://schemas.openxmlformats.org/drawingml/2006/main">
            <a:off x="932688" y="2898648"/>
            <a:ext cx="182880" cy="182880"/>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2" name="text-221">
            <a:extLst xmlns:a="http://schemas.openxmlformats.org/drawingml/2006/main">
              <a:ext uri="{FF2B5EF4-FFF2-40B4-BE49-F238E27FC236}">
                <a16:creationId xmlns:a16="http://schemas.microsoft.com/office/drawing/2014/main" id="{DAB70A57-68AD-4E49-B70B-9B2F07C23456}"/>
              </a:ext>
            </a:extLst>
          </p:cNvPr>
          <p:cNvSpPr>
            <a:spLocks xmlns:a="http://schemas.openxmlformats.org/drawingml/2006/main" noGrp="1"/>
          </p:cNvSpPr>
          <p:nvPr/>
        </p:nvSpPr>
        <p:spPr>
          <a:xfrm xmlns:a="http://schemas.openxmlformats.org/drawingml/2006/main">
            <a:off x="932688" y="2907792"/>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3" name="text-222">
            <a:extLst xmlns:a="http://schemas.openxmlformats.org/drawingml/2006/main">
              <a:ext uri="{FF2B5EF4-FFF2-40B4-BE49-F238E27FC236}">
                <a16:creationId xmlns:a16="http://schemas.microsoft.com/office/drawing/2014/main" id="{62D55C96-EBE3-4137-8CA2-BFC697DA7426}"/>
              </a:ext>
            </a:extLst>
          </p:cNvPr>
          <p:cNvSpPr>
            <a:spLocks xmlns:a="http://schemas.openxmlformats.org/drawingml/2006/main" noGrp="1"/>
          </p:cNvSpPr>
          <p:nvPr/>
        </p:nvSpPr>
        <p:spPr>
          <a:xfrm xmlns:a="http://schemas.openxmlformats.org/drawingml/2006/main">
            <a:off x="1280160" y="2843784"/>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Measure savings</a:t>
            </a:r>
          </a:p>
        </p:txBody>
      </p:sp>
      <p:sp>
        <p:nvSpPr>
          <p:cNvPr id="14" name="shape-223">
            <a:extLst xmlns:a="http://schemas.openxmlformats.org/drawingml/2006/main">
              <a:ext uri="{FF2B5EF4-FFF2-40B4-BE49-F238E27FC236}">
                <a16:creationId xmlns:a16="http://schemas.microsoft.com/office/drawing/2014/main" id="{5DCEE89D-A794-46C8-B988-9B819CBC32BB}"/>
              </a:ext>
            </a:extLst>
          </p:cNvPr>
          <p:cNvSpPr>
            <a:spLocks xmlns:a="http://schemas.openxmlformats.org/drawingml/2006/main" noGrp="1"/>
          </p:cNvSpPr>
          <p:nvPr/>
        </p:nvSpPr>
        <p:spPr>
          <a:xfrm xmlns:a="http://schemas.openxmlformats.org/drawingml/2006/main">
            <a:off x="932688" y="3291840"/>
            <a:ext cx="182880" cy="182880"/>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5" name="text-224">
            <a:extLst xmlns:a="http://schemas.openxmlformats.org/drawingml/2006/main">
              <a:ext uri="{FF2B5EF4-FFF2-40B4-BE49-F238E27FC236}">
                <a16:creationId xmlns:a16="http://schemas.microsoft.com/office/drawing/2014/main" id="{3F1B8FC9-FE39-4C67-89BA-2C234B2AD88C}"/>
              </a:ext>
            </a:extLst>
          </p:cNvPr>
          <p:cNvSpPr>
            <a:spLocks xmlns:a="http://schemas.openxmlformats.org/drawingml/2006/main" noGrp="1"/>
          </p:cNvSpPr>
          <p:nvPr/>
        </p:nvSpPr>
        <p:spPr>
          <a:xfrm xmlns:a="http://schemas.openxmlformats.org/drawingml/2006/main">
            <a:off x="932688" y="3300984"/>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6" name="text-225">
            <a:extLst xmlns:a="http://schemas.openxmlformats.org/drawingml/2006/main">
              <a:ext uri="{FF2B5EF4-FFF2-40B4-BE49-F238E27FC236}">
                <a16:creationId xmlns:a16="http://schemas.microsoft.com/office/drawing/2014/main" id="{08A8407E-87CD-4AF1-8715-FFC9D27717BD}"/>
              </a:ext>
            </a:extLst>
          </p:cNvPr>
          <p:cNvSpPr>
            <a:spLocks xmlns:a="http://schemas.openxmlformats.org/drawingml/2006/main" noGrp="1"/>
          </p:cNvSpPr>
          <p:nvPr/>
        </p:nvSpPr>
        <p:spPr>
          <a:xfrm xmlns:a="http://schemas.openxmlformats.org/drawingml/2006/main">
            <a:off x="1280160" y="3236976"/>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Test coverage</a:t>
            </a:r>
          </a:p>
        </p:txBody>
      </p:sp>
      <p:sp>
        <p:nvSpPr>
          <p:cNvPr id="17" name="shape-226">
            <a:extLst xmlns:a="http://schemas.openxmlformats.org/drawingml/2006/main">
              <a:ext uri="{FF2B5EF4-FFF2-40B4-BE49-F238E27FC236}">
                <a16:creationId xmlns:a16="http://schemas.microsoft.com/office/drawing/2014/main" id="{1CB05398-1E2A-43F0-8A77-53A4E43C5296}"/>
              </a:ext>
            </a:extLst>
          </p:cNvPr>
          <p:cNvSpPr>
            <a:spLocks xmlns:a="http://schemas.openxmlformats.org/drawingml/2006/main" noGrp="1"/>
          </p:cNvSpPr>
          <p:nvPr/>
        </p:nvSpPr>
        <p:spPr>
          <a:xfrm xmlns:a="http://schemas.openxmlformats.org/drawingml/2006/main">
            <a:off x="932688" y="3685032"/>
            <a:ext cx="182880" cy="182880"/>
          </a:xfrm>
          <a:prstGeom xmlns:a="http://schemas.openxmlformats.org/drawingml/2006/main" prst="ellipse">
            <a:avLst/>
          </a:prstGeom>
          <a:solidFill xmlns:a="http://schemas.openxmlformats.org/drawingml/2006/main">
            <a:srgbClr val="2F80ED"/>
          </a:solidFill>
          <a:ln xmlns:a="http://schemas.openxmlformats.org/drawingml/2006/main" w="0">
            <a:solidFill>
              <a:srgbClr val="2F80ED"/>
            </a:solidFill>
            <a:prstDash val="solid"/>
          </a:ln>
        </p:spPr>
      </p:sp>
      <p:sp>
        <p:nvSpPr>
          <p:cNvPr id="18" name="text-227">
            <a:extLst xmlns:a="http://schemas.openxmlformats.org/drawingml/2006/main">
              <a:ext uri="{FF2B5EF4-FFF2-40B4-BE49-F238E27FC236}">
                <a16:creationId xmlns:a16="http://schemas.microsoft.com/office/drawing/2014/main" id="{0C9C5E5D-8FF6-47B3-BB34-82ED7A31572E}"/>
              </a:ext>
            </a:extLst>
          </p:cNvPr>
          <p:cNvSpPr>
            <a:spLocks xmlns:a="http://schemas.openxmlformats.org/drawingml/2006/main" noGrp="1"/>
          </p:cNvSpPr>
          <p:nvPr/>
        </p:nvSpPr>
        <p:spPr>
          <a:xfrm xmlns:a="http://schemas.openxmlformats.org/drawingml/2006/main">
            <a:off x="932688" y="3694176"/>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9" name="text-228">
            <a:extLst xmlns:a="http://schemas.openxmlformats.org/drawingml/2006/main">
              <a:ext uri="{FF2B5EF4-FFF2-40B4-BE49-F238E27FC236}">
                <a16:creationId xmlns:a16="http://schemas.microsoft.com/office/drawing/2014/main" id="{4AC1FE77-33B1-4B33-97DB-3B060E967581}"/>
              </a:ext>
            </a:extLst>
          </p:cNvPr>
          <p:cNvSpPr>
            <a:spLocks xmlns:a="http://schemas.openxmlformats.org/drawingml/2006/main" noGrp="1"/>
          </p:cNvSpPr>
          <p:nvPr/>
        </p:nvSpPr>
        <p:spPr>
          <a:xfrm xmlns:a="http://schemas.openxmlformats.org/drawingml/2006/main">
            <a:off x="1280160" y="3630168"/>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Check review quality</a:t>
            </a:r>
          </a:p>
        </p:txBody>
      </p:sp>
      <p:sp>
        <p:nvSpPr>
          <p:cNvPr id="20" name="shape-229">
            <a:extLst xmlns:a="http://schemas.openxmlformats.org/drawingml/2006/main">
              <a:ext uri="{FF2B5EF4-FFF2-40B4-BE49-F238E27FC236}">
                <a16:creationId xmlns:a16="http://schemas.microsoft.com/office/drawing/2014/main" id="{E7F32533-91C2-4AE1-A610-69F68DF3990A}"/>
              </a:ext>
            </a:extLst>
          </p:cNvPr>
          <p:cNvSpPr>
            <a:spLocks xmlns:a="http://schemas.openxmlformats.org/drawingml/2006/main" noGrp="1"/>
          </p:cNvSpPr>
          <p:nvPr/>
        </p:nvSpPr>
        <p:spPr>
          <a:xfrm xmlns:a="http://schemas.openxmlformats.org/drawingml/2006/main">
            <a:off x="3602736" y="2615184"/>
            <a:ext cx="274320" cy="475488"/>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21" name="shape-230">
            <a:extLst xmlns:a="http://schemas.openxmlformats.org/drawingml/2006/main">
              <a:ext uri="{FF2B5EF4-FFF2-40B4-BE49-F238E27FC236}">
                <a16:creationId xmlns:a16="http://schemas.microsoft.com/office/drawing/2014/main" id="{9EFC2602-B608-417B-921A-08076B76CFAD}"/>
              </a:ext>
            </a:extLst>
          </p:cNvPr>
          <p:cNvSpPr>
            <a:spLocks xmlns:a="http://schemas.openxmlformats.org/drawingml/2006/main" noGrp="1"/>
          </p:cNvSpPr>
          <p:nvPr/>
        </p:nvSpPr>
        <p:spPr>
          <a:xfrm xmlns:a="http://schemas.openxmlformats.org/drawingml/2006/main">
            <a:off x="3986784" y="1609344"/>
            <a:ext cx="2852928" cy="2496312"/>
          </a:xfrm>
          <a:prstGeom xmlns:a="http://schemas.openxmlformats.org/drawingml/2006/main" prst="roundRect">
            <a:avLst>
              <a:gd name="adj" fmla="val 3053"/>
            </a:avLst>
          </a:prstGeom>
          <a:solidFill xmlns:a="http://schemas.openxmlformats.org/drawingml/2006/main">
            <a:srgbClr val="E9FBFD"/>
          </a:solidFill>
          <a:ln xmlns:a="http://schemas.openxmlformats.org/drawingml/2006/main" w="9525">
            <a:solidFill>
              <a:srgbClr val="D9E2F0"/>
            </a:solidFill>
            <a:prstDash val="solid"/>
          </a:ln>
        </p:spPr>
      </p:sp>
      <p:sp>
        <p:nvSpPr>
          <p:cNvPr id="22" name="shape-231">
            <a:extLst xmlns:a="http://schemas.openxmlformats.org/drawingml/2006/main">
              <a:ext uri="{FF2B5EF4-FFF2-40B4-BE49-F238E27FC236}">
                <a16:creationId xmlns:a16="http://schemas.microsoft.com/office/drawing/2014/main" id="{87074D48-8C0A-4BA1-A124-30D92F891E01}"/>
              </a:ext>
            </a:extLst>
          </p:cNvPr>
          <p:cNvSpPr>
            <a:spLocks xmlns:a="http://schemas.openxmlformats.org/drawingml/2006/main" noGrp="1"/>
          </p:cNvSpPr>
          <p:nvPr/>
        </p:nvSpPr>
        <p:spPr>
          <a:xfrm xmlns:a="http://schemas.openxmlformats.org/drawingml/2006/main">
            <a:off x="4206240" y="1865376"/>
            <a:ext cx="475488" cy="475488"/>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23" name="text-232">
            <a:extLst xmlns:a="http://schemas.openxmlformats.org/drawingml/2006/main">
              <a:ext uri="{FF2B5EF4-FFF2-40B4-BE49-F238E27FC236}">
                <a16:creationId xmlns:a16="http://schemas.microsoft.com/office/drawing/2014/main" id="{1084DFF5-28E4-4985-A42B-12CE85BBA1A8}"/>
              </a:ext>
            </a:extLst>
          </p:cNvPr>
          <p:cNvSpPr>
            <a:spLocks xmlns:a="http://schemas.openxmlformats.org/drawingml/2006/main" noGrp="1"/>
          </p:cNvSpPr>
          <p:nvPr/>
        </p:nvSpPr>
        <p:spPr>
          <a:xfrm xmlns:a="http://schemas.openxmlformats.org/drawingml/2006/main">
            <a:off x="4206240" y="1874520"/>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02</a:t>
            </a:r>
          </a:p>
        </p:txBody>
      </p:sp>
      <p:sp>
        <p:nvSpPr>
          <p:cNvPr id="24" name="text-233">
            <a:extLst xmlns:a="http://schemas.openxmlformats.org/drawingml/2006/main">
              <a:ext uri="{FF2B5EF4-FFF2-40B4-BE49-F238E27FC236}">
                <a16:creationId xmlns:a16="http://schemas.microsoft.com/office/drawing/2014/main" id="{EECE86FC-8C25-41C8-B5AE-D6C04D58EB58}"/>
              </a:ext>
            </a:extLst>
          </p:cNvPr>
          <p:cNvSpPr>
            <a:spLocks xmlns:a="http://schemas.openxmlformats.org/drawingml/2006/main" noGrp="1"/>
          </p:cNvSpPr>
          <p:nvPr/>
        </p:nvSpPr>
        <p:spPr>
          <a:xfrm xmlns:a="http://schemas.openxmlformats.org/drawingml/2006/main">
            <a:off x="4809744" y="1975104"/>
            <a:ext cx="178308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EXPAND USE</a:t>
            </a:r>
          </a:p>
        </p:txBody>
      </p:sp>
      <p:sp>
        <p:nvSpPr>
          <p:cNvPr id="25" name="shape-234">
            <a:extLst xmlns:a="http://schemas.openxmlformats.org/drawingml/2006/main">
              <a:ext uri="{FF2B5EF4-FFF2-40B4-BE49-F238E27FC236}">
                <a16:creationId xmlns:a16="http://schemas.microsoft.com/office/drawing/2014/main" id="{E38E3352-5304-4F94-BB3B-1EEE1561B7EB}"/>
              </a:ext>
            </a:extLst>
          </p:cNvPr>
          <p:cNvSpPr>
            <a:spLocks xmlns:a="http://schemas.openxmlformats.org/drawingml/2006/main" noGrp="1"/>
          </p:cNvSpPr>
          <p:nvPr/>
        </p:nvSpPr>
        <p:spPr>
          <a:xfrm xmlns:a="http://schemas.openxmlformats.org/drawingml/2006/main">
            <a:off x="4242816" y="2615184"/>
            <a:ext cx="2322576"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26" name="shape-235">
            <a:extLst xmlns:a="http://schemas.openxmlformats.org/drawingml/2006/main">
              <a:ext uri="{FF2B5EF4-FFF2-40B4-BE49-F238E27FC236}">
                <a16:creationId xmlns:a16="http://schemas.microsoft.com/office/drawing/2014/main" id="{B293F649-E07D-4DF5-ABD0-50B222731ADF}"/>
              </a:ext>
            </a:extLst>
          </p:cNvPr>
          <p:cNvSpPr>
            <a:spLocks xmlns:a="http://schemas.openxmlformats.org/drawingml/2006/main" noGrp="1"/>
          </p:cNvSpPr>
          <p:nvPr/>
        </p:nvSpPr>
        <p:spPr>
          <a:xfrm xmlns:a="http://schemas.openxmlformats.org/drawingml/2006/main">
            <a:off x="4261104" y="2898648"/>
            <a:ext cx="182880" cy="182880"/>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27" name="text-236">
            <a:extLst xmlns:a="http://schemas.openxmlformats.org/drawingml/2006/main">
              <a:ext uri="{FF2B5EF4-FFF2-40B4-BE49-F238E27FC236}">
                <a16:creationId xmlns:a16="http://schemas.microsoft.com/office/drawing/2014/main" id="{0E731399-D20C-4BFE-821C-67FF6921A3E3}"/>
              </a:ext>
            </a:extLst>
          </p:cNvPr>
          <p:cNvSpPr>
            <a:spLocks xmlns:a="http://schemas.openxmlformats.org/drawingml/2006/main" noGrp="1"/>
          </p:cNvSpPr>
          <p:nvPr/>
        </p:nvSpPr>
        <p:spPr>
          <a:xfrm xmlns:a="http://schemas.openxmlformats.org/drawingml/2006/main">
            <a:off x="4261104" y="2907792"/>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8" name="text-237">
            <a:extLst xmlns:a="http://schemas.openxmlformats.org/drawingml/2006/main">
              <a:ext uri="{FF2B5EF4-FFF2-40B4-BE49-F238E27FC236}">
                <a16:creationId xmlns:a16="http://schemas.microsoft.com/office/drawing/2014/main" id="{263FD0A6-4623-4668-948B-4FF8D829DE9C}"/>
              </a:ext>
            </a:extLst>
          </p:cNvPr>
          <p:cNvSpPr>
            <a:spLocks xmlns:a="http://schemas.openxmlformats.org/drawingml/2006/main" noGrp="1"/>
          </p:cNvSpPr>
          <p:nvPr/>
        </p:nvSpPr>
        <p:spPr>
          <a:xfrm xmlns:a="http://schemas.openxmlformats.org/drawingml/2006/main">
            <a:off x="4608576" y="2843784"/>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Add teams</a:t>
            </a:r>
          </a:p>
        </p:txBody>
      </p:sp>
      <p:sp>
        <p:nvSpPr>
          <p:cNvPr id="29" name="shape-238">
            <a:extLst xmlns:a="http://schemas.openxmlformats.org/drawingml/2006/main">
              <a:ext uri="{FF2B5EF4-FFF2-40B4-BE49-F238E27FC236}">
                <a16:creationId xmlns:a16="http://schemas.microsoft.com/office/drawing/2014/main" id="{448BDDE9-8B3D-437B-A875-E78B3FBA999A}"/>
              </a:ext>
            </a:extLst>
          </p:cNvPr>
          <p:cNvSpPr>
            <a:spLocks xmlns:a="http://schemas.openxmlformats.org/drawingml/2006/main" noGrp="1"/>
          </p:cNvSpPr>
          <p:nvPr/>
        </p:nvSpPr>
        <p:spPr>
          <a:xfrm xmlns:a="http://schemas.openxmlformats.org/drawingml/2006/main">
            <a:off x="4261104" y="3291840"/>
            <a:ext cx="182880" cy="182880"/>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30" name="text-239">
            <a:extLst xmlns:a="http://schemas.openxmlformats.org/drawingml/2006/main">
              <a:ext uri="{FF2B5EF4-FFF2-40B4-BE49-F238E27FC236}">
                <a16:creationId xmlns:a16="http://schemas.microsoft.com/office/drawing/2014/main" id="{525479E3-F191-4BD0-8648-4426DAF655F7}"/>
              </a:ext>
            </a:extLst>
          </p:cNvPr>
          <p:cNvSpPr>
            <a:spLocks xmlns:a="http://schemas.openxmlformats.org/drawingml/2006/main" noGrp="1"/>
          </p:cNvSpPr>
          <p:nvPr/>
        </p:nvSpPr>
        <p:spPr>
          <a:xfrm xmlns:a="http://schemas.openxmlformats.org/drawingml/2006/main">
            <a:off x="4261104" y="3300984"/>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1" name="text-240">
            <a:extLst xmlns:a="http://schemas.openxmlformats.org/drawingml/2006/main">
              <a:ext uri="{FF2B5EF4-FFF2-40B4-BE49-F238E27FC236}">
                <a16:creationId xmlns:a16="http://schemas.microsoft.com/office/drawing/2014/main" id="{EA00DB24-F108-44F8-BC93-AEF0E82A9EB9}"/>
              </a:ext>
            </a:extLst>
          </p:cNvPr>
          <p:cNvSpPr>
            <a:spLocks xmlns:a="http://schemas.openxmlformats.org/drawingml/2006/main" noGrp="1"/>
          </p:cNvSpPr>
          <p:nvPr/>
        </p:nvSpPr>
        <p:spPr>
          <a:xfrm xmlns:a="http://schemas.openxmlformats.org/drawingml/2006/main">
            <a:off x="4608576" y="3236976"/>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Add call types</a:t>
            </a:r>
          </a:p>
        </p:txBody>
      </p:sp>
      <p:sp>
        <p:nvSpPr>
          <p:cNvPr id="32" name="shape-241">
            <a:extLst xmlns:a="http://schemas.openxmlformats.org/drawingml/2006/main">
              <a:ext uri="{FF2B5EF4-FFF2-40B4-BE49-F238E27FC236}">
                <a16:creationId xmlns:a16="http://schemas.microsoft.com/office/drawing/2014/main" id="{48AEEBBB-52E9-403A-B44D-AB72BF104203}"/>
              </a:ext>
            </a:extLst>
          </p:cNvPr>
          <p:cNvSpPr>
            <a:spLocks xmlns:a="http://schemas.openxmlformats.org/drawingml/2006/main" noGrp="1"/>
          </p:cNvSpPr>
          <p:nvPr/>
        </p:nvSpPr>
        <p:spPr>
          <a:xfrm xmlns:a="http://schemas.openxmlformats.org/drawingml/2006/main">
            <a:off x="4261104" y="3685032"/>
            <a:ext cx="182880" cy="182880"/>
          </a:xfrm>
          <a:prstGeom xmlns:a="http://schemas.openxmlformats.org/drawingml/2006/main" prst="ellipse">
            <a:avLst/>
          </a:prstGeom>
          <a:solidFill xmlns:a="http://schemas.openxmlformats.org/drawingml/2006/main">
            <a:srgbClr val="26C6DA"/>
          </a:solidFill>
          <a:ln xmlns:a="http://schemas.openxmlformats.org/drawingml/2006/main" w="0">
            <a:solidFill>
              <a:srgbClr val="26C6DA"/>
            </a:solidFill>
            <a:prstDash val="solid"/>
          </a:ln>
        </p:spPr>
      </p:sp>
      <p:sp>
        <p:nvSpPr>
          <p:cNvPr id="33" name="text-242">
            <a:extLst xmlns:a="http://schemas.openxmlformats.org/drawingml/2006/main">
              <a:ext uri="{FF2B5EF4-FFF2-40B4-BE49-F238E27FC236}">
                <a16:creationId xmlns:a16="http://schemas.microsoft.com/office/drawing/2014/main" id="{70A599FA-2569-47BB-8742-810FB94F408D}"/>
              </a:ext>
            </a:extLst>
          </p:cNvPr>
          <p:cNvSpPr>
            <a:spLocks xmlns:a="http://schemas.openxmlformats.org/drawingml/2006/main" noGrp="1"/>
          </p:cNvSpPr>
          <p:nvPr/>
        </p:nvSpPr>
        <p:spPr>
          <a:xfrm xmlns:a="http://schemas.openxmlformats.org/drawingml/2006/main">
            <a:off x="4261104" y="3694176"/>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4" name="text-243">
            <a:extLst xmlns:a="http://schemas.openxmlformats.org/drawingml/2006/main">
              <a:ext uri="{FF2B5EF4-FFF2-40B4-BE49-F238E27FC236}">
                <a16:creationId xmlns:a16="http://schemas.microsoft.com/office/drawing/2014/main" id="{CFDD8DD1-70A8-4AC5-BF14-5613E1EBFC8D}"/>
              </a:ext>
            </a:extLst>
          </p:cNvPr>
          <p:cNvSpPr>
            <a:spLocks xmlns:a="http://schemas.openxmlformats.org/drawingml/2006/main" noGrp="1"/>
          </p:cNvSpPr>
          <p:nvPr/>
        </p:nvSpPr>
        <p:spPr>
          <a:xfrm xmlns:a="http://schemas.openxmlformats.org/drawingml/2006/main">
            <a:off x="4608576" y="3630168"/>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Embed coaching workflows</a:t>
            </a:r>
          </a:p>
        </p:txBody>
      </p:sp>
      <p:sp>
        <p:nvSpPr>
          <p:cNvPr id="35" name="shape-244">
            <a:extLst xmlns:a="http://schemas.openxmlformats.org/drawingml/2006/main">
              <a:ext uri="{FF2B5EF4-FFF2-40B4-BE49-F238E27FC236}">
                <a16:creationId xmlns:a16="http://schemas.microsoft.com/office/drawing/2014/main" id="{E105BEDD-4474-4136-8BE3-6EFC41F9E0A8}"/>
              </a:ext>
            </a:extLst>
          </p:cNvPr>
          <p:cNvSpPr>
            <a:spLocks xmlns:a="http://schemas.openxmlformats.org/drawingml/2006/main" noGrp="1"/>
          </p:cNvSpPr>
          <p:nvPr/>
        </p:nvSpPr>
        <p:spPr>
          <a:xfrm xmlns:a="http://schemas.openxmlformats.org/drawingml/2006/main">
            <a:off x="6931152" y="2615184"/>
            <a:ext cx="274320" cy="475488"/>
          </a:xfrm>
          <a:prstGeom xmlns:a="http://schemas.openxmlformats.org/drawingml/2006/main" prst="chevron">
            <a:avLst/>
          </a:prstGeom>
          <a:solidFill xmlns:a="http://schemas.openxmlformats.org/drawingml/2006/main">
            <a:srgbClr val="A9B9D2"/>
          </a:solidFill>
          <a:ln xmlns:a="http://schemas.openxmlformats.org/drawingml/2006/main" w="0">
            <a:solidFill>
              <a:srgbClr val="A9B9D2"/>
            </a:solidFill>
            <a:prstDash val="solid"/>
          </a:ln>
        </p:spPr>
      </p:sp>
      <p:sp>
        <p:nvSpPr>
          <p:cNvPr id="36" name="shape-245">
            <a:extLst xmlns:a="http://schemas.openxmlformats.org/drawingml/2006/main">
              <a:ext uri="{FF2B5EF4-FFF2-40B4-BE49-F238E27FC236}">
                <a16:creationId xmlns:a16="http://schemas.microsoft.com/office/drawing/2014/main" id="{46142311-A1DD-4A24-8649-4F6B55F3AE24}"/>
              </a:ext>
            </a:extLst>
          </p:cNvPr>
          <p:cNvSpPr>
            <a:spLocks xmlns:a="http://schemas.openxmlformats.org/drawingml/2006/main" noGrp="1"/>
          </p:cNvSpPr>
          <p:nvPr/>
        </p:nvSpPr>
        <p:spPr>
          <a:xfrm xmlns:a="http://schemas.openxmlformats.org/drawingml/2006/main">
            <a:off x="7315200" y="1609344"/>
            <a:ext cx="2852928" cy="2496312"/>
          </a:xfrm>
          <a:prstGeom xmlns:a="http://schemas.openxmlformats.org/drawingml/2006/main" prst="roundRect">
            <a:avLst>
              <a:gd name="adj" fmla="val 3053"/>
            </a:avLst>
          </a:prstGeom>
          <a:solidFill xmlns:a="http://schemas.openxmlformats.org/drawingml/2006/main">
            <a:srgbClr val="E9F9F2"/>
          </a:solidFill>
          <a:ln xmlns:a="http://schemas.openxmlformats.org/drawingml/2006/main" w="9525">
            <a:solidFill>
              <a:srgbClr val="D9E2F0"/>
            </a:solidFill>
            <a:prstDash val="solid"/>
          </a:ln>
        </p:spPr>
      </p:sp>
      <p:sp>
        <p:nvSpPr>
          <p:cNvPr id="37" name="shape-246">
            <a:extLst xmlns:a="http://schemas.openxmlformats.org/drawingml/2006/main">
              <a:ext uri="{FF2B5EF4-FFF2-40B4-BE49-F238E27FC236}">
                <a16:creationId xmlns:a16="http://schemas.microsoft.com/office/drawing/2014/main" id="{8C32373C-801C-4164-BB70-F70B90304B94}"/>
              </a:ext>
            </a:extLst>
          </p:cNvPr>
          <p:cNvSpPr>
            <a:spLocks xmlns:a="http://schemas.openxmlformats.org/drawingml/2006/main" noGrp="1"/>
          </p:cNvSpPr>
          <p:nvPr/>
        </p:nvSpPr>
        <p:spPr>
          <a:xfrm xmlns:a="http://schemas.openxmlformats.org/drawingml/2006/main">
            <a:off x="7534656" y="1865376"/>
            <a:ext cx="475488" cy="475488"/>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38" name="text-247">
            <a:extLst xmlns:a="http://schemas.openxmlformats.org/drawingml/2006/main">
              <a:ext uri="{FF2B5EF4-FFF2-40B4-BE49-F238E27FC236}">
                <a16:creationId xmlns:a16="http://schemas.microsoft.com/office/drawing/2014/main" id="{ED63CCE4-3C2E-4C83-A245-2ABB9D32BF92}"/>
              </a:ext>
            </a:extLst>
          </p:cNvPr>
          <p:cNvSpPr>
            <a:spLocks xmlns:a="http://schemas.openxmlformats.org/drawingml/2006/main" noGrp="1"/>
          </p:cNvSpPr>
          <p:nvPr/>
        </p:nvSpPr>
        <p:spPr>
          <a:xfrm xmlns:a="http://schemas.openxmlformats.org/drawingml/2006/main">
            <a:off x="7534656" y="1874520"/>
            <a:ext cx="47548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i="0">
                <a:solidFill>
                  <a:srgbClr val="FFFFFF"/>
                </a:solidFill>
              </a:defRPr>
            </a:pPr>
            <a:r>
              <a:rPr sz="975" b="1" i="0">
                <a:solidFill>
                  <a:srgbClr val="FFFFFF"/>
                </a:solidFill>
              </a:rPr>
              <a:t>03</a:t>
            </a:r>
          </a:p>
        </p:txBody>
      </p:sp>
      <p:sp>
        <p:nvSpPr>
          <p:cNvPr id="39" name="text-248">
            <a:extLst xmlns:a="http://schemas.openxmlformats.org/drawingml/2006/main">
              <a:ext uri="{FF2B5EF4-FFF2-40B4-BE49-F238E27FC236}">
                <a16:creationId xmlns:a16="http://schemas.microsoft.com/office/drawing/2014/main" id="{F227642E-8AC3-4547-A4FC-17F212CA1AC8}"/>
              </a:ext>
            </a:extLst>
          </p:cNvPr>
          <p:cNvSpPr>
            <a:spLocks xmlns:a="http://schemas.openxmlformats.org/drawingml/2006/main" noGrp="1"/>
          </p:cNvSpPr>
          <p:nvPr/>
        </p:nvSpPr>
        <p:spPr>
          <a:xfrm xmlns:a="http://schemas.openxmlformats.org/drawingml/2006/main">
            <a:off x="8138160" y="1975104"/>
            <a:ext cx="178308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0B1736"/>
                </a:solidFill>
              </a:defRPr>
            </a:pPr>
            <a:r>
              <a:rPr sz="1050" b="1" i="0">
                <a:solidFill>
                  <a:srgbClr val="0B1736"/>
                </a:solidFill>
              </a:rPr>
              <a:t>SCALE IMPACT</a:t>
            </a:r>
          </a:p>
        </p:txBody>
      </p:sp>
      <p:sp>
        <p:nvSpPr>
          <p:cNvPr id="40" name="shape-249">
            <a:extLst xmlns:a="http://schemas.openxmlformats.org/drawingml/2006/main">
              <a:ext uri="{FF2B5EF4-FFF2-40B4-BE49-F238E27FC236}">
                <a16:creationId xmlns:a16="http://schemas.microsoft.com/office/drawing/2014/main" id="{504F9FE1-FFC5-4143-B876-2A910193D9B0}"/>
              </a:ext>
            </a:extLst>
          </p:cNvPr>
          <p:cNvSpPr>
            <a:spLocks xmlns:a="http://schemas.openxmlformats.org/drawingml/2006/main" noGrp="1"/>
          </p:cNvSpPr>
          <p:nvPr/>
        </p:nvSpPr>
        <p:spPr>
          <a:xfrm xmlns:a="http://schemas.openxmlformats.org/drawingml/2006/main">
            <a:off x="7571232" y="2615184"/>
            <a:ext cx="2322576" cy="0"/>
          </a:xfrm>
          <a:prstGeom xmlns:a="http://schemas.openxmlformats.org/drawingml/2006/main" prst="line">
            <a:avLst/>
          </a:prstGeom>
          <a:noFill xmlns:a="http://schemas.openxmlformats.org/drawingml/2006/main"/>
          <a:ln xmlns:a="http://schemas.openxmlformats.org/drawingml/2006/main" w="9525">
            <a:solidFill>
              <a:srgbClr val="C8D5E8"/>
            </a:solidFill>
            <a:prstDash val="solid"/>
          </a:ln>
        </p:spPr>
      </p:sp>
      <p:sp>
        <p:nvSpPr>
          <p:cNvPr id="41" name="shape-250">
            <a:extLst xmlns:a="http://schemas.openxmlformats.org/drawingml/2006/main">
              <a:ext uri="{FF2B5EF4-FFF2-40B4-BE49-F238E27FC236}">
                <a16:creationId xmlns:a16="http://schemas.microsoft.com/office/drawing/2014/main" id="{931DD555-3992-4128-B677-C8FBD6D715EF}"/>
              </a:ext>
            </a:extLst>
          </p:cNvPr>
          <p:cNvSpPr>
            <a:spLocks xmlns:a="http://schemas.openxmlformats.org/drawingml/2006/main" noGrp="1"/>
          </p:cNvSpPr>
          <p:nvPr/>
        </p:nvSpPr>
        <p:spPr>
          <a:xfrm xmlns:a="http://schemas.openxmlformats.org/drawingml/2006/main">
            <a:off x="7589520" y="2898648"/>
            <a:ext cx="182880" cy="18288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2" name="text-251">
            <a:extLst xmlns:a="http://schemas.openxmlformats.org/drawingml/2006/main">
              <a:ext uri="{FF2B5EF4-FFF2-40B4-BE49-F238E27FC236}">
                <a16:creationId xmlns:a16="http://schemas.microsoft.com/office/drawing/2014/main" id="{2E9DE69C-AFAA-4B58-8094-92D85A6A0716}"/>
              </a:ext>
            </a:extLst>
          </p:cNvPr>
          <p:cNvSpPr>
            <a:spLocks xmlns:a="http://schemas.openxmlformats.org/drawingml/2006/main" noGrp="1"/>
          </p:cNvSpPr>
          <p:nvPr/>
        </p:nvSpPr>
        <p:spPr>
          <a:xfrm xmlns:a="http://schemas.openxmlformats.org/drawingml/2006/main">
            <a:off x="7589520" y="2907792"/>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3" name="text-252">
            <a:extLst xmlns:a="http://schemas.openxmlformats.org/drawingml/2006/main">
              <a:ext uri="{FF2B5EF4-FFF2-40B4-BE49-F238E27FC236}">
                <a16:creationId xmlns:a16="http://schemas.microsoft.com/office/drawing/2014/main" id="{28646359-68A0-45D2-8DC5-53E14BF8EB4A}"/>
              </a:ext>
            </a:extLst>
          </p:cNvPr>
          <p:cNvSpPr>
            <a:spLocks xmlns:a="http://schemas.openxmlformats.org/drawingml/2006/main" noGrp="1"/>
          </p:cNvSpPr>
          <p:nvPr/>
        </p:nvSpPr>
        <p:spPr>
          <a:xfrm xmlns:a="http://schemas.openxmlformats.org/drawingml/2006/main">
            <a:off x="7936992" y="2843784"/>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Standardize quality management</a:t>
            </a:r>
          </a:p>
        </p:txBody>
      </p:sp>
      <p:sp>
        <p:nvSpPr>
          <p:cNvPr id="44" name="shape-253">
            <a:extLst xmlns:a="http://schemas.openxmlformats.org/drawingml/2006/main">
              <a:ext uri="{FF2B5EF4-FFF2-40B4-BE49-F238E27FC236}">
                <a16:creationId xmlns:a16="http://schemas.microsoft.com/office/drawing/2014/main" id="{7C0D09F8-BE1D-4355-9656-DC66B53E4175}"/>
              </a:ext>
            </a:extLst>
          </p:cNvPr>
          <p:cNvSpPr>
            <a:spLocks xmlns:a="http://schemas.openxmlformats.org/drawingml/2006/main" noGrp="1"/>
          </p:cNvSpPr>
          <p:nvPr/>
        </p:nvSpPr>
        <p:spPr>
          <a:xfrm xmlns:a="http://schemas.openxmlformats.org/drawingml/2006/main">
            <a:off x="7589520" y="3291840"/>
            <a:ext cx="182880" cy="18288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5" name="text-254">
            <a:extLst xmlns:a="http://schemas.openxmlformats.org/drawingml/2006/main">
              <a:ext uri="{FF2B5EF4-FFF2-40B4-BE49-F238E27FC236}">
                <a16:creationId xmlns:a16="http://schemas.microsoft.com/office/drawing/2014/main" id="{99D35752-2098-41F0-B054-8DFD95262EE8}"/>
              </a:ext>
            </a:extLst>
          </p:cNvPr>
          <p:cNvSpPr>
            <a:spLocks xmlns:a="http://schemas.openxmlformats.org/drawingml/2006/main" noGrp="1"/>
          </p:cNvSpPr>
          <p:nvPr/>
        </p:nvSpPr>
        <p:spPr>
          <a:xfrm xmlns:a="http://schemas.openxmlformats.org/drawingml/2006/main">
            <a:off x="7589520" y="3300984"/>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6" name="text-255">
            <a:extLst xmlns:a="http://schemas.openxmlformats.org/drawingml/2006/main">
              <a:ext uri="{FF2B5EF4-FFF2-40B4-BE49-F238E27FC236}">
                <a16:creationId xmlns:a16="http://schemas.microsoft.com/office/drawing/2014/main" id="{C8FB4690-63C7-40AA-BFDE-3E8E5F0997B9}"/>
              </a:ext>
            </a:extLst>
          </p:cNvPr>
          <p:cNvSpPr>
            <a:spLocks xmlns:a="http://schemas.openxmlformats.org/drawingml/2006/main" noGrp="1"/>
          </p:cNvSpPr>
          <p:nvPr/>
        </p:nvSpPr>
        <p:spPr>
          <a:xfrm xmlns:a="http://schemas.openxmlformats.org/drawingml/2006/main">
            <a:off x="7936992" y="3236976"/>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Track service trends</a:t>
            </a:r>
          </a:p>
        </p:txBody>
      </p:sp>
      <p:sp>
        <p:nvSpPr>
          <p:cNvPr id="47" name="shape-256">
            <a:extLst xmlns:a="http://schemas.openxmlformats.org/drawingml/2006/main">
              <a:ext uri="{FF2B5EF4-FFF2-40B4-BE49-F238E27FC236}">
                <a16:creationId xmlns:a16="http://schemas.microsoft.com/office/drawing/2014/main" id="{9FE1B058-4F06-416A-A41B-0BF0AE94F5A5}"/>
              </a:ext>
            </a:extLst>
          </p:cNvPr>
          <p:cNvSpPr>
            <a:spLocks xmlns:a="http://schemas.openxmlformats.org/drawingml/2006/main" noGrp="1"/>
          </p:cNvSpPr>
          <p:nvPr/>
        </p:nvSpPr>
        <p:spPr>
          <a:xfrm xmlns:a="http://schemas.openxmlformats.org/drawingml/2006/main">
            <a:off x="7589520" y="3685032"/>
            <a:ext cx="182880" cy="18288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48" name="text-257">
            <a:extLst xmlns:a="http://schemas.openxmlformats.org/drawingml/2006/main">
              <a:ext uri="{FF2B5EF4-FFF2-40B4-BE49-F238E27FC236}">
                <a16:creationId xmlns:a16="http://schemas.microsoft.com/office/drawing/2014/main" id="{C9319EBF-F600-4DE7-B923-1A8B10312D36}"/>
              </a:ext>
            </a:extLst>
          </p:cNvPr>
          <p:cNvSpPr>
            <a:spLocks xmlns:a="http://schemas.openxmlformats.org/drawingml/2006/main" noGrp="1"/>
          </p:cNvSpPr>
          <p:nvPr/>
        </p:nvSpPr>
        <p:spPr>
          <a:xfrm xmlns:a="http://schemas.openxmlformats.org/drawingml/2006/main">
            <a:off x="7589520" y="3694176"/>
            <a:ext cx="1828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9" name="text-258">
            <a:extLst xmlns:a="http://schemas.openxmlformats.org/drawingml/2006/main">
              <a:ext uri="{FF2B5EF4-FFF2-40B4-BE49-F238E27FC236}">
                <a16:creationId xmlns:a16="http://schemas.microsoft.com/office/drawing/2014/main" id="{B3FE3113-9766-4EAB-A73D-43604116DA6B}"/>
              </a:ext>
            </a:extLst>
          </p:cNvPr>
          <p:cNvSpPr>
            <a:spLocks xmlns:a="http://schemas.openxmlformats.org/drawingml/2006/main" noGrp="1"/>
          </p:cNvSpPr>
          <p:nvPr/>
        </p:nvSpPr>
        <p:spPr>
          <a:xfrm xmlns:a="http://schemas.openxmlformats.org/drawingml/2006/main">
            <a:off x="7936992" y="3630168"/>
            <a:ext cx="1984248" cy="246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12203A"/>
                </a:solidFill>
              </a:defRPr>
            </a:pPr>
            <a:r>
              <a:rPr sz="1163" b="0" i="0">
                <a:solidFill>
                  <a:srgbClr val="12203A"/>
                </a:solidFill>
              </a:rPr>
              <a:t>Inform business decisions</a:t>
            </a:r>
          </a:p>
        </p:txBody>
      </p:sp>
      <p:sp>
        <p:nvSpPr>
          <p:cNvPr id="50" name="shape-259">
            <a:extLst xmlns:a="http://schemas.openxmlformats.org/drawingml/2006/main">
              <a:ext uri="{FF2B5EF4-FFF2-40B4-BE49-F238E27FC236}">
                <a16:creationId xmlns:a16="http://schemas.microsoft.com/office/drawing/2014/main" id="{6CD9740C-B1ED-4872-AC8A-D6FA3BA5B591}"/>
              </a:ext>
            </a:extLst>
          </p:cNvPr>
          <p:cNvSpPr>
            <a:spLocks xmlns:a="http://schemas.openxmlformats.org/drawingml/2006/main" noGrp="1"/>
          </p:cNvSpPr>
          <p:nvPr/>
        </p:nvSpPr>
        <p:spPr>
          <a:xfrm xmlns:a="http://schemas.openxmlformats.org/drawingml/2006/main">
            <a:off x="658368" y="4517136"/>
            <a:ext cx="10323576" cy="1225296"/>
          </a:xfrm>
          <a:prstGeom xmlns:a="http://schemas.openxmlformats.org/drawingml/2006/main" prst="roundRect">
            <a:avLst>
              <a:gd name="adj" fmla="val 6219"/>
            </a:avLst>
          </a:prstGeom>
          <a:solidFill xmlns:a="http://schemas.openxmlformats.org/drawingml/2006/main">
            <a:srgbClr val="0B1736"/>
          </a:solidFill>
          <a:ln xmlns:a="http://schemas.openxmlformats.org/drawingml/2006/main" w="0">
            <a:solidFill>
              <a:srgbClr val="0B1736"/>
            </a:solidFill>
            <a:prstDash val="solid"/>
          </a:ln>
        </p:spPr>
      </p:sp>
      <p:sp>
        <p:nvSpPr>
          <p:cNvPr id="51" name="text-260">
            <a:extLst xmlns:a="http://schemas.openxmlformats.org/drawingml/2006/main">
              <a:ext uri="{FF2B5EF4-FFF2-40B4-BE49-F238E27FC236}">
                <a16:creationId xmlns:a16="http://schemas.microsoft.com/office/drawing/2014/main" id="{37488F87-87A7-4C45-BFA9-004EF7367372}"/>
              </a:ext>
            </a:extLst>
          </p:cNvPr>
          <p:cNvSpPr>
            <a:spLocks xmlns:a="http://schemas.openxmlformats.org/drawingml/2006/main" noGrp="1"/>
          </p:cNvSpPr>
          <p:nvPr/>
        </p:nvSpPr>
        <p:spPr>
          <a:xfrm xmlns:a="http://schemas.openxmlformats.org/drawingml/2006/main">
            <a:off x="950976" y="4754880"/>
            <a:ext cx="2011680" cy="2103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26C6DA"/>
                </a:solidFill>
              </a:defRPr>
            </a:pPr>
            <a:r>
              <a:rPr sz="900" b="1" i="0">
                <a:solidFill>
                  <a:srgbClr val="26C6DA"/>
                </a:solidFill>
              </a:rPr>
              <a:t>WHAT WE NEED NOW</a:t>
            </a:r>
          </a:p>
        </p:txBody>
      </p:sp>
      <p:sp>
        <p:nvSpPr>
          <p:cNvPr id="52" name="text-261">
            <a:extLst xmlns:a="http://schemas.openxmlformats.org/drawingml/2006/main">
              <a:ext uri="{FF2B5EF4-FFF2-40B4-BE49-F238E27FC236}">
                <a16:creationId xmlns:a16="http://schemas.microsoft.com/office/drawing/2014/main" id="{41192870-3BBA-4203-A8C3-9EBD8FCFF9D8}"/>
              </a:ext>
            </a:extLst>
          </p:cNvPr>
          <p:cNvSpPr>
            <a:spLocks xmlns:a="http://schemas.openxmlformats.org/drawingml/2006/main" noGrp="1"/>
          </p:cNvSpPr>
          <p:nvPr/>
        </p:nvSpPr>
        <p:spPr>
          <a:xfrm xmlns:a="http://schemas.openxmlformats.org/drawingml/2006/main">
            <a:off x="950976" y="5065776"/>
            <a:ext cx="3145536" cy="2743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FFFFFF"/>
                </a:solidFill>
              </a:defRPr>
            </a:pPr>
            <a:r>
              <a:rPr sz="1575" b="1" i="0">
                <a:solidFill>
                  <a:srgbClr val="FFFFFF"/>
                </a:solidFill>
              </a:rPr>
              <a:t>Sponsor a controlled value pilot</a:t>
            </a:r>
          </a:p>
        </p:txBody>
      </p:sp>
      <p:sp>
        <p:nvSpPr>
          <p:cNvPr id="53" name="text-262">
            <a:extLst xmlns:a="http://schemas.openxmlformats.org/drawingml/2006/main">
              <a:ext uri="{FF2B5EF4-FFF2-40B4-BE49-F238E27FC236}">
                <a16:creationId xmlns:a16="http://schemas.microsoft.com/office/drawing/2014/main" id="{681436CA-D1D5-456B-81D4-B3C390F8B5C6}"/>
              </a:ext>
            </a:extLst>
          </p:cNvPr>
          <p:cNvSpPr>
            <a:spLocks xmlns:a="http://schemas.openxmlformats.org/drawingml/2006/main" noGrp="1"/>
          </p:cNvSpPr>
          <p:nvPr/>
        </p:nvSpPr>
        <p:spPr>
          <a:xfrm xmlns:a="http://schemas.openxmlformats.org/drawingml/2006/main">
            <a:off x="4681728" y="4846320"/>
            <a:ext cx="2404872"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D9E6FF"/>
                </a:solidFill>
              </a:defRPr>
            </a:pPr>
            <a:r>
              <a:rPr sz="1163" b="0" i="0">
                <a:solidFill>
                  <a:srgbClr val="D9E6FF"/>
                </a:solidFill>
              </a:rPr>
              <a:t>Align business owners and sample calls</a:t>
            </a:r>
          </a:p>
        </p:txBody>
      </p:sp>
      <p:sp>
        <p:nvSpPr>
          <p:cNvPr id="54" name="text-263">
            <a:extLst xmlns:a="http://schemas.openxmlformats.org/drawingml/2006/main">
              <a:ext uri="{FF2B5EF4-FFF2-40B4-BE49-F238E27FC236}">
                <a16:creationId xmlns:a16="http://schemas.microsoft.com/office/drawing/2014/main" id="{708D678A-3354-427F-98CF-C2E68C13C6AC}"/>
              </a:ext>
            </a:extLst>
          </p:cNvPr>
          <p:cNvSpPr>
            <a:spLocks xmlns:a="http://schemas.openxmlformats.org/drawingml/2006/main" noGrp="1"/>
          </p:cNvSpPr>
          <p:nvPr/>
        </p:nvSpPr>
        <p:spPr>
          <a:xfrm xmlns:a="http://schemas.openxmlformats.org/drawingml/2006/main">
            <a:off x="7525512" y="4846320"/>
            <a:ext cx="2487168"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63" b="0" i="0">
                <a:solidFill>
                  <a:srgbClr val="D9E6FF"/>
                </a:solidFill>
              </a:defRPr>
            </a:pPr>
            <a:r>
              <a:rPr sz="1163" b="0" i="0">
                <a:solidFill>
                  <a:srgbClr val="D9E6FF"/>
                </a:solidFill>
              </a:rPr>
              <a:t>Set success thresholds before scale</a:t>
            </a:r>
          </a:p>
        </p:txBody>
      </p:sp>
      <p:sp>
        <p:nvSpPr>
          <p:cNvPr id="55" name="text-264">
            <a:extLst xmlns:a="http://schemas.openxmlformats.org/drawingml/2006/main">
              <a:ext uri="{FF2B5EF4-FFF2-40B4-BE49-F238E27FC236}">
                <a16:creationId xmlns:a16="http://schemas.microsoft.com/office/drawing/2014/main" id="{D5B78654-96F9-436F-93B6-D2C47752BEB8}"/>
              </a:ext>
            </a:extLst>
          </p:cNvPr>
          <p:cNvSpPr>
            <a:spLocks xmlns:a="http://schemas.openxmlformats.org/drawingml/2006/main" noGrp="1"/>
          </p:cNvSpPr>
          <p:nvPr/>
        </p:nvSpPr>
        <p:spPr>
          <a:xfrm xmlns:a="http://schemas.openxmlformats.org/drawingml/2006/main">
            <a:off x="950976" y="5486400"/>
            <a:ext cx="9070848"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88" b="1" i="0">
                <a:solidFill>
                  <a:srgbClr val="FFFFFF"/>
                </a:solidFill>
              </a:defRPr>
            </a:pPr>
            <a:r>
              <a:rPr sz="1088" b="1" i="0">
                <a:solidFill>
                  <a:srgbClr val="FFFFFF"/>
                </a:solidFill>
              </a:rPr>
              <a:t>Management outcome: a repeatable path from cost reduction to service intelligence.</a:t>
            </a:r>
          </a:p>
        </p:txBody>
      </p:sp>
    </p:spTree>
    <p:extLst>
      <p:ext uri="{BB962C8B-B14F-4D97-AF65-F5344CB8AC3E}">
        <p14:creationId xmlns:p14="http://schemas.microsoft.com/office/powerpoint/2010/main" val="1454148244"/>
      </p:ext>
    </p:extLst>
  </p:cSld>
</p:sld>
</file>

<file path=ppt/slides/slide8.xml><?xml version="1.0" encoding="utf-8"?>
<p:sld xmlns:p="http://schemas.openxmlformats.org/presentationml/2006/main">
  <p:cSld>
    <p:bg>
      <p:bgPr>
        <a:solidFill xmlns:a="http://schemas.openxmlformats.org/drawingml/2006/main">
          <a:srgbClr val="0B1736"/>
        </a:solidFill>
      </p:bgPr>
    </p:bg>
    <p:spTree>
      <p:nvGrpSpPr>
        <p:cNvPr id="1" name=""/>
        <p:cNvGrpSpPr/>
        <p:nvPr/>
      </p:nvGrpSpPr>
      <p:grpSpPr>
        <a:xfrm xmlns:a="http://schemas.openxmlformats.org/drawingml/2006/main"/>
      </p:grpSpPr>
      <p:sp>
        <p:nvSpPr>
          <p:cNvPr id="9" name="shape-265">
            <a:extLst xmlns:a="http://schemas.openxmlformats.org/drawingml/2006/main">
              <a:ext uri="{FF2B5EF4-FFF2-40B4-BE49-F238E27FC236}">
                <a16:creationId xmlns:a16="http://schemas.microsoft.com/office/drawing/2014/main" id="{326C8C8A-EC43-4870-9D7F-AC3227764AB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6C6DA"/>
          </a:solidFill>
          <a:ln xmlns:a="http://schemas.openxmlformats.org/drawingml/2006/main" w="0">
            <a:solidFill>
              <a:srgbClr val="26C6DA"/>
            </a:solidFill>
            <a:prstDash val="solid"/>
          </a:ln>
        </p:spPr>
      </p:sp>
      <p:sp>
        <p:nvSpPr>
          <p:cNvPr id="2" name="text-266">
            <a:extLst xmlns:a="http://schemas.openxmlformats.org/drawingml/2006/main">
              <a:ext uri="{FF2B5EF4-FFF2-40B4-BE49-F238E27FC236}">
                <a16:creationId xmlns:a16="http://schemas.microsoft.com/office/drawing/2014/main" id="{FBF32DFA-0C08-41BE-BDD7-045E874ACE98}"/>
              </a:ext>
            </a:extLst>
          </p:cNvPr>
          <p:cNvSpPr>
            <a:spLocks xmlns:a="http://schemas.openxmlformats.org/drawingml/2006/main" noGrp="1"/>
          </p:cNvSpPr>
          <p:nvPr/>
        </p:nvSpPr>
        <p:spPr>
          <a:xfrm xmlns:a="http://schemas.openxmlformats.org/drawingml/2006/main">
            <a:off x="658368" y="1024128"/>
            <a:ext cx="1088136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4350" b="1" i="0">
                <a:solidFill>
                  <a:srgbClr val="FFFFFF"/>
                </a:solidFill>
              </a:defRPr>
            </a:pPr>
            <a:r>
              <a:rPr sz="4350" b="1" i="0">
                <a:solidFill>
                  <a:srgbClr val="FFFFFF"/>
                </a:solidFill>
              </a:rPr>
              <a:t>Q&amp;A</a:t>
            </a:r>
          </a:p>
        </p:txBody>
      </p:sp>
      <p:sp>
        <p:nvSpPr>
          <p:cNvPr id="3" name="text-267">
            <a:extLst xmlns:a="http://schemas.openxmlformats.org/drawingml/2006/main">
              <a:ext uri="{FF2B5EF4-FFF2-40B4-BE49-F238E27FC236}">
                <a16:creationId xmlns:a16="http://schemas.microsoft.com/office/drawing/2014/main" id="{2419425C-66F7-415C-8277-13C86D2B807B}"/>
              </a:ext>
            </a:extLst>
          </p:cNvPr>
          <p:cNvSpPr>
            <a:spLocks xmlns:a="http://schemas.openxmlformats.org/drawingml/2006/main" noGrp="1"/>
          </p:cNvSpPr>
          <p:nvPr/>
        </p:nvSpPr>
        <p:spPr>
          <a:xfrm xmlns:a="http://schemas.openxmlformats.org/drawingml/2006/main">
            <a:off x="1920240" y="2304288"/>
            <a:ext cx="8339328"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0" i="0">
                <a:solidFill>
                  <a:srgbClr val="D9E6FF"/>
                </a:solidFill>
              </a:defRPr>
            </a:pPr>
            <a:r>
              <a:rPr sz="1800" b="0" i="0">
                <a:solidFill>
                  <a:srgbClr val="D9E6FF"/>
                </a:solidFill>
              </a:rPr>
              <a:t>How should we scale quality management across service operations?</a:t>
            </a:r>
          </a:p>
        </p:txBody>
      </p:sp>
      <p:sp>
        <p:nvSpPr>
          <p:cNvPr id="4" name="shape-268">
            <a:extLst xmlns:a="http://schemas.openxmlformats.org/drawingml/2006/main">
              <a:ext uri="{FF2B5EF4-FFF2-40B4-BE49-F238E27FC236}">
                <a16:creationId xmlns:a16="http://schemas.microsoft.com/office/drawing/2014/main" id="{E6A79AA2-6D9E-42C7-BFEC-855B6E2DE7C5}"/>
              </a:ext>
            </a:extLst>
          </p:cNvPr>
          <p:cNvSpPr>
            <a:spLocks xmlns:a="http://schemas.openxmlformats.org/drawingml/2006/main" noGrp="1"/>
          </p:cNvSpPr>
          <p:nvPr/>
        </p:nvSpPr>
        <p:spPr>
          <a:xfrm xmlns:a="http://schemas.openxmlformats.org/drawingml/2006/main">
            <a:off x="3767328" y="3218688"/>
            <a:ext cx="4654296" cy="0"/>
          </a:xfrm>
          <a:prstGeom xmlns:a="http://schemas.openxmlformats.org/drawingml/2006/main" prst="line">
            <a:avLst/>
          </a:prstGeom>
          <a:noFill xmlns:a="http://schemas.openxmlformats.org/drawingml/2006/main"/>
          <a:ln xmlns:a="http://schemas.openxmlformats.org/drawingml/2006/main" w="20955">
            <a:solidFill>
              <a:srgbClr val="26C6DA"/>
            </a:solidFill>
            <a:prstDash val="solid"/>
          </a:ln>
        </p:spPr>
      </p:sp>
      <p:sp>
        <p:nvSpPr>
          <p:cNvPr id="5" name="text-269">
            <a:extLst xmlns:a="http://schemas.openxmlformats.org/drawingml/2006/main">
              <a:ext uri="{FF2B5EF4-FFF2-40B4-BE49-F238E27FC236}">
                <a16:creationId xmlns:a16="http://schemas.microsoft.com/office/drawing/2014/main" id="{C787D25E-D0F9-43B8-AD81-240651579410}"/>
              </a:ext>
            </a:extLst>
          </p:cNvPr>
          <p:cNvSpPr>
            <a:spLocks xmlns:a="http://schemas.openxmlformats.org/drawingml/2006/main" noGrp="1"/>
          </p:cNvSpPr>
          <p:nvPr/>
        </p:nvSpPr>
        <p:spPr>
          <a:xfrm xmlns:a="http://schemas.openxmlformats.org/drawingml/2006/main">
            <a:off x="3712464" y="3840480"/>
            <a:ext cx="47548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26C6DA"/>
                </a:solidFill>
              </a:defRPr>
            </a:pPr>
            <a:r>
              <a:rPr sz="1050" b="1" i="0">
                <a:solidFill>
                  <a:srgbClr val="26C6DA"/>
                </a:solidFill>
              </a:rPr>
              <a:t>FROM EFFORT TO EVIDENCE</a:t>
            </a:r>
          </a:p>
        </p:txBody>
      </p:sp>
      <p:sp>
        <p:nvSpPr>
          <p:cNvPr id="6" name="text-270">
            <a:extLst xmlns:a="http://schemas.openxmlformats.org/drawingml/2006/main">
              <a:ext uri="{FF2B5EF4-FFF2-40B4-BE49-F238E27FC236}">
                <a16:creationId xmlns:a16="http://schemas.microsoft.com/office/drawing/2014/main" id="{693A9B8D-DE94-4F05-A0B5-31DD6FEEE3B6}"/>
              </a:ext>
            </a:extLst>
          </p:cNvPr>
          <p:cNvSpPr>
            <a:spLocks xmlns:a="http://schemas.openxmlformats.org/drawingml/2006/main" noGrp="1"/>
          </p:cNvSpPr>
          <p:nvPr/>
        </p:nvSpPr>
        <p:spPr>
          <a:xfrm xmlns:a="http://schemas.openxmlformats.org/drawingml/2006/main">
            <a:off x="3675888" y="4425696"/>
            <a:ext cx="484632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i="0">
                <a:solidFill>
                  <a:srgbClr val="F4B740"/>
                </a:solidFill>
              </a:defRPr>
            </a:pPr>
            <a:r>
              <a:rPr sz="1050" b="1" i="0">
                <a:solidFill>
                  <a:srgbClr val="F4B740"/>
                </a:solidFill>
              </a:rPr>
              <a:t>FROM DURATION TO VALUE</a:t>
            </a:r>
          </a:p>
        </p:txBody>
      </p:sp>
      <p:sp>
        <p:nvSpPr>
          <p:cNvPr id="7" name="text-271">
            <a:extLst xmlns:a="http://schemas.openxmlformats.org/drawingml/2006/main">
              <a:ext uri="{FF2B5EF4-FFF2-40B4-BE49-F238E27FC236}">
                <a16:creationId xmlns:a16="http://schemas.microsoft.com/office/drawing/2014/main" id="{EA74E5F7-69EA-49F9-96DB-658915D0EB9F}"/>
              </a:ext>
            </a:extLst>
          </p:cNvPr>
          <p:cNvSpPr>
            <a:spLocks xmlns:a="http://schemas.openxmlformats.org/drawingml/2006/main" noGrp="1"/>
          </p:cNvSpPr>
          <p:nvPr/>
        </p:nvSpPr>
        <p:spPr>
          <a:xfrm xmlns:a="http://schemas.openxmlformats.org/drawingml/2006/main">
            <a:off x="658368" y="6473952"/>
            <a:ext cx="612648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13" b="1" i="0">
                <a:solidFill>
                  <a:srgbClr val="8EA7D4"/>
                </a:solidFill>
              </a:defRPr>
            </a:pPr>
            <a:r>
              <a:rPr sz="713" b="1" i="0">
                <a:solidFill>
                  <a:srgbClr val="8EA7D4"/>
                </a:solidFill>
              </a:rPr>
              <a:t>INSURANCE CUSTOMER SERVICE | QUALITY MANAGEMENT</a:t>
            </a:r>
          </a:p>
        </p:txBody>
      </p:sp>
      <p:sp>
        <p:nvSpPr>
          <p:cNvPr id="8" name="text-272">
            <a:extLst xmlns:a="http://schemas.openxmlformats.org/drawingml/2006/main">
              <a:ext uri="{FF2B5EF4-FFF2-40B4-BE49-F238E27FC236}">
                <a16:creationId xmlns:a16="http://schemas.microsoft.com/office/drawing/2014/main" id="{4691F065-2113-4352-B7B2-ECE865B081A8}"/>
              </a:ext>
            </a:extLst>
          </p:cNvPr>
          <p:cNvSpPr>
            <a:spLocks xmlns:a="http://schemas.openxmlformats.org/drawingml/2006/main" noGrp="1"/>
          </p:cNvSpPr>
          <p:nvPr/>
        </p:nvSpPr>
        <p:spPr>
          <a:xfrm xmlns:a="http://schemas.openxmlformats.org/drawingml/2006/main">
            <a:off x="11109960" y="6473952"/>
            <a:ext cx="320040" cy="1645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i="0">
                <a:solidFill>
                  <a:srgbClr val="8EA7D4"/>
                </a:solidFill>
              </a:defRPr>
            </a:pPr>
            <a:r>
              <a:rPr sz="750" b="1" i="0">
                <a:solidFill>
                  <a:srgbClr val="8EA7D4"/>
                </a:solidFill>
              </a:rPr>
              <a:t>08</a:t>
            </a:r>
          </a:p>
        </p:txBody>
      </p:sp>
    </p:spTree>
    <p:extLst>
      <p:ext uri="{BB962C8B-B14F-4D97-AF65-F5344CB8AC3E}">
        <p14:creationId xmlns:p14="http://schemas.microsoft.com/office/powerpoint/2010/main" val="1221726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2026-08-12T09:56:19.5370000Z</dcterms:created>
  <dcterms:modified xsi:type="dcterms:W3CDTF">2026-08-12T09:56:19.5370000Z</dcterms:modified>
</coreProperties>
</file>